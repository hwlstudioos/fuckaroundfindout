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37261d829f4c9b" /><Relationship Type="http://schemas.openxmlformats.org/officeDocument/2006/relationships/extended-properties" Target="/docProps/app.xml" Id="R8d1ec0043a06474a" /><Relationship Type="http://schemas.openxmlformats.org/officeDocument/2006/relationships/officeDocument" Target="/ppt/presentation.xml" Id="R4c7efd0955964bdf" /></Relationships>
</file>

<file path=ppt/presentation.xml><?xml version="1.0" encoding="utf-8"?>
<p:presentation xmlns:p="http://schemas.openxmlformats.org/presentationml/2006/main">
  <p:sldMasterIdLst>
    <p:sldMasterId xmlns:r="http://schemas.openxmlformats.org/officeDocument/2006/relationships" id="2147483648" r:id="R442047c8f6ee4a3f"/>
  </p:sldMasterIdLst>
  <p:notesMasterIdLst>
    <p:notesMasterId xmlns:r="http://schemas.openxmlformats.org/officeDocument/2006/relationships" r:id="Rb14ef16590c94189"/>
  </p:notesMasterIdLst>
  <p:sldIdLst>
    <p:sldId xmlns:r="http://schemas.openxmlformats.org/officeDocument/2006/relationships" id="256" r:id="Rf71cdaf7d0874ac9"/>
    <p:sldId xmlns:r="http://schemas.openxmlformats.org/officeDocument/2006/relationships" id="257" r:id="R5629009f6f04416e"/>
    <p:sldId xmlns:r="http://schemas.openxmlformats.org/officeDocument/2006/relationships" id="258" r:id="R48c49449099946ca"/>
    <p:sldId xmlns:r="http://schemas.openxmlformats.org/officeDocument/2006/relationships" id="259" r:id="R5e5e46563b584ba3"/>
    <p:sldId xmlns:r="http://schemas.openxmlformats.org/officeDocument/2006/relationships" id="260" r:id="Rdd391a3856fb40bd"/>
    <p:sldId xmlns:r="http://schemas.openxmlformats.org/officeDocument/2006/relationships" id="261" r:id="Rb94c33a6356b405e"/>
    <p:sldId xmlns:r="http://schemas.openxmlformats.org/officeDocument/2006/relationships" id="262" r:id="Re71c311ab91548ff"/>
    <p:sldId xmlns:r="http://schemas.openxmlformats.org/officeDocument/2006/relationships" id="263" r:id="Ra1ec2c364a404657"/>
    <p:sldId xmlns:r="http://schemas.openxmlformats.org/officeDocument/2006/relationships" id="264" r:id="Rfe944736b2b047e3"/>
    <p:sldId xmlns:r="http://schemas.openxmlformats.org/officeDocument/2006/relationships" id="265" r:id="R3dc0a24677ab4586"/>
    <p:sldId xmlns:r="http://schemas.openxmlformats.org/officeDocument/2006/relationships" id="266" r:id="Rbb7c0a6a43b94a51"/>
    <p:sldId xmlns:r="http://schemas.openxmlformats.org/officeDocument/2006/relationships" id="267" r:id="Rfe6e38db9fe04316"/>
    <p:sldId xmlns:r="http://schemas.openxmlformats.org/officeDocument/2006/relationships" id="268" r:id="R25405223eb8d4e79"/>
    <p:sldId xmlns:r="http://schemas.openxmlformats.org/officeDocument/2006/relationships" id="269" r:id="R9c307dc2f4474766"/>
    <p:sldId xmlns:r="http://schemas.openxmlformats.org/officeDocument/2006/relationships" id="270" r:id="Raa435340ab1b45e4"/>
    <p:sldId xmlns:r="http://schemas.openxmlformats.org/officeDocument/2006/relationships" id="271" r:id="R4a83ace29e10472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490280a05c1466b" /><Relationship Type="http://schemas.openxmlformats.org/officeDocument/2006/relationships/slideMaster" Target="/ppt/slideMasters/slideMaster1.xml" Id="R442047c8f6ee4a3f" /><Relationship Type="http://schemas.openxmlformats.org/officeDocument/2006/relationships/notesMaster" Target="/ppt/notesMasters/notesMaster1.xml" Id="Rb14ef16590c94189" /><Relationship Type="http://schemas.openxmlformats.org/officeDocument/2006/relationships/presProps" Target="/ppt/presProps.xml" Id="R202c0839b9e54582" /><Relationship Type="http://schemas.openxmlformats.org/officeDocument/2006/relationships/viewProps" Target="/ppt/viewProps.xml" Id="R77b21b02c1ad4f87" /><Relationship Type="http://schemas.openxmlformats.org/officeDocument/2006/relationships/tableStyles" Target="/ppt/tableStyles.xml" Id="R340b2af6a9ec462b" /><Relationship Type="http://schemas.openxmlformats.org/officeDocument/2006/relationships/slide" Target="/ppt/slides/slide1.xml" Id="Rf71cdaf7d0874ac9" /><Relationship Type="http://schemas.openxmlformats.org/officeDocument/2006/relationships/slide" Target="/ppt/slides/slide2.xml" Id="R5629009f6f04416e" /><Relationship Type="http://schemas.openxmlformats.org/officeDocument/2006/relationships/slide" Target="/ppt/slides/slide3.xml" Id="R48c49449099946ca" /><Relationship Type="http://schemas.openxmlformats.org/officeDocument/2006/relationships/slide" Target="/ppt/slides/slide4.xml" Id="R5e5e46563b584ba3" /><Relationship Type="http://schemas.openxmlformats.org/officeDocument/2006/relationships/slide" Target="/ppt/slides/slide5.xml" Id="Rdd391a3856fb40bd" /><Relationship Type="http://schemas.openxmlformats.org/officeDocument/2006/relationships/slide" Target="/ppt/slides/slide6.xml" Id="Rb94c33a6356b405e" /><Relationship Type="http://schemas.openxmlformats.org/officeDocument/2006/relationships/slide" Target="/ppt/slides/slide7.xml" Id="Re71c311ab91548ff" /><Relationship Type="http://schemas.openxmlformats.org/officeDocument/2006/relationships/slide" Target="/ppt/slides/slide8.xml" Id="Ra1ec2c364a404657" /><Relationship Type="http://schemas.openxmlformats.org/officeDocument/2006/relationships/slide" Target="/ppt/slides/slide9.xml" Id="Rfe944736b2b047e3" /><Relationship Type="http://schemas.openxmlformats.org/officeDocument/2006/relationships/slide" Target="/ppt/slides/slide10.xml" Id="R3dc0a24677ab4586" /><Relationship Type="http://schemas.openxmlformats.org/officeDocument/2006/relationships/slide" Target="/ppt/slides/slide11.xml" Id="Rbb7c0a6a43b94a51" /><Relationship Type="http://schemas.openxmlformats.org/officeDocument/2006/relationships/slide" Target="/ppt/slides/slide12.xml" Id="Rfe6e38db9fe04316" /><Relationship Type="http://schemas.openxmlformats.org/officeDocument/2006/relationships/slide" Target="/ppt/slides/slide13.xml" Id="R25405223eb8d4e79" /><Relationship Type="http://schemas.openxmlformats.org/officeDocument/2006/relationships/slide" Target="/ppt/slides/slide14.xml" Id="R9c307dc2f4474766" /><Relationship Type="http://schemas.openxmlformats.org/officeDocument/2006/relationships/slide" Target="/ppt/slides/slide15.xml" Id="Raa435340ab1b45e4" /><Relationship Type="http://schemas.openxmlformats.org/officeDocument/2006/relationships/slide" Target="/ppt/slides/slide16.xml" Id="R4a83ace29e1047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e5549a5a124d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c0ca0f0601451c" /><Relationship Type="http://schemas.openxmlformats.org/officeDocument/2006/relationships/notesMaster" Target="/ppt/notesMasters/notesMaster1.xml" Id="R140a9952318440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3245ee008740dc" /><Relationship Type="http://schemas.openxmlformats.org/officeDocument/2006/relationships/notesMaster" Target="/ppt/notesMasters/notesMaster1.xml" Id="R48372d395c7944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a216eabe994553" /><Relationship Type="http://schemas.openxmlformats.org/officeDocument/2006/relationships/notesMaster" Target="/ppt/notesMasters/notesMaster1.xml" Id="Rb17dd243f39841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161e7a0a5d43fe" /><Relationship Type="http://schemas.openxmlformats.org/officeDocument/2006/relationships/notesMaster" Target="/ppt/notesMasters/notesMaster1.xml" Id="R0ada44a7d46d49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cfd6ba81104538" /><Relationship Type="http://schemas.openxmlformats.org/officeDocument/2006/relationships/notesMaster" Target="/ppt/notesMasters/notesMaster1.xml" Id="R7041f64cde5645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76268271724bb8" /><Relationship Type="http://schemas.openxmlformats.org/officeDocument/2006/relationships/notesMaster" Target="/ppt/notesMasters/notesMaster1.xml" Id="R5def4782946242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3afd23628b4cc9" /><Relationship Type="http://schemas.openxmlformats.org/officeDocument/2006/relationships/notesMaster" Target="/ppt/notesMasters/notesMaster1.xml" Id="R405362bf4a2c42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267813d8be4145" /><Relationship Type="http://schemas.openxmlformats.org/officeDocument/2006/relationships/notesMaster" Target="/ppt/notesMasters/notesMaster1.xml" Id="Rc3c31c8a4cbb48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41b61615de49c7" /><Relationship Type="http://schemas.openxmlformats.org/officeDocument/2006/relationships/notesMaster" Target="/ppt/notesMasters/notesMaster1.xml" Id="R0e1cd6cb24e54e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a6a553d0654c03" /><Relationship Type="http://schemas.openxmlformats.org/officeDocument/2006/relationships/notesMaster" Target="/ppt/notesMasters/notesMaster1.xml" Id="R062794aeef7d45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ffddf58fd541b2" /><Relationship Type="http://schemas.openxmlformats.org/officeDocument/2006/relationships/notesMaster" Target="/ppt/notesMasters/notesMaster1.xml" Id="R94809691cd7141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0c09284dbc4f58" /><Relationship Type="http://schemas.openxmlformats.org/officeDocument/2006/relationships/notesMaster" Target="/ppt/notesMasters/notesMaster1.xml" Id="R42e1f4cc9a3543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ac5a4cbb994fa3" /><Relationship Type="http://schemas.openxmlformats.org/officeDocument/2006/relationships/notesMaster" Target="/ppt/notesMasters/notesMaster1.xml" Id="R70a59e523460478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018195b37043f0" /><Relationship Type="http://schemas.openxmlformats.org/officeDocument/2006/relationships/notesMaster" Target="/ppt/notesMasters/notesMaster1.xml" Id="Rd5d4a9d1e27544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23fce2322244238" /><Relationship Type="http://schemas.openxmlformats.org/officeDocument/2006/relationships/notesMaster" Target="/ppt/notesMasters/notesMaster1.xml" Id="R24394f50b0b947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35b5f273f74802" /><Relationship Type="http://schemas.openxmlformats.org/officeDocument/2006/relationships/notesMaster" Target="/ppt/notesMasters/notesMaster1.xml" Id="R25f3306f2b6a41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relaxed. The promise is not that AI will make everyone viral.</a:t>
            </a:r>
          </a:p>
          <a:p xmlns:a="http://schemas.openxmlformats.org/drawingml/2006/main">
            <a:r>
              <a:t/>
            </a:r>
          </a:p>
          <a:p xmlns:a="http://schemas.openxmlformats.org/drawingml/2006/main">
            <a:r>
              <a:t>Say: Most founders do content like a daily punishment. They wake up, stare at a blank page, ask ChatGPT for ideas, hate the result, then post nothing.</a:t>
            </a:r>
          </a:p>
          <a:p xmlns:a="http://schemas.openxmlformats.org/drawingml/2006/main">
            <a:r>
              <a:t/>
            </a:r>
          </a:p>
          <a:p xmlns:a="http://schemas.openxmlformats.org/drawingml/2006/main">
            <a:r>
              <a:t>Today is about a different way to work. Not content hacks. A simple content engine that keeps context, rhythm, and outputs in one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this audience-safe.</a:t>
            </a:r>
          </a:p>
          <a:p xmlns:a="http://schemas.openxmlformats.org/drawingml/2006/main">
            <a:r>
              <a:t/>
            </a:r>
          </a:p>
          <a:p xmlns:a="http://schemas.openxmlformats.org/drawingml/2006/main">
            <a:r>
              <a:t>Say: If you know nothing about AI, you are fine. You do not need to code. You do not need ten subscriptions. You need to stop treating every post as a fresh creative emergency.</a:t>
            </a:r>
          </a:p>
          <a:p xmlns:a="http://schemas.openxmlformats.org/drawingml/2006/main">
            <a:r>
              <a:t/>
            </a:r>
          </a:p>
          <a:p xmlns:a="http://schemas.openxmlformats.org/drawingml/2006/main">
            <a:r>
              <a:t>By the end, they should know the shape of their own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real punch.</a:t>
            </a:r>
          </a:p>
          <a:p xmlns:a="http://schemas.openxmlformats.org/drawingml/2006/main">
            <a:r>
              <a:t/>
            </a:r>
          </a:p>
          <a:p xmlns:a="http://schemas.openxmlformats.org/drawingml/2006/main">
            <a:r>
              <a:t>Say: A lot of founders think they lack discipline. Sometimes that is true. But a lot of the time the workflow is just stupid.</a:t>
            </a:r>
          </a:p>
          <a:p xmlns:a="http://schemas.openxmlformats.org/drawingml/2006/main">
            <a:r>
              <a:t/>
            </a:r>
          </a:p>
          <a:p xmlns:a="http://schemas.openxmlformats.org/drawingml/2006/main">
            <a:r>
              <a:t>If the same decisions come back every day, the system is broken. AI is useful when it removes repeated decisions, not when it produces ten generic LinkedIn hooks.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simple.</a:t>
            </a:r>
          </a:p>
          <a:p xmlns:a="http://schemas.openxmlformats.org/drawingml/2006/main">
            <a:r>
              <a:t/>
            </a:r>
          </a:p>
          <a:p xmlns:a="http://schemas.openxmlformats.org/drawingml/2006/main">
            <a:r>
              <a:t>Say: The difference between a chat box and a working system is that the system remembers how you think. Official docs from both Anthropic and OpenAI point in the same direction: give the model useful context, clear instructions, examples, and ways to verify the work.</a:t>
            </a:r>
          </a:p>
          <a:p xmlns:a="http://schemas.openxmlformats.org/drawingml/2006/main">
            <a:r>
              <a:t/>
            </a:r>
          </a:p>
          <a:p xmlns:a="http://schemas.openxmlformats.org/drawingml/2006/main">
            <a:r>
              <a:t>That is why the folder matters more than the tool.</a:t>
            </a:r>
          </a:p>
          <a:p xmlns:a="http://schemas.openxmlformats.org/drawingml/2006/main">
            <a:r>
              <a:t/>
            </a:r>
          </a:p>
          <a:p xmlns:a="http://schemas.openxmlformats.org/drawingml/2006/main">
            <a:r>
              <a:t>Source basis for recap: Anthropic Claude Code docs, Anthropic Claude Code best practices, OpenAI prompt engineering 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framework.</a:t>
            </a:r>
          </a:p>
          <a:p xmlns:a="http://schemas.openxmlformats.org/drawingml/2006/main">
            <a:r>
              <a:t/>
            </a:r>
          </a:p>
          <a:p xmlns:a="http://schemas.openxmlformats.org/drawingml/2006/main">
            <a:r>
              <a:t>Say: The tool matters, but it is fourth on the list. Context is what the model reads. Cadence is how often you make decisions. Cascade is how one idea becomes many drafts. Calendar is what stops the drafts dying in a folder.</a:t>
            </a:r>
          </a:p>
          <a:p xmlns:a="http://schemas.openxmlformats.org/drawingml/2006/main">
            <a:r>
              <a:t/>
            </a:r>
          </a:p>
          <a:p xmlns:a="http://schemas.openxmlformats.org/drawingml/2006/main">
            <a:r>
              <a:t>This slide is the audience's anchor. Keep coming back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for the noobs.</a:t>
            </a:r>
          </a:p>
          <a:p xmlns:a="http://schemas.openxmlformats.org/drawingml/2006/main">
            <a:r>
              <a:t/>
            </a:r>
          </a:p>
          <a:p xmlns:a="http://schemas.openxmlformats.org/drawingml/2006/main">
            <a:r>
              <a:t>Say: If you have tried AI and thought the output was bland, it probably had no idea who you are, what your business is, what you refuse to sound like, or what you are trying to sell.</a:t>
            </a:r>
          </a:p>
          <a:p xmlns:a="http://schemas.openxmlformats.org/drawingml/2006/main">
            <a:r>
              <a:t/>
            </a:r>
          </a:p>
          <a:p xmlns:a="http://schemas.openxmlformats.org/drawingml/2006/main">
            <a:r>
              <a:t>That is not an AI failure. That is a context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where you can screen share the real folder, but keep it clean.</a:t>
            </a:r>
          </a:p>
          <a:p xmlns:a="http://schemas.openxmlformats.org/drawingml/2006/main">
            <a:r>
              <a:t/>
            </a:r>
          </a:p>
          <a:p xmlns:a="http://schemas.openxmlformats.org/drawingml/2006/main">
            <a:r>
              <a:t>Say: Do not open private folders. Do not open client folders. The point is the structure, not my private notes.</a:t>
            </a:r>
          </a:p>
          <a:p xmlns:a="http://schemas.openxmlformats.org/drawingml/2006/main">
            <a:r>
              <a:t/>
            </a:r>
          </a:p>
          <a:p xmlns:a="http://schemas.openxmlformats.org/drawingml/2006/main">
            <a:r>
              <a:t>Explain each file as a decision you no longer want to remake.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this practical.</a:t>
            </a:r>
          </a:p>
          <a:p xmlns:a="http://schemas.openxmlformats.org/drawingml/2006/main">
            <a:r>
              <a:t/>
            </a:r>
          </a:p>
          <a:p xmlns:a="http://schemas.openxmlformats.org/drawingml/2006/main">
            <a:r>
              <a:t>Say: You can always post more later. The beginner mistake is trying to create like a media company before you have a repeatable process.</a:t>
            </a:r>
          </a:p>
          <a:p xmlns:a="http://schemas.openxmlformats.org/drawingml/2006/main">
            <a:r>
              <a:t/>
            </a:r>
          </a:p>
          <a:p xmlns:a="http://schemas.openxmlformats.org/drawingml/2006/main">
            <a:r>
              <a:t>The fortnight idea gives the AI something stable to work with. It also gives your audience repeated exposure to the same thought in different 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model before the demo.</a:t>
            </a:r>
          </a:p>
          <a:p xmlns:a="http://schemas.openxmlformats.org/drawingml/2006/main">
            <a:r>
              <a:t/>
            </a:r>
          </a:p>
          <a:p xmlns:a="http://schemas.openxmlformats.org/drawingml/2006/main">
            <a:r>
              <a:t>Say: The magic is not that the AI writes five perfect posts. It will not. The magic is that it turns one clear idea into usable material fast enough that you can spend your energy judging, improving, filming, and shipping.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the live screen share here.</a:t>
            </a:r>
          </a:p>
          <a:p xmlns:a="http://schemas.openxmlformats.org/drawingml/2006/main">
            <a:r>
              <a:t/>
            </a:r>
          </a:p>
          <a:p xmlns:a="http://schemas.openxmlformats.org/drawingml/2006/main">
            <a:r>
              <a:t>Say: I am using a real idea from my own content system, but the lesson is universal. Big numbers are seductive. They are not always useful.</a:t>
            </a:r>
          </a:p>
          <a:p xmlns:a="http://schemas.openxmlformats.org/drawingml/2006/main">
            <a:r>
              <a:t/>
            </a:r>
          </a:p>
          <a:p xmlns:a="http://schemas.openxmlformats.org/drawingml/2006/main">
            <a:r>
              <a:t>Then open Claude Code and the clean workshop folder. Do not open private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keeps the demo from becoming a magic trick.</a:t>
            </a:r>
          </a:p>
          <a:p xmlns:a="http://schemas.openxmlformats.org/drawingml/2006/main">
            <a:r>
              <a:t/>
            </a:r>
          </a:p>
          <a:p xmlns:a="http://schemas.openxmlformats.org/drawingml/2006/main">
            <a:r>
              <a:t>Say: I do not want you watching the model like it is a slot machine. Watch whether the system carries the context through each output.</a:t>
            </a:r>
          </a:p>
          <a:p xmlns:a="http://schemas.openxmlformats.org/drawingml/2006/main">
            <a:r>
              <a:t/>
            </a:r>
          </a:p>
          <a:p xmlns:a="http://schemas.openxmlformats.org/drawingml/2006/main">
            <a:r>
              <a:t>Then run the prompt from demo-prompt-final.md.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Important caveat.</a:t>
            </a:r>
          </a:p>
          <a:p xmlns:a="http://schemas.openxmlformats.org/drawingml/2006/main">
            <a:r>
              <a:t/>
            </a:r>
          </a:p>
          <a:p xmlns:a="http://schemas.openxmlformats.org/drawingml/2006/main">
            <a:r>
              <a:t>Say: If you automate taste, you get slop. If you automate starting points, you get leverage.</a:t>
            </a:r>
          </a:p>
          <a:p xmlns:a="http://schemas.openxmlformats.org/drawingml/2006/main">
            <a:r>
              <a:t/>
            </a:r>
          </a:p>
          <a:p xmlns:a="http://schemas.openxmlformats.org/drawingml/2006/main">
            <a:r>
              <a:t>The founder still owns judgement, truth, taste, and the decision to publish.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action section.</a:t>
            </a:r>
          </a:p>
          <a:p xmlns:a="http://schemas.openxmlformats.org/drawingml/2006/main">
            <a:r>
              <a:t/>
            </a:r>
          </a:p>
          <a:p xmlns:a="http://schemas.openxmlformats.org/drawingml/2006/main">
            <a:r>
              <a:t>Say: The starter version should be boring. Boring is good. A boring folder you actually use beats a beautiful Notion system you abandon after three days.</a:t>
            </a:r>
          </a:p>
          <a:p xmlns:a="http://schemas.openxmlformats.org/drawingml/2006/main">
            <a:r>
              <a:t/>
            </a:r>
          </a:p>
          <a:p xmlns:a="http://schemas.openxmlformats.org/drawingml/2006/main">
            <a:r>
              <a:t>Tell them to start with three files. The fourth file, publishing rules, can be added once they have output to protect.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where the noobs get relief.</a:t>
            </a:r>
          </a:p>
          <a:p xmlns:a="http://schemas.openxmlformats.org/drawingml/2006/main">
            <a:r>
              <a:t/>
            </a:r>
          </a:p>
          <a:p xmlns:a="http://schemas.openxmlformats.org/drawingml/2006/main">
            <a:r>
              <a:t>Say: Do not go home and write a manifesto. Answer the decisions that keep slowing you down.</a:t>
            </a:r>
          </a:p>
          <a:p xmlns:a="http://schemas.openxmlformats.org/drawingml/2006/main">
            <a:r>
              <a:t/>
            </a:r>
          </a:p>
          <a:p xmlns:a="http://schemas.openxmlformats.org/drawingml/2006/main">
            <a:r>
              <a:t>The folder should be short enough that the AI can read it, and clear enough that you can update it after every few posts.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useful warning slide.</a:t>
            </a:r>
          </a:p>
          <a:p xmlns:a="http://schemas.openxmlformats.org/drawingml/2006/main">
            <a:r>
              <a:t/>
            </a:r>
          </a:p>
          <a:p xmlns:a="http://schemas.openxmlformats.org/drawingml/2006/main">
            <a:r>
              <a:t>Say: If you remember one thing, remember this. The system only works if it closes loops. Capture ideas, promote one, draft it, edit it, publish it, learn from it.</a:t>
            </a:r>
          </a:p>
          <a:p xmlns:a="http://schemas.openxmlformats.org/drawingml/2006/main">
            <a:r>
              <a:t/>
            </a:r>
          </a:p>
          <a:p xmlns:a="http://schemas.openxmlformats.org/drawingml/2006/main">
            <a:r>
              <a:t>Otherwise you have built another pretty place for anxiety to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confidence and leave lots of room for Q&amp;A.</a:t>
            </a:r>
          </a:p>
          <a:p xmlns:a="http://schemas.openxmlformats.org/drawingml/2006/main">
            <a:r>
              <a:t/>
            </a:r>
          </a:p>
          <a:p xmlns:a="http://schemas.openxmlformats.org/drawingml/2006/main">
            <a:r>
              <a:t>Say: You do not need to leave and become a creator. You need to leave with a repeatable way to turn your real work into useful content.</a:t>
            </a:r>
          </a:p>
          <a:p xmlns:a="http://schemas.openxmlformats.org/drawingml/2006/main">
            <a:r>
              <a:t/>
            </a:r>
          </a:p>
          <a:p xmlns:a="http://schemas.openxmlformats.org/drawingml/2006/main">
            <a:r>
              <a:t>Offer to answer practical questions: what files should I use, what tool should I start with, what should my first prompt be, how do I stop it sounding generic.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85a768d1b340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9c6f6cf6f14f92" /><Relationship Type="http://schemas.openxmlformats.org/officeDocument/2006/relationships/slideLayout" Target="/ppt/slideLayouts/slideLayout1.xml" Id="Rf1aa1da5ae6c4a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aa1da5ae6c4a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5644e5580e414a" /><Relationship Type="http://schemas.openxmlformats.org/officeDocument/2006/relationships/notesSlide" Target="/ppt/notesSlides/notesSlide1.xml" Id="Rc7322f31ba5149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4f3ec7a4f44f12" /><Relationship Type="http://schemas.openxmlformats.org/officeDocument/2006/relationships/image" Target="/ppt/media/image.png" Id="R4d3103db5b664cb1" /><Relationship Type="http://schemas.openxmlformats.org/officeDocument/2006/relationships/image" Target="/ppt/media/image.svg" Id="R331644fde8834b2c" /><Relationship Type="http://schemas.openxmlformats.org/officeDocument/2006/relationships/image" Target="/ppt/media/image2.png" Id="R56bb1cbf18454975" /><Relationship Type="http://schemas.openxmlformats.org/officeDocument/2006/relationships/image" Target="/ppt/media/image2.svg" Id="R6d16cc2c7b504b00" /><Relationship Type="http://schemas.openxmlformats.org/officeDocument/2006/relationships/image" Target="/ppt/media/image3.png" Id="Rf89ecdfe5a7c49dd" /><Relationship Type="http://schemas.openxmlformats.org/officeDocument/2006/relationships/image" Target="/ppt/media/image3.svg" Id="R5f85a29da7b54d32" /><Relationship Type="http://schemas.openxmlformats.org/officeDocument/2006/relationships/notesSlide" Target="/ppt/notesSlides/notesSlide2.xml" Id="R30ce857a326b44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4bf2d2c7274f3b" /><Relationship Type="http://schemas.openxmlformats.org/officeDocument/2006/relationships/notesSlide" Target="/ppt/notesSlides/notesSlide3.xml" Id="Rdff1d27234ad43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743c1a4973480c" /><Relationship Type="http://schemas.openxmlformats.org/officeDocument/2006/relationships/notesSlide" Target="/ppt/notesSlides/notesSlide4.xml" Id="Rf22a93a14b6c4b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4748198a9d418f" /><Relationship Type="http://schemas.openxmlformats.org/officeDocument/2006/relationships/notesSlide" Target="/ppt/notesSlides/notesSlide5.xml" Id="R1051ccbfddcc4e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0559128c7242a1" /><Relationship Type="http://schemas.openxmlformats.org/officeDocument/2006/relationships/notesSlide" Target="/ppt/notesSlides/notesSlide6.xml" Id="R1a37d67da16d41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86ea0767b243a2" /><Relationship Type="http://schemas.openxmlformats.org/officeDocument/2006/relationships/notesSlide" Target="/ppt/notesSlides/notesSlide7.xml" Id="R4fe98b825fc448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705548932e4a6b" /><Relationship Type="http://schemas.openxmlformats.org/officeDocument/2006/relationships/notesSlide" Target="/ppt/notesSlides/notesSlide8.xml" Id="R3f5ce3b814454a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9e99c6012948ff" /><Relationship Type="http://schemas.openxmlformats.org/officeDocument/2006/relationships/notesSlide" Target="/ppt/notesSlides/notesSlide9.xml" Id="R0d4d738f112c41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977f016e93423f" /><Relationship Type="http://schemas.openxmlformats.org/officeDocument/2006/relationships/notesSlide" Target="/ppt/notesSlides/notesSlide10.xml" Id="R3f7c24d1fa4e4a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5099d8429c4d9f" /><Relationship Type="http://schemas.openxmlformats.org/officeDocument/2006/relationships/image" Target="/ppt/media/image4.png" Id="R2c1cb3ef27884388" /><Relationship Type="http://schemas.openxmlformats.org/officeDocument/2006/relationships/image" Target="/ppt/media/image4.svg" Id="R10f1fdecdec44533" /><Relationship Type="http://schemas.openxmlformats.org/officeDocument/2006/relationships/image" Target="/ppt/media/image5.png" Id="R4ee336eb14b441db" /><Relationship Type="http://schemas.openxmlformats.org/officeDocument/2006/relationships/image" Target="/ppt/media/image5.svg" Id="Rbd0d69bd45ed4756" /><Relationship Type="http://schemas.openxmlformats.org/officeDocument/2006/relationships/image" Target="/ppt/media/image6.png" Id="R0859ac92c3c54297" /><Relationship Type="http://schemas.openxmlformats.org/officeDocument/2006/relationships/image" Target="/ppt/media/image6.svg" Id="R68a7f718854247c0" /><Relationship Type="http://schemas.openxmlformats.org/officeDocument/2006/relationships/notesSlide" Target="/ppt/notesSlides/notesSlide11.xml" Id="R329efc8dcd164d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46e6d7038a04a73" /><Relationship Type="http://schemas.openxmlformats.org/officeDocument/2006/relationships/notesSlide" Target="/ppt/notesSlides/notesSlide12.xml" Id="Rc4d6d5fc8db442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36656fa5b04fab" /><Relationship Type="http://schemas.openxmlformats.org/officeDocument/2006/relationships/notesSlide" Target="/ppt/notesSlides/notesSlide13.xml" Id="R9f6f3a9e632f4d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ffdc225db0e4ca5" /><Relationship Type="http://schemas.openxmlformats.org/officeDocument/2006/relationships/notesSlide" Target="/ppt/notesSlides/notesSlide14.xml" Id="R79990843fe6d4a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6e64722288a49aa" /><Relationship Type="http://schemas.openxmlformats.org/officeDocument/2006/relationships/notesSlide" Target="/ppt/notesSlides/notesSlide15.xml" Id="Rf5d11b3b7c96494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4aed37091f64a9a" /><Relationship Type="http://schemas.openxmlformats.org/officeDocument/2006/relationships/notesSlide" Target="/ppt/notesSlides/notesSlide16.xml" Id="Rdd7177a4b6be4d9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F76486-07D9-436B-AF26-E4FBF5F61B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B912CBF-3831-4BB0-A2B6-692BB3A6A090}"/>
              </a:ext>
            </a:extLst>
          </p:cNvPr>
          <p:cNvSpPr>
            <a:spLocks xmlns:a="http://schemas.openxmlformats.org/drawingml/2006/main" noGrp="1"/>
          </p:cNvSpPr>
          <p:nvPr/>
        </p:nvSpPr>
        <p:spPr>
          <a:xfrm xmlns:a="http://schemas.openxmlformats.org/drawingml/2006/main">
            <a:off x="762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7960002-7036-4B63-99FC-B9F9C48ECE5D}"/>
              </a:ext>
            </a:extLst>
          </p:cNvPr>
          <p:cNvSpPr>
            <a:spLocks xmlns:a="http://schemas.openxmlformats.org/drawingml/2006/main" noGrp="1"/>
          </p:cNvSpPr>
          <p:nvPr/>
        </p:nvSpPr>
        <p:spPr>
          <a:xfrm xmlns:a="http://schemas.openxmlformats.org/drawingml/2006/main">
            <a:off x="2286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C17E53A-3E7A-4978-AA08-4471BDC739A9}"/>
              </a:ext>
            </a:extLst>
          </p:cNvPr>
          <p:cNvSpPr>
            <a:spLocks xmlns:a="http://schemas.openxmlformats.org/drawingml/2006/main" noGrp="1"/>
          </p:cNvSpPr>
          <p:nvPr/>
        </p:nvSpPr>
        <p:spPr>
          <a:xfrm xmlns:a="http://schemas.openxmlformats.org/drawingml/2006/main">
            <a:off x="3810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D036DEC-4691-449C-BD1C-5FA44C18C966}"/>
              </a:ext>
            </a:extLst>
          </p:cNvPr>
          <p:cNvSpPr>
            <a:spLocks xmlns:a="http://schemas.openxmlformats.org/drawingml/2006/main" noGrp="1"/>
          </p:cNvSpPr>
          <p:nvPr/>
        </p:nvSpPr>
        <p:spPr>
          <a:xfrm xmlns:a="http://schemas.openxmlformats.org/drawingml/2006/main">
            <a:off x="5334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59066FB-F443-4677-BF30-9C48029B5926}"/>
              </a:ext>
            </a:extLst>
          </p:cNvPr>
          <p:cNvSpPr>
            <a:spLocks xmlns:a="http://schemas.openxmlformats.org/drawingml/2006/main" noGrp="1"/>
          </p:cNvSpPr>
          <p:nvPr/>
        </p:nvSpPr>
        <p:spPr>
          <a:xfrm xmlns:a="http://schemas.openxmlformats.org/drawingml/2006/main">
            <a:off x="6858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3997E6C-45A5-45B9-A976-CEBABD41DAD9}"/>
              </a:ext>
            </a:extLst>
          </p:cNvPr>
          <p:cNvSpPr>
            <a:spLocks xmlns:a="http://schemas.openxmlformats.org/drawingml/2006/main" noGrp="1"/>
          </p:cNvSpPr>
          <p:nvPr/>
        </p:nvSpPr>
        <p:spPr>
          <a:xfrm xmlns:a="http://schemas.openxmlformats.org/drawingml/2006/main">
            <a:off x="8382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F63A141-AC3B-43FD-8AF6-2EE437C3F4CE}"/>
              </a:ext>
            </a:extLst>
          </p:cNvPr>
          <p:cNvSpPr>
            <a:spLocks xmlns:a="http://schemas.openxmlformats.org/drawingml/2006/main" noGrp="1"/>
          </p:cNvSpPr>
          <p:nvPr/>
        </p:nvSpPr>
        <p:spPr>
          <a:xfrm xmlns:a="http://schemas.openxmlformats.org/drawingml/2006/main">
            <a:off x="9906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9C5D297-BC6D-40BB-A788-BA2003D8F3DA}"/>
              </a:ext>
            </a:extLst>
          </p:cNvPr>
          <p:cNvSpPr>
            <a:spLocks xmlns:a="http://schemas.openxmlformats.org/drawingml/2006/main" noGrp="1"/>
          </p:cNvSpPr>
          <p:nvPr/>
        </p:nvSpPr>
        <p:spPr>
          <a:xfrm xmlns:a="http://schemas.openxmlformats.org/drawingml/2006/main">
            <a:off x="11430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0E61B8F-63EB-442C-A344-1633735EEE00}"/>
              </a:ext>
            </a:extLst>
          </p:cNvPr>
          <p:cNvSpPr>
            <a:spLocks xmlns:a="http://schemas.openxmlformats.org/drawingml/2006/main" noGrp="1"/>
          </p:cNvSpPr>
          <p:nvPr/>
        </p:nvSpPr>
        <p:spPr>
          <a:xfrm xmlns:a="http://schemas.openxmlformats.org/drawingml/2006/main">
            <a:off x="609600" y="9144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21290E7-2E91-4B39-B45F-6CB470A1B5B8}"/>
              </a:ext>
            </a:extLst>
          </p:cNvPr>
          <p:cNvSpPr>
            <a:spLocks xmlns:a="http://schemas.openxmlformats.org/drawingml/2006/main" noGrp="1"/>
          </p:cNvSpPr>
          <p:nvPr/>
        </p:nvSpPr>
        <p:spPr>
          <a:xfrm xmlns:a="http://schemas.openxmlformats.org/drawingml/2006/main">
            <a:off x="609600" y="18288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4B30E1B-6876-46DB-A26C-638017A4CE20}"/>
              </a:ext>
            </a:extLst>
          </p:cNvPr>
          <p:cNvSpPr>
            <a:spLocks xmlns:a="http://schemas.openxmlformats.org/drawingml/2006/main" noGrp="1"/>
          </p:cNvSpPr>
          <p:nvPr/>
        </p:nvSpPr>
        <p:spPr>
          <a:xfrm xmlns:a="http://schemas.openxmlformats.org/drawingml/2006/main">
            <a:off x="609600" y="27432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3F9736B-9427-469F-86EB-2297D83D8161}"/>
              </a:ext>
            </a:extLst>
          </p:cNvPr>
          <p:cNvSpPr>
            <a:spLocks xmlns:a="http://schemas.openxmlformats.org/drawingml/2006/main" noGrp="1"/>
          </p:cNvSpPr>
          <p:nvPr/>
        </p:nvSpPr>
        <p:spPr>
          <a:xfrm xmlns:a="http://schemas.openxmlformats.org/drawingml/2006/main">
            <a:off x="609600" y="36576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7F7C70B-82FC-4DD3-8D21-1BEBD78101F5}"/>
              </a:ext>
            </a:extLst>
          </p:cNvPr>
          <p:cNvSpPr>
            <a:spLocks xmlns:a="http://schemas.openxmlformats.org/drawingml/2006/main" noGrp="1"/>
          </p:cNvSpPr>
          <p:nvPr/>
        </p:nvSpPr>
        <p:spPr>
          <a:xfrm xmlns:a="http://schemas.openxmlformats.org/drawingml/2006/main">
            <a:off x="609600" y="45720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350585B-36F4-405E-8ECB-8DC1E49730D3}"/>
              </a:ext>
            </a:extLst>
          </p:cNvPr>
          <p:cNvSpPr>
            <a:spLocks xmlns:a="http://schemas.openxmlformats.org/drawingml/2006/main" noGrp="1"/>
          </p:cNvSpPr>
          <p:nvPr/>
        </p:nvSpPr>
        <p:spPr>
          <a:xfrm xmlns:a="http://schemas.openxmlformats.org/drawingml/2006/main">
            <a:off x="609600" y="54864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C6F3874-7ACA-4AE2-A9BA-4223AB4C95E9}"/>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5A9F2538-2F0D-4011-A832-6B11CFE28BFE}"/>
              </a:ext>
            </a:extLst>
          </p:cNvPr>
          <p:cNvSpPr>
            <a:spLocks xmlns:a="http://schemas.openxmlformats.org/drawingml/2006/main" noGrp="1"/>
          </p:cNvSpPr>
          <p:nvPr/>
        </p:nvSpPr>
        <p:spPr>
          <a:xfrm xmlns:a="http://schemas.openxmlformats.org/drawingml/2006/main">
            <a:off x="609600" y="495300"/>
            <a:ext cx="1800225"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18" name="">
            <a:extLst xmlns:a="http://schemas.openxmlformats.org/drawingml/2006/main">
              <a:ext uri="{FF2B5EF4-FFF2-40B4-BE49-F238E27FC236}">
                <a16:creationId xmlns:a16="http://schemas.microsoft.com/office/drawing/2014/main" id="{7E0647E9-2966-48F9-A1DB-12334EA06329}"/>
              </a:ext>
            </a:extLst>
          </p:cNvPr>
          <p:cNvSpPr>
            <a:spLocks xmlns:a="http://schemas.openxmlformats.org/drawingml/2006/main" noGrp="1"/>
          </p:cNvSpPr>
          <p:nvPr/>
        </p:nvSpPr>
        <p:spPr>
          <a:xfrm xmlns:a="http://schemas.openxmlformats.org/drawingml/2006/main">
            <a:off x="781050" y="571500"/>
            <a:ext cx="14954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YEAR ONE WORKSHOP</a:t>
            </a:r>
          </a:p>
        </p:txBody>
      </p:sp>
      <p:sp>
        <p:nvSpPr>
          <p:cNvPr id="19" name="">
            <a:extLst xmlns:a="http://schemas.openxmlformats.org/drawingml/2006/main">
              <a:ext uri="{FF2B5EF4-FFF2-40B4-BE49-F238E27FC236}">
                <a16:creationId xmlns:a16="http://schemas.microsoft.com/office/drawing/2014/main" id="{2CEED37E-D21B-4F50-A36B-8CAE7E121B42}"/>
              </a:ext>
            </a:extLst>
          </p:cNvPr>
          <p:cNvSpPr>
            <a:spLocks xmlns:a="http://schemas.openxmlformats.org/drawingml/2006/main" noGrp="1"/>
          </p:cNvSpPr>
          <p:nvPr/>
        </p:nvSpPr>
        <p:spPr>
          <a:xfrm xmlns:a="http://schemas.openxmlformats.org/drawingml/2006/main">
            <a:off x="609600" y="1219200"/>
            <a:ext cx="8953500" cy="1600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250" b="1">
                <a:solidFill>
                  <a:srgbClr val="EEE9DD"/>
                </a:solidFill>
                <a:latin typeface="Aptos Display"/>
                <a:ea typeface="Aptos Display"/>
                <a:cs typeface="Aptos Display"/>
              </a:defRPr>
            </a:pPr>
            <a:r>
              <a:rPr sz="5250" b="1">
                <a:solidFill>
                  <a:srgbClr val="EEE9DD"/>
                </a:solidFill>
                <a:latin typeface="Aptos Display"/>
                <a:ea typeface="Aptos Display"/>
                <a:cs typeface="Aptos Display"/>
              </a:rPr>
              <a:t>How to use AI to run your content</a:t>
            </a:r>
          </a:p>
        </p:txBody>
      </p:sp>
      <p:sp>
        <p:nvSpPr>
          <p:cNvPr id="20" name="">
            <a:extLst xmlns:a="http://schemas.openxmlformats.org/drawingml/2006/main">
              <a:ext uri="{FF2B5EF4-FFF2-40B4-BE49-F238E27FC236}">
                <a16:creationId xmlns:a16="http://schemas.microsoft.com/office/drawing/2014/main" id="{FF04026C-97ED-467A-8AD6-1678609A7ABA}"/>
              </a:ext>
            </a:extLst>
          </p:cNvPr>
          <p:cNvSpPr>
            <a:spLocks xmlns:a="http://schemas.openxmlformats.org/drawingml/2006/main" noGrp="1"/>
          </p:cNvSpPr>
          <p:nvPr/>
        </p:nvSpPr>
        <p:spPr>
          <a:xfrm xmlns:a="http://schemas.openxmlformats.org/drawingml/2006/main">
            <a:off x="647700" y="2895600"/>
            <a:ext cx="7239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450" b="1">
                <a:solidFill>
                  <a:srgbClr val="E26F2A"/>
                </a:solidFill>
                <a:latin typeface="Aptos Display"/>
                <a:ea typeface="Aptos Display"/>
                <a:cs typeface="Aptos Display"/>
              </a:defRPr>
            </a:pPr>
            <a:r>
              <a:rPr sz="3450" b="1">
                <a:solidFill>
                  <a:srgbClr val="E26F2A"/>
                </a:solidFill>
                <a:latin typeface="Aptos Display"/>
                <a:ea typeface="Aptos Display"/>
                <a:cs typeface="Aptos Display"/>
              </a:rPr>
              <a:t>so you can run your business</a:t>
            </a:r>
          </a:p>
        </p:txBody>
      </p:sp>
      <p:sp>
        <p:nvSpPr>
          <p:cNvPr id="21" name="">
            <a:extLst xmlns:a="http://schemas.openxmlformats.org/drawingml/2006/main">
              <a:ext uri="{FF2B5EF4-FFF2-40B4-BE49-F238E27FC236}">
                <a16:creationId xmlns:a16="http://schemas.microsoft.com/office/drawing/2014/main" id="{4A91FFF8-FFC7-4833-903B-BC80AC499BA5}"/>
              </a:ext>
            </a:extLst>
          </p:cNvPr>
          <p:cNvSpPr>
            <a:spLocks xmlns:a="http://schemas.openxmlformats.org/drawingml/2006/main" noGrp="1"/>
          </p:cNvSpPr>
          <p:nvPr/>
        </p:nvSpPr>
        <p:spPr>
          <a:xfrm xmlns:a="http://schemas.openxmlformats.org/drawingml/2006/main">
            <a:off x="647700" y="3905250"/>
            <a:ext cx="74295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C2BFB5"/>
                </a:solidFill>
                <a:latin typeface="Aptos"/>
                <a:ea typeface="Aptos"/>
                <a:cs typeface="Aptos"/>
              </a:defRPr>
            </a:pPr>
            <a:r>
              <a:rPr sz="1800" b="0">
                <a:solidFill>
                  <a:srgbClr val="C2BFB5"/>
                </a:solidFill>
                <a:latin typeface="Aptos"/>
                <a:ea typeface="Aptos"/>
                <a:cs typeface="Aptos"/>
              </a:rPr>
              <a:t>A practical content-engine workshop for founders who do not want to wake up asking what to post.</a:t>
            </a:r>
          </a:p>
        </p:txBody>
      </p:sp>
      <p:sp>
        <p:nvSpPr>
          <p:cNvPr id="22" name="">
            <a:extLst xmlns:a="http://schemas.openxmlformats.org/drawingml/2006/main">
              <a:ext uri="{FF2B5EF4-FFF2-40B4-BE49-F238E27FC236}">
                <a16:creationId xmlns:a16="http://schemas.microsoft.com/office/drawing/2014/main" id="{C6AFEED0-83D0-4300-BC0A-97722358414C}"/>
              </a:ext>
            </a:extLst>
          </p:cNvPr>
          <p:cNvSpPr>
            <a:spLocks xmlns:a="http://schemas.openxmlformats.org/drawingml/2006/main" noGrp="1"/>
          </p:cNvSpPr>
          <p:nvPr/>
        </p:nvSpPr>
        <p:spPr>
          <a:xfrm xmlns:a="http://schemas.openxmlformats.org/drawingml/2006/main">
            <a:off x="9239250" y="819150"/>
            <a:ext cx="1714500" cy="485775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D29A125A-87FF-4370-A5BC-94F5D5C8A419}"/>
              </a:ext>
            </a:extLst>
          </p:cNvPr>
          <p:cNvSpPr>
            <a:spLocks xmlns:a="http://schemas.openxmlformats.org/drawingml/2006/main" noGrp="1"/>
          </p:cNvSpPr>
          <p:nvPr/>
        </p:nvSpPr>
        <p:spPr>
          <a:xfrm xmlns:a="http://schemas.openxmlformats.org/drawingml/2006/main">
            <a:off x="9658350" y="1257300"/>
            <a:ext cx="1714500" cy="48577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8D4089BA-BB64-47B3-823C-09FF9DA676A6}"/>
              </a:ext>
            </a:extLst>
          </p:cNvPr>
          <p:cNvSpPr>
            <a:spLocks xmlns:a="http://schemas.openxmlformats.org/drawingml/2006/main" noGrp="1"/>
          </p:cNvSpPr>
          <p:nvPr/>
        </p:nvSpPr>
        <p:spPr>
          <a:xfrm xmlns:a="http://schemas.openxmlformats.org/drawingml/2006/main">
            <a:off x="9372600" y="4953000"/>
            <a:ext cx="2286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0">
                <a:solidFill>
                  <a:srgbClr val="EEE9DD"/>
                </a:solidFill>
                <a:latin typeface="Aptos"/>
                <a:ea typeface="Aptos"/>
                <a:cs typeface="Aptos"/>
              </a:defRPr>
            </a:pPr>
            <a:r>
              <a:rPr sz="1350" b="0">
                <a:solidFill>
                  <a:srgbClr val="EEE9DD"/>
                </a:solidFill>
                <a:latin typeface="Aptos"/>
                <a:ea typeface="Aptos"/>
                <a:cs typeface="Aptos"/>
              </a:rPr>
              <a:t>Harrison Living</a:t>
            </a:r>
          </a:p>
          <a:p xmlns:a="http://schemas.openxmlformats.org/drawingml/2006/main">
            <a:pPr algn="r">
              <a:defRPr sz="1350" b="0">
                <a:solidFill>
                  <a:srgbClr val="EEE9DD"/>
                </a:solidFill>
                <a:latin typeface="Aptos"/>
                <a:ea typeface="Aptos"/>
                <a:cs typeface="Aptos"/>
              </a:defRPr>
            </a:pPr>
            <a:r>
              <a:rPr sz="1350" b="0">
                <a:solidFill>
                  <a:srgbClr val="EEE9DD"/>
                </a:solidFill>
                <a:latin typeface="Aptos"/>
                <a:ea typeface="Aptos"/>
                <a:cs typeface="Aptos"/>
              </a:rPr>
              <a:t>HWL Studio</a:t>
            </a:r>
          </a:p>
          <a:p xmlns:a="http://schemas.openxmlformats.org/drawingml/2006/main">
            <a:pPr algn="r">
              <a:defRPr sz="1350" b="0">
                <a:solidFill>
                  <a:srgbClr val="EEE9DD"/>
                </a:solidFill>
                <a:latin typeface="Aptos"/>
                <a:ea typeface="Aptos"/>
                <a:cs typeface="Aptos"/>
              </a:defRPr>
            </a:pPr>
            <a:r>
              <a:rPr sz="1350" b="0">
                <a:solidFill>
                  <a:srgbClr val="EEE9DD"/>
                </a:solidFill>
                <a:latin typeface="Aptos"/>
                <a:ea typeface="Aptos"/>
                <a:cs typeface="Aptos"/>
              </a:rPr>
              <a:t>9 June 2026</a:t>
            </a:r>
          </a:p>
        </p:txBody>
      </p:sp>
      <p:sp>
        <p:nvSpPr>
          <p:cNvPr id="25" name="">
            <a:extLst xmlns:a="http://schemas.openxmlformats.org/drawingml/2006/main">
              <a:ext uri="{FF2B5EF4-FFF2-40B4-BE49-F238E27FC236}">
                <a16:creationId xmlns:a16="http://schemas.microsoft.com/office/drawing/2014/main" id="{1D7DDDD0-B241-4227-931A-FB1D3A665B84}"/>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D516E07-6F82-412E-8D8D-13B849B12826}"/>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7" name="">
            <a:extLst xmlns:a="http://schemas.openxmlformats.org/drawingml/2006/main">
              <a:ext uri="{FF2B5EF4-FFF2-40B4-BE49-F238E27FC236}">
                <a16:creationId xmlns:a16="http://schemas.microsoft.com/office/drawing/2014/main" id="{31B330AA-1574-4B81-8529-128FD9ECA1FD}"/>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20251900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9F1AA9-01E4-4247-9EB2-5017841B71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255BBC8-373F-49B2-B9DE-D4FE9E69CCD1}"/>
              </a:ext>
            </a:extLst>
          </p:cNvPr>
          <p:cNvSpPr>
            <a:spLocks xmlns:a="http://schemas.openxmlformats.org/drawingml/2006/main" noGrp="1"/>
          </p:cNvSpPr>
          <p:nvPr/>
        </p:nvSpPr>
        <p:spPr>
          <a:xfrm xmlns:a="http://schemas.openxmlformats.org/drawingml/2006/main">
            <a:off x="609600" y="495300"/>
            <a:ext cx="1285875"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CD52FA07-962C-43BA-BAAF-1D6448B3A03C}"/>
              </a:ext>
            </a:extLst>
          </p:cNvPr>
          <p:cNvSpPr>
            <a:spLocks xmlns:a="http://schemas.openxmlformats.org/drawingml/2006/main" noGrp="1"/>
          </p:cNvSpPr>
          <p:nvPr/>
        </p:nvSpPr>
        <p:spPr>
          <a:xfrm xmlns:a="http://schemas.openxmlformats.org/drawingml/2006/main">
            <a:off x="781050" y="571500"/>
            <a:ext cx="98107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THE PROMISE</a:t>
            </a:r>
          </a:p>
        </p:txBody>
      </p:sp>
      <p:sp>
        <p:nvSpPr>
          <p:cNvPr id="4" name="">
            <a:extLst xmlns:a="http://schemas.openxmlformats.org/drawingml/2006/main">
              <a:ext uri="{FF2B5EF4-FFF2-40B4-BE49-F238E27FC236}">
                <a16:creationId xmlns:a16="http://schemas.microsoft.com/office/drawing/2014/main" id="{28372BFA-0615-4077-9A83-CAFF3D0277D6}"/>
              </a:ext>
            </a:extLst>
          </p:cNvPr>
          <p:cNvSpPr>
            <a:spLocks xmlns:a="http://schemas.openxmlformats.org/drawingml/2006/main" noGrp="1"/>
          </p:cNvSpPr>
          <p:nvPr/>
        </p:nvSpPr>
        <p:spPr>
          <a:xfrm xmlns:a="http://schemas.openxmlformats.org/drawingml/2006/main">
            <a:off x="609600" y="1143000"/>
            <a:ext cx="80962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350" b="1">
                <a:solidFill>
                  <a:srgbClr val="EEE9DD"/>
                </a:solidFill>
                <a:latin typeface="Aptos Display"/>
                <a:ea typeface="Aptos Display"/>
                <a:cs typeface="Aptos Display"/>
              </a:defRPr>
            </a:pPr>
            <a:r>
              <a:rPr sz="4350" b="1">
                <a:solidFill>
                  <a:srgbClr val="EEE9DD"/>
                </a:solidFill>
                <a:latin typeface="Aptos Display"/>
                <a:ea typeface="Aptos Display"/>
                <a:cs typeface="Aptos Display"/>
              </a:rPr>
              <a:t>You leave with a system, not a list of tools.</a:t>
            </a:r>
          </a:p>
        </p:txBody>
      </p:sp>
      <p:sp>
        <p:nvSpPr>
          <p:cNvPr id="5" name="">
            <a:extLst xmlns:a="http://schemas.openxmlformats.org/drawingml/2006/main">
              <a:ext uri="{FF2B5EF4-FFF2-40B4-BE49-F238E27FC236}">
                <a16:creationId xmlns:a16="http://schemas.microsoft.com/office/drawing/2014/main" id="{F65E1328-BB01-4B2C-8286-3168BE73D098}"/>
              </a:ext>
            </a:extLst>
          </p:cNvPr>
          <p:cNvSpPr>
            <a:spLocks xmlns:a="http://schemas.openxmlformats.org/drawingml/2006/main" noGrp="1"/>
          </p:cNvSpPr>
          <p:nvPr/>
        </p:nvSpPr>
        <p:spPr>
          <a:xfrm xmlns:a="http://schemas.openxmlformats.org/drawingml/2006/main">
            <a:off x="647700" y="2647950"/>
            <a:ext cx="7239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C2BFB5"/>
                </a:solidFill>
                <a:latin typeface="Aptos"/>
                <a:ea typeface="Aptos"/>
                <a:cs typeface="Aptos"/>
              </a:defRPr>
            </a:pPr>
            <a:r>
              <a:rPr sz="1800" b="0">
                <a:solidFill>
                  <a:srgbClr val="C2BFB5"/>
                </a:solidFill>
                <a:latin typeface="Aptos"/>
                <a:ea typeface="Aptos"/>
                <a:cs typeface="Aptos"/>
              </a:rPr>
              <a:t>The goal is to make content lighter without making it generic.</a:t>
            </a:r>
          </a:p>
        </p:txBody>
      </p:sp>
      <p:sp>
        <p:nvSpPr>
          <p:cNvPr id="6" name="">
            <a:extLst xmlns:a="http://schemas.openxmlformats.org/drawingml/2006/main">
              <a:ext uri="{FF2B5EF4-FFF2-40B4-BE49-F238E27FC236}">
                <a16:creationId xmlns:a16="http://schemas.microsoft.com/office/drawing/2014/main" id="{7ABD844F-12A3-4143-8C1F-E2AB25FBDCC3}"/>
              </a:ext>
            </a:extLst>
          </p:cNvPr>
          <p:cNvSpPr>
            <a:spLocks xmlns:a="http://schemas.openxmlformats.org/drawingml/2006/main" noGrp="1"/>
          </p:cNvSpPr>
          <p:nvPr/>
        </p:nvSpPr>
        <p:spPr>
          <a:xfrm xmlns:a="http://schemas.openxmlformats.org/drawingml/2006/main">
            <a:off x="742950" y="3638550"/>
            <a:ext cx="3238500" cy="14287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7" name="">
            <a:extLst xmlns:a="http://schemas.openxmlformats.org/drawingml/2006/main">
              <a:ext uri="{FF2B5EF4-FFF2-40B4-BE49-F238E27FC236}">
                <a16:creationId xmlns:a16="http://schemas.microsoft.com/office/drawing/2014/main" id="{ADAB8B6B-F1A5-435B-BC06-B2FA782D7914}"/>
              </a:ext>
            </a:extLst>
          </p:cNvPr>
          <p:cNvSpPr>
            <a:spLocks xmlns:a="http://schemas.openxmlformats.org/drawingml/2006/main" noGrp="1"/>
          </p:cNvSpPr>
          <p:nvPr/>
        </p:nvSpPr>
        <p:spPr>
          <a:xfrm xmlns:a="http://schemas.openxmlformats.org/drawingml/2006/main">
            <a:off x="742950" y="3638550"/>
            <a:ext cx="47625" cy="14287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127BFE7-B246-4D04-9AF3-3DE83C035B67}"/>
              </a:ext>
            </a:extLst>
          </p:cNvPr>
          <p:cNvSpPr>
            <a:spLocks xmlns:a="http://schemas.openxmlformats.org/drawingml/2006/main" noGrp="1"/>
          </p:cNvSpPr>
          <p:nvPr/>
        </p:nvSpPr>
        <p:spPr>
          <a:xfrm xmlns:a="http://schemas.openxmlformats.org/drawingml/2006/main">
            <a:off x="971550" y="3848100"/>
            <a:ext cx="2324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EEE9DD"/>
                </a:solidFill>
                <a:latin typeface="Aptos Display"/>
                <a:ea typeface="Aptos Display"/>
                <a:cs typeface="Aptos Display"/>
              </a:defRPr>
            </a:pPr>
            <a:r>
              <a:rPr sz="1875" b="1">
                <a:solidFill>
                  <a:srgbClr val="EEE9DD"/>
                </a:solidFill>
                <a:latin typeface="Aptos Display"/>
                <a:ea typeface="Aptos Display"/>
                <a:cs typeface="Aptos Display"/>
              </a:rPr>
              <a:t>A folder structure</a:t>
            </a:r>
          </a:p>
        </p:txBody>
      </p:sp>
      <p:sp>
        <p:nvSpPr>
          <p:cNvPr id="9" name="">
            <a:extLst xmlns:a="http://schemas.openxmlformats.org/drawingml/2006/main">
              <a:ext uri="{FF2B5EF4-FFF2-40B4-BE49-F238E27FC236}">
                <a16:creationId xmlns:a16="http://schemas.microsoft.com/office/drawing/2014/main" id="{2163010A-2897-4B82-BBBD-AAF5DA1CDFB8}"/>
              </a:ext>
            </a:extLst>
          </p:cNvPr>
          <p:cNvSpPr>
            <a:spLocks xmlns:a="http://schemas.openxmlformats.org/drawingml/2006/main" noGrp="1"/>
          </p:cNvSpPr>
          <p:nvPr/>
        </p:nvSpPr>
        <p:spPr>
          <a:xfrm xmlns:a="http://schemas.openxmlformats.org/drawingml/2006/main">
            <a:off x="971550" y="4286250"/>
            <a:ext cx="27813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C2BFB5"/>
                </a:solidFill>
                <a:latin typeface="Aptos"/>
                <a:ea typeface="Aptos"/>
                <a:cs typeface="Aptos"/>
              </a:defRPr>
            </a:pPr>
            <a:r>
              <a:rPr sz="1350" b="0">
                <a:solidFill>
                  <a:srgbClr val="C2BFB5"/>
                </a:solidFill>
                <a:latin typeface="Aptos"/>
                <a:ea typeface="Aptos"/>
                <a:cs typeface="Aptos"/>
              </a:rPr>
              <a:t>What the AI needs to know before it writes anything.</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d3103db5b664cb1">
            <a:extLst>
              <a:ext uri="{96DAC541-7B7A-43D3-8B79-37D633B846F1}">
                <asvg:svgBlip xmlns:asvg="http://schemas.microsoft.com/office/drawing/2016/SVG/main" r:embed="R331644fde8834b2c"/>
              </a:ext>
            </a:extLst>
          </a:blip>
          <a:stretch xmlns:a="http://schemas.openxmlformats.org/drawingml/2006/main"/>
        </p:blipFill>
        <p:spPr>
          <a:xfrm xmlns:a="http://schemas.openxmlformats.org/drawingml/2006/main">
            <a:off x="3390900" y="3867150"/>
            <a:ext cx="285750" cy="285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D3B9954-56E7-4FC2-B223-409EFB271CC7}"/>
              </a:ext>
            </a:extLst>
          </p:cNvPr>
          <p:cNvSpPr>
            <a:spLocks xmlns:a="http://schemas.openxmlformats.org/drawingml/2006/main" noGrp="1"/>
          </p:cNvSpPr>
          <p:nvPr/>
        </p:nvSpPr>
        <p:spPr>
          <a:xfrm xmlns:a="http://schemas.openxmlformats.org/drawingml/2006/main">
            <a:off x="4476750" y="3638550"/>
            <a:ext cx="3238500" cy="14287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2" name="">
            <a:extLst xmlns:a="http://schemas.openxmlformats.org/drawingml/2006/main">
              <a:ext uri="{FF2B5EF4-FFF2-40B4-BE49-F238E27FC236}">
                <a16:creationId xmlns:a16="http://schemas.microsoft.com/office/drawing/2014/main" id="{F721E35D-6EEA-4EF8-971F-E5994FCF0B38}"/>
              </a:ext>
            </a:extLst>
          </p:cNvPr>
          <p:cNvSpPr>
            <a:spLocks xmlns:a="http://schemas.openxmlformats.org/drawingml/2006/main" noGrp="1"/>
          </p:cNvSpPr>
          <p:nvPr/>
        </p:nvSpPr>
        <p:spPr>
          <a:xfrm xmlns:a="http://schemas.openxmlformats.org/drawingml/2006/main">
            <a:off x="4476750" y="3638550"/>
            <a:ext cx="47625" cy="142875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5FEAE9F-653B-48F2-AF09-10B3048FCDC7}"/>
              </a:ext>
            </a:extLst>
          </p:cNvPr>
          <p:cNvSpPr>
            <a:spLocks xmlns:a="http://schemas.openxmlformats.org/drawingml/2006/main" noGrp="1"/>
          </p:cNvSpPr>
          <p:nvPr/>
        </p:nvSpPr>
        <p:spPr>
          <a:xfrm xmlns:a="http://schemas.openxmlformats.org/drawingml/2006/main">
            <a:off x="4705350" y="3848100"/>
            <a:ext cx="2324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EEE9DD"/>
                </a:solidFill>
                <a:latin typeface="Aptos Display"/>
                <a:ea typeface="Aptos Display"/>
                <a:cs typeface="Aptos Display"/>
              </a:defRPr>
            </a:pPr>
            <a:r>
              <a:rPr sz="1875" b="1">
                <a:solidFill>
                  <a:srgbClr val="EEE9DD"/>
                </a:solidFill>
                <a:latin typeface="Aptos Display"/>
                <a:ea typeface="Aptos Display"/>
                <a:cs typeface="Aptos Display"/>
              </a:rPr>
              <a:t>A weekly rhythm</a:t>
            </a:r>
          </a:p>
        </p:txBody>
      </p:sp>
      <p:sp>
        <p:nvSpPr>
          <p:cNvPr id="14" name="">
            <a:extLst xmlns:a="http://schemas.openxmlformats.org/drawingml/2006/main">
              <a:ext uri="{FF2B5EF4-FFF2-40B4-BE49-F238E27FC236}">
                <a16:creationId xmlns:a16="http://schemas.microsoft.com/office/drawing/2014/main" id="{E7C3934F-BF61-4BE7-A92E-791D36C62129}"/>
              </a:ext>
            </a:extLst>
          </p:cNvPr>
          <p:cNvSpPr>
            <a:spLocks xmlns:a="http://schemas.openxmlformats.org/drawingml/2006/main" noGrp="1"/>
          </p:cNvSpPr>
          <p:nvPr/>
        </p:nvSpPr>
        <p:spPr>
          <a:xfrm xmlns:a="http://schemas.openxmlformats.org/drawingml/2006/main">
            <a:off x="4705350" y="4286250"/>
            <a:ext cx="27813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C2BFB5"/>
                </a:solidFill>
                <a:latin typeface="Aptos"/>
                <a:ea typeface="Aptos"/>
                <a:cs typeface="Aptos"/>
              </a:defRPr>
            </a:pPr>
            <a:r>
              <a:rPr sz="1350" b="0">
                <a:solidFill>
                  <a:srgbClr val="C2BFB5"/>
                </a:solidFill>
                <a:latin typeface="Aptos"/>
                <a:ea typeface="Aptos"/>
                <a:cs typeface="Aptos"/>
              </a:rPr>
              <a:t>How one idea gets chosen, shaped, and shipped.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6bb1cbf18454975">
            <a:extLst>
              <a:ext uri="{96DAC541-7B7A-43D3-8B79-37D633B846F1}">
                <asvg:svgBlip xmlns:asvg="http://schemas.microsoft.com/office/drawing/2016/SVG/main" r:embed="R6d16cc2c7b504b00"/>
              </a:ext>
            </a:extLst>
          </a:blip>
          <a:stretch xmlns:a="http://schemas.openxmlformats.org/drawingml/2006/main"/>
        </p:blipFill>
        <p:spPr>
          <a:xfrm xmlns:a="http://schemas.openxmlformats.org/drawingml/2006/main">
            <a:off x="7124700" y="3867150"/>
            <a:ext cx="285750" cy="2857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4DFB2856-B8A9-4032-9A52-1B3BCDD1C124}"/>
              </a:ext>
            </a:extLst>
          </p:cNvPr>
          <p:cNvSpPr>
            <a:spLocks xmlns:a="http://schemas.openxmlformats.org/drawingml/2006/main" noGrp="1"/>
          </p:cNvSpPr>
          <p:nvPr/>
        </p:nvSpPr>
        <p:spPr>
          <a:xfrm xmlns:a="http://schemas.openxmlformats.org/drawingml/2006/main">
            <a:off x="8210550" y="3638550"/>
            <a:ext cx="3238500" cy="14287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7" name="">
            <a:extLst xmlns:a="http://schemas.openxmlformats.org/drawingml/2006/main">
              <a:ext uri="{FF2B5EF4-FFF2-40B4-BE49-F238E27FC236}">
                <a16:creationId xmlns:a16="http://schemas.microsoft.com/office/drawing/2014/main" id="{C7B0950B-65D0-4457-98BD-E42AD35A7434}"/>
              </a:ext>
            </a:extLst>
          </p:cNvPr>
          <p:cNvSpPr>
            <a:spLocks xmlns:a="http://schemas.openxmlformats.org/drawingml/2006/main" noGrp="1"/>
          </p:cNvSpPr>
          <p:nvPr/>
        </p:nvSpPr>
        <p:spPr>
          <a:xfrm xmlns:a="http://schemas.openxmlformats.org/drawingml/2006/main">
            <a:off x="8210550" y="3638550"/>
            <a:ext cx="47625" cy="14287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98709FEC-49E9-4976-9DB5-AE3934483C1D}"/>
              </a:ext>
            </a:extLst>
          </p:cNvPr>
          <p:cNvSpPr>
            <a:spLocks xmlns:a="http://schemas.openxmlformats.org/drawingml/2006/main" noGrp="1"/>
          </p:cNvSpPr>
          <p:nvPr/>
        </p:nvSpPr>
        <p:spPr>
          <a:xfrm xmlns:a="http://schemas.openxmlformats.org/drawingml/2006/main">
            <a:off x="8439150" y="3848100"/>
            <a:ext cx="2324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EEE9DD"/>
                </a:solidFill>
                <a:latin typeface="Aptos Display"/>
                <a:ea typeface="Aptos Display"/>
                <a:cs typeface="Aptos Display"/>
              </a:defRPr>
            </a:pPr>
            <a:r>
              <a:rPr sz="1875" b="1">
                <a:solidFill>
                  <a:srgbClr val="EEE9DD"/>
                </a:solidFill>
                <a:latin typeface="Aptos Display"/>
                <a:ea typeface="Aptos Display"/>
                <a:cs typeface="Aptos Display"/>
              </a:rPr>
              <a:t>A cascade prompt</a:t>
            </a:r>
          </a:p>
        </p:txBody>
      </p:sp>
      <p:sp>
        <p:nvSpPr>
          <p:cNvPr id="19" name="">
            <a:extLst xmlns:a="http://schemas.openxmlformats.org/drawingml/2006/main">
              <a:ext uri="{FF2B5EF4-FFF2-40B4-BE49-F238E27FC236}">
                <a16:creationId xmlns:a16="http://schemas.microsoft.com/office/drawing/2014/main" id="{46884458-2ED5-4213-87CB-8221EA930CB2}"/>
              </a:ext>
            </a:extLst>
          </p:cNvPr>
          <p:cNvSpPr>
            <a:spLocks xmlns:a="http://schemas.openxmlformats.org/drawingml/2006/main" noGrp="1"/>
          </p:cNvSpPr>
          <p:nvPr/>
        </p:nvSpPr>
        <p:spPr>
          <a:xfrm xmlns:a="http://schemas.openxmlformats.org/drawingml/2006/main">
            <a:off x="8439150" y="4286250"/>
            <a:ext cx="27813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C2BFB5"/>
                </a:solidFill>
                <a:latin typeface="Aptos"/>
                <a:ea typeface="Aptos"/>
                <a:cs typeface="Aptos"/>
              </a:defRPr>
            </a:pPr>
            <a:r>
              <a:rPr sz="1350" b="0">
                <a:solidFill>
                  <a:srgbClr val="C2BFB5"/>
                </a:solidFill>
                <a:latin typeface="Aptos"/>
                <a:ea typeface="Aptos"/>
                <a:cs typeface="Aptos"/>
              </a:rPr>
              <a:t>How one idea becomes drafts across multiple platforms.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89ecdfe5a7c49dd">
            <a:extLst>
              <a:ext uri="{96DAC541-7B7A-43D3-8B79-37D633B846F1}">
                <asvg:svgBlip xmlns:asvg="http://schemas.microsoft.com/office/drawing/2016/SVG/main" r:embed="R5f85a29da7b54d32"/>
              </a:ext>
            </a:extLst>
          </a:blip>
          <a:stretch xmlns:a="http://schemas.openxmlformats.org/drawingml/2006/main"/>
        </p:blipFill>
        <p:spPr>
          <a:xfrm xmlns:a="http://schemas.openxmlformats.org/drawingml/2006/main">
            <a:off x="10858500" y="3867150"/>
            <a:ext cx="285750" cy="2857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DA3BCDB7-4813-451C-989D-57001006196F}"/>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FF713558-B5B8-4E3F-8650-9C2E3CFCB055}"/>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3" name="">
            <a:extLst xmlns:a="http://schemas.openxmlformats.org/drawingml/2006/main">
              <a:ext uri="{FF2B5EF4-FFF2-40B4-BE49-F238E27FC236}">
                <a16:creationId xmlns:a16="http://schemas.microsoft.com/office/drawing/2014/main" id="{B4338ECD-62BE-4560-AFCD-A8E1CE13D271}"/>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7001856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9E42D2-9EBD-4B01-ADC2-FE5BD0DDC0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0D9477C-26F2-4754-9F3D-9EAE34C839B6}"/>
              </a:ext>
            </a:extLst>
          </p:cNvPr>
          <p:cNvSpPr>
            <a:spLocks xmlns:a="http://schemas.openxmlformats.org/drawingml/2006/main" noGrp="1"/>
          </p:cNvSpPr>
          <p:nvPr/>
        </p:nvSpPr>
        <p:spPr>
          <a:xfrm xmlns:a="http://schemas.openxmlformats.org/drawingml/2006/main">
            <a:off x="609600" y="495300"/>
            <a:ext cx="1885950"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979BB710-521B-4DDA-8892-FD45463A65DA}"/>
              </a:ext>
            </a:extLst>
          </p:cNvPr>
          <p:cNvSpPr>
            <a:spLocks xmlns:a="http://schemas.openxmlformats.org/drawingml/2006/main" noGrp="1"/>
          </p:cNvSpPr>
          <p:nvPr/>
        </p:nvSpPr>
        <p:spPr>
          <a:xfrm xmlns:a="http://schemas.openxmlformats.org/drawingml/2006/main">
            <a:off x="781050" y="571500"/>
            <a:ext cx="1581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THE ACTUAL PROBLEM</a:t>
            </a:r>
          </a:p>
        </p:txBody>
      </p:sp>
      <p:sp>
        <p:nvSpPr>
          <p:cNvPr id="4" name="">
            <a:extLst xmlns:a="http://schemas.openxmlformats.org/drawingml/2006/main">
              <a:ext uri="{FF2B5EF4-FFF2-40B4-BE49-F238E27FC236}">
                <a16:creationId xmlns:a16="http://schemas.microsoft.com/office/drawing/2014/main" id="{C1EDFE34-3DDD-4A8B-BAA5-8C8C39A0D5D5}"/>
              </a:ext>
            </a:extLst>
          </p:cNvPr>
          <p:cNvSpPr>
            <a:spLocks xmlns:a="http://schemas.openxmlformats.org/drawingml/2006/main" noGrp="1"/>
          </p:cNvSpPr>
          <p:nvPr/>
        </p:nvSpPr>
        <p:spPr>
          <a:xfrm xmlns:a="http://schemas.openxmlformats.org/drawingml/2006/main">
            <a:off x="609600" y="1104900"/>
            <a:ext cx="87630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500" b="1">
                <a:solidFill>
                  <a:srgbClr val="EEE9DD"/>
                </a:solidFill>
                <a:latin typeface="Aptos Display"/>
                <a:ea typeface="Aptos Display"/>
                <a:cs typeface="Aptos Display"/>
              </a:defRPr>
            </a:pPr>
            <a:r>
              <a:rPr sz="4500" b="1">
                <a:solidFill>
                  <a:srgbClr val="EEE9DD"/>
                </a:solidFill>
                <a:latin typeface="Aptos Display"/>
                <a:ea typeface="Aptos Display"/>
                <a:cs typeface="Aptos Display"/>
              </a:rPr>
              <a:t>Content feels hard because every post starts from zero.</a:t>
            </a:r>
          </a:p>
        </p:txBody>
      </p:sp>
      <p:sp>
        <p:nvSpPr>
          <p:cNvPr id="5" name="">
            <a:extLst xmlns:a="http://schemas.openxmlformats.org/drawingml/2006/main">
              <a:ext uri="{FF2B5EF4-FFF2-40B4-BE49-F238E27FC236}">
                <a16:creationId xmlns:a16="http://schemas.microsoft.com/office/drawing/2014/main" id="{EA32D55E-3804-4725-9223-3E0BE9575AF5}"/>
              </a:ext>
            </a:extLst>
          </p:cNvPr>
          <p:cNvSpPr>
            <a:spLocks xmlns:a="http://schemas.openxmlformats.org/drawingml/2006/main" noGrp="1"/>
          </p:cNvSpPr>
          <p:nvPr/>
        </p:nvSpPr>
        <p:spPr>
          <a:xfrm xmlns:a="http://schemas.openxmlformats.org/drawingml/2006/main">
            <a:off x="647700" y="2724150"/>
            <a:ext cx="7239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C2BFB5"/>
                </a:solidFill>
                <a:latin typeface="Aptos"/>
                <a:ea typeface="Aptos"/>
                <a:cs typeface="Aptos"/>
              </a:defRPr>
            </a:pPr>
            <a:r>
              <a:rPr sz="1800" b="0">
                <a:solidFill>
                  <a:srgbClr val="C2BFB5"/>
                </a:solidFill>
                <a:latin typeface="Aptos"/>
                <a:ea typeface="Aptos"/>
                <a:cs typeface="Aptos"/>
              </a:rPr>
              <a:t>Most founders do not have a content problem. They have a decision-load problem.</a:t>
            </a:r>
          </a:p>
        </p:txBody>
      </p:sp>
      <p:sp>
        <p:nvSpPr>
          <p:cNvPr id="6" name="">
            <a:extLst xmlns:a="http://schemas.openxmlformats.org/drawingml/2006/main">
              <a:ext uri="{FF2B5EF4-FFF2-40B4-BE49-F238E27FC236}">
                <a16:creationId xmlns:a16="http://schemas.microsoft.com/office/drawing/2014/main" id="{9D6A1BD6-C87C-4881-A524-C05DCFDF9B7F}"/>
              </a:ext>
            </a:extLst>
          </p:cNvPr>
          <p:cNvSpPr>
            <a:spLocks xmlns:a="http://schemas.openxmlformats.org/drawingml/2006/main" noGrp="1"/>
          </p:cNvSpPr>
          <p:nvPr/>
        </p:nvSpPr>
        <p:spPr>
          <a:xfrm xmlns:a="http://schemas.openxmlformats.org/drawingml/2006/main">
            <a:off x="857250" y="3771900"/>
            <a:ext cx="2286000" cy="10477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7" name="">
            <a:extLst xmlns:a="http://schemas.openxmlformats.org/drawingml/2006/main">
              <a:ext uri="{FF2B5EF4-FFF2-40B4-BE49-F238E27FC236}">
                <a16:creationId xmlns:a16="http://schemas.microsoft.com/office/drawing/2014/main" id="{C0E63EDA-338A-4E87-8254-8D18119CB059}"/>
              </a:ext>
            </a:extLst>
          </p:cNvPr>
          <p:cNvSpPr>
            <a:spLocks xmlns:a="http://schemas.openxmlformats.org/drawingml/2006/main" noGrp="1"/>
          </p:cNvSpPr>
          <p:nvPr/>
        </p:nvSpPr>
        <p:spPr>
          <a:xfrm xmlns:a="http://schemas.openxmlformats.org/drawingml/2006/main">
            <a:off x="1066800" y="4095750"/>
            <a:ext cx="18669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EEE9DD"/>
                </a:solidFill>
                <a:latin typeface="Aptos"/>
                <a:ea typeface="Aptos"/>
                <a:cs typeface="Aptos"/>
              </a:defRPr>
            </a:pPr>
            <a:r>
              <a:rPr sz="1800" b="1">
                <a:solidFill>
                  <a:srgbClr val="EEE9DD"/>
                </a:solidFill>
                <a:latin typeface="Aptos"/>
                <a:ea typeface="Aptos"/>
                <a:cs typeface="Aptos"/>
              </a:rPr>
              <a:t>What should I post?</a:t>
            </a:r>
          </a:p>
        </p:txBody>
      </p:sp>
      <p:sp>
        <p:nvSpPr>
          <p:cNvPr id="8" name="">
            <a:extLst xmlns:a="http://schemas.openxmlformats.org/drawingml/2006/main">
              <a:ext uri="{FF2B5EF4-FFF2-40B4-BE49-F238E27FC236}">
                <a16:creationId xmlns:a16="http://schemas.microsoft.com/office/drawing/2014/main" id="{CC94C2F5-067D-4176-A5F8-F91BAE81B902}"/>
              </a:ext>
            </a:extLst>
          </p:cNvPr>
          <p:cNvSpPr>
            <a:spLocks xmlns:a="http://schemas.openxmlformats.org/drawingml/2006/main" noGrp="1"/>
          </p:cNvSpPr>
          <p:nvPr/>
        </p:nvSpPr>
        <p:spPr>
          <a:xfrm xmlns:a="http://schemas.openxmlformats.org/drawingml/2006/main">
            <a:off x="3695700" y="3771900"/>
            <a:ext cx="2286000" cy="10477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9" name="">
            <a:extLst xmlns:a="http://schemas.openxmlformats.org/drawingml/2006/main">
              <a:ext uri="{FF2B5EF4-FFF2-40B4-BE49-F238E27FC236}">
                <a16:creationId xmlns:a16="http://schemas.microsoft.com/office/drawing/2014/main" id="{75A91314-5058-458C-AEAE-FAAFE262A5CB}"/>
              </a:ext>
            </a:extLst>
          </p:cNvPr>
          <p:cNvSpPr>
            <a:spLocks xmlns:a="http://schemas.openxmlformats.org/drawingml/2006/main" noGrp="1"/>
          </p:cNvSpPr>
          <p:nvPr/>
        </p:nvSpPr>
        <p:spPr>
          <a:xfrm xmlns:a="http://schemas.openxmlformats.org/drawingml/2006/main">
            <a:off x="3905250" y="4095750"/>
            <a:ext cx="18669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EEE9DD"/>
                </a:solidFill>
                <a:latin typeface="Aptos"/>
                <a:ea typeface="Aptos"/>
                <a:cs typeface="Aptos"/>
              </a:defRPr>
            </a:pPr>
            <a:r>
              <a:rPr sz="1800" b="1">
                <a:solidFill>
                  <a:srgbClr val="EEE9DD"/>
                </a:solidFill>
                <a:latin typeface="Aptos"/>
                <a:ea typeface="Aptos"/>
                <a:cs typeface="Aptos"/>
              </a:rPr>
              <a:t>How should it sound?</a:t>
            </a:r>
          </a:p>
        </p:txBody>
      </p:sp>
      <p:sp>
        <p:nvSpPr>
          <p:cNvPr id="10" name="">
            <a:extLst xmlns:a="http://schemas.openxmlformats.org/drawingml/2006/main">
              <a:ext uri="{FF2B5EF4-FFF2-40B4-BE49-F238E27FC236}">
                <a16:creationId xmlns:a16="http://schemas.microsoft.com/office/drawing/2014/main" id="{4B6BC2D6-FD65-4FB6-8868-DCB0EF8F1AF7}"/>
              </a:ext>
            </a:extLst>
          </p:cNvPr>
          <p:cNvSpPr>
            <a:spLocks xmlns:a="http://schemas.openxmlformats.org/drawingml/2006/main" noGrp="1"/>
          </p:cNvSpPr>
          <p:nvPr/>
        </p:nvSpPr>
        <p:spPr>
          <a:xfrm xmlns:a="http://schemas.openxmlformats.org/drawingml/2006/main">
            <a:off x="6534150" y="3771900"/>
            <a:ext cx="2286000" cy="10477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1" name="">
            <a:extLst xmlns:a="http://schemas.openxmlformats.org/drawingml/2006/main">
              <a:ext uri="{FF2B5EF4-FFF2-40B4-BE49-F238E27FC236}">
                <a16:creationId xmlns:a16="http://schemas.microsoft.com/office/drawing/2014/main" id="{8491D172-39DF-4D73-AE1A-5616C28B0702}"/>
              </a:ext>
            </a:extLst>
          </p:cNvPr>
          <p:cNvSpPr>
            <a:spLocks xmlns:a="http://schemas.openxmlformats.org/drawingml/2006/main" noGrp="1"/>
          </p:cNvSpPr>
          <p:nvPr/>
        </p:nvSpPr>
        <p:spPr>
          <a:xfrm xmlns:a="http://schemas.openxmlformats.org/drawingml/2006/main">
            <a:off x="6743700" y="4095750"/>
            <a:ext cx="18669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EEE9DD"/>
                </a:solidFill>
                <a:latin typeface="Aptos"/>
                <a:ea typeface="Aptos"/>
                <a:cs typeface="Aptos"/>
              </a:defRPr>
            </a:pPr>
            <a:r>
              <a:rPr sz="1800" b="1">
                <a:solidFill>
                  <a:srgbClr val="EEE9DD"/>
                </a:solidFill>
                <a:latin typeface="Aptos"/>
                <a:ea typeface="Aptos"/>
                <a:cs typeface="Aptos"/>
              </a:rPr>
              <a:t>Where should it go?</a:t>
            </a:r>
          </a:p>
        </p:txBody>
      </p:sp>
      <p:sp>
        <p:nvSpPr>
          <p:cNvPr id="12" name="">
            <a:extLst xmlns:a="http://schemas.openxmlformats.org/drawingml/2006/main">
              <a:ext uri="{FF2B5EF4-FFF2-40B4-BE49-F238E27FC236}">
                <a16:creationId xmlns:a16="http://schemas.microsoft.com/office/drawing/2014/main" id="{C78138E3-08D4-4294-8ECA-279EA92F723C}"/>
              </a:ext>
            </a:extLst>
          </p:cNvPr>
          <p:cNvSpPr>
            <a:spLocks xmlns:a="http://schemas.openxmlformats.org/drawingml/2006/main" noGrp="1"/>
          </p:cNvSpPr>
          <p:nvPr/>
        </p:nvSpPr>
        <p:spPr>
          <a:xfrm xmlns:a="http://schemas.openxmlformats.org/drawingml/2006/main">
            <a:off x="9372600" y="3771900"/>
            <a:ext cx="2000250" cy="10477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7C97BA5-FDD2-4873-8C0B-6ADDF58FC642}"/>
              </a:ext>
            </a:extLst>
          </p:cNvPr>
          <p:cNvSpPr>
            <a:spLocks xmlns:a="http://schemas.openxmlformats.org/drawingml/2006/main" noGrp="1"/>
          </p:cNvSpPr>
          <p:nvPr/>
        </p:nvSpPr>
        <p:spPr>
          <a:xfrm xmlns:a="http://schemas.openxmlformats.org/drawingml/2006/main">
            <a:off x="9601200" y="4095750"/>
            <a:ext cx="15621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C1F1A"/>
                </a:solidFill>
                <a:latin typeface="Aptos"/>
                <a:ea typeface="Aptos"/>
                <a:cs typeface="Aptos"/>
              </a:defRPr>
            </a:pPr>
            <a:r>
              <a:rPr sz="1800" b="1">
                <a:solidFill>
                  <a:srgbClr val="1C1F1A"/>
                </a:solidFill>
                <a:latin typeface="Aptos"/>
                <a:ea typeface="Aptos"/>
                <a:cs typeface="Aptos"/>
              </a:rPr>
              <a:t>So nothing ships.</a:t>
            </a:r>
          </a:p>
        </p:txBody>
      </p:sp>
      <p:sp>
        <p:nvSpPr>
          <p:cNvPr id="14" name="">
            <a:extLst xmlns:a="http://schemas.openxmlformats.org/drawingml/2006/main">
              <a:ext uri="{FF2B5EF4-FFF2-40B4-BE49-F238E27FC236}">
                <a16:creationId xmlns:a16="http://schemas.microsoft.com/office/drawing/2014/main" id="{929286F8-1399-4CAD-923E-5292332E370E}"/>
              </a:ext>
            </a:extLst>
          </p:cNvPr>
          <p:cNvSpPr>
            <a:spLocks xmlns:a="http://schemas.openxmlformats.org/drawingml/2006/main" noGrp="1"/>
          </p:cNvSpPr>
          <p:nvPr/>
        </p:nvSpPr>
        <p:spPr>
          <a:xfrm xmlns:a="http://schemas.openxmlformats.org/drawingml/2006/main">
            <a:off x="857250" y="5353050"/>
            <a:ext cx="7239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EEE9DD"/>
                </a:solidFill>
                <a:latin typeface="Aptos Display"/>
                <a:ea typeface="Aptos Display"/>
                <a:cs typeface="Aptos Display"/>
              </a:defRPr>
            </a:pPr>
            <a:r>
              <a:rPr sz="2550" b="1">
                <a:solidFill>
                  <a:srgbClr val="EEE9DD"/>
                </a:solidFill>
                <a:latin typeface="Aptos Display"/>
                <a:ea typeface="Aptos Display"/>
                <a:cs typeface="Aptos Display"/>
              </a:rPr>
              <a:t>The blank page is not noble. It is expensive.</a:t>
            </a:r>
          </a:p>
        </p:txBody>
      </p:sp>
      <p:sp>
        <p:nvSpPr>
          <p:cNvPr id="15" name="">
            <a:extLst xmlns:a="http://schemas.openxmlformats.org/drawingml/2006/main">
              <a:ext uri="{FF2B5EF4-FFF2-40B4-BE49-F238E27FC236}">
                <a16:creationId xmlns:a16="http://schemas.microsoft.com/office/drawing/2014/main" id="{BDA673F2-9920-4173-AD21-EFFF1411DFFB}"/>
              </a:ext>
            </a:extLst>
          </p:cNvPr>
          <p:cNvSpPr>
            <a:spLocks xmlns:a="http://schemas.openxmlformats.org/drawingml/2006/main" noGrp="1"/>
          </p:cNvSpPr>
          <p:nvPr/>
        </p:nvSpPr>
        <p:spPr>
          <a:xfrm xmlns:a="http://schemas.openxmlformats.org/drawingml/2006/main">
            <a:off x="857250" y="5981700"/>
            <a:ext cx="876300" cy="3810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0D5AB311-FCAA-4808-97D6-48F94C5176AE}"/>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9CCB1F9-79AE-4340-BF63-C3CE757CC856}"/>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18" name="">
            <a:extLst xmlns:a="http://schemas.openxmlformats.org/drawingml/2006/main">
              <a:ext uri="{FF2B5EF4-FFF2-40B4-BE49-F238E27FC236}">
                <a16:creationId xmlns:a16="http://schemas.microsoft.com/office/drawing/2014/main" id="{6A3463C1-D94E-4FE7-A17A-0D2AF5EEFE18}"/>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10602374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A1A1E0-C50C-4D32-BF0E-C34BFFB4BC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6CBF581-8571-4353-8727-1777977A87B9}"/>
              </a:ext>
            </a:extLst>
          </p:cNvPr>
          <p:cNvSpPr>
            <a:spLocks xmlns:a="http://schemas.openxmlformats.org/drawingml/2006/main" noGrp="1"/>
          </p:cNvSpPr>
          <p:nvPr/>
        </p:nvSpPr>
        <p:spPr>
          <a:xfrm xmlns:a="http://schemas.openxmlformats.org/drawingml/2006/main">
            <a:off x="609600" y="495300"/>
            <a:ext cx="1285875"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684F57AF-22F1-422A-826A-B7522FFFBAC1}"/>
              </a:ext>
            </a:extLst>
          </p:cNvPr>
          <p:cNvSpPr>
            <a:spLocks xmlns:a="http://schemas.openxmlformats.org/drawingml/2006/main" noGrp="1"/>
          </p:cNvSpPr>
          <p:nvPr/>
        </p:nvSpPr>
        <p:spPr>
          <a:xfrm xmlns:a="http://schemas.openxmlformats.org/drawingml/2006/main">
            <a:off x="781050" y="571500"/>
            <a:ext cx="98107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THE REFRAME</a:t>
            </a:r>
          </a:p>
        </p:txBody>
      </p:sp>
      <p:sp>
        <p:nvSpPr>
          <p:cNvPr id="4" name="">
            <a:extLst xmlns:a="http://schemas.openxmlformats.org/drawingml/2006/main">
              <a:ext uri="{FF2B5EF4-FFF2-40B4-BE49-F238E27FC236}">
                <a16:creationId xmlns:a16="http://schemas.microsoft.com/office/drawing/2014/main" id="{EAEBFCE2-0845-475A-8233-D976EB669C7D}"/>
              </a:ext>
            </a:extLst>
          </p:cNvPr>
          <p:cNvSpPr>
            <a:spLocks xmlns:a="http://schemas.openxmlformats.org/drawingml/2006/main" noGrp="1"/>
          </p:cNvSpPr>
          <p:nvPr/>
        </p:nvSpPr>
        <p:spPr>
          <a:xfrm xmlns:a="http://schemas.openxmlformats.org/drawingml/2006/main">
            <a:off x="609600" y="1104900"/>
            <a:ext cx="7810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800" b="1">
                <a:solidFill>
                  <a:srgbClr val="EEE9DD"/>
                </a:solidFill>
                <a:latin typeface="Aptos Display"/>
                <a:ea typeface="Aptos Display"/>
                <a:cs typeface="Aptos Display"/>
              </a:defRPr>
            </a:pPr>
            <a:r>
              <a:rPr sz="4800" b="1">
                <a:solidFill>
                  <a:srgbClr val="EEE9DD"/>
                </a:solidFill>
                <a:latin typeface="Aptos Display"/>
                <a:ea typeface="Aptos Display"/>
                <a:cs typeface="Aptos Display"/>
              </a:rPr>
              <a:t>The AI is not the system.</a:t>
            </a:r>
          </a:p>
        </p:txBody>
      </p:sp>
      <p:sp>
        <p:nvSpPr>
          <p:cNvPr id="5" name="">
            <a:extLst xmlns:a="http://schemas.openxmlformats.org/drawingml/2006/main">
              <a:ext uri="{FF2B5EF4-FFF2-40B4-BE49-F238E27FC236}">
                <a16:creationId xmlns:a16="http://schemas.microsoft.com/office/drawing/2014/main" id="{24E32F60-7D55-4A38-82C4-4129B606F276}"/>
              </a:ext>
            </a:extLst>
          </p:cNvPr>
          <p:cNvSpPr>
            <a:spLocks xmlns:a="http://schemas.openxmlformats.org/drawingml/2006/main" noGrp="1"/>
          </p:cNvSpPr>
          <p:nvPr/>
        </p:nvSpPr>
        <p:spPr>
          <a:xfrm xmlns:a="http://schemas.openxmlformats.org/drawingml/2006/main">
            <a:off x="647700" y="1962150"/>
            <a:ext cx="49530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800" b="1">
                <a:solidFill>
                  <a:srgbClr val="E26F2A"/>
                </a:solidFill>
                <a:latin typeface="Aptos Display"/>
                <a:ea typeface="Aptos Display"/>
                <a:cs typeface="Aptos Display"/>
              </a:defRPr>
            </a:pPr>
            <a:r>
              <a:rPr sz="4800" b="1">
                <a:solidFill>
                  <a:srgbClr val="E26F2A"/>
                </a:solidFill>
                <a:latin typeface="Aptos Display"/>
                <a:ea typeface="Aptos Display"/>
                <a:cs typeface="Aptos Display"/>
              </a:rPr>
              <a:t>The context is.</a:t>
            </a:r>
          </a:p>
        </p:txBody>
      </p:sp>
      <p:sp>
        <p:nvSpPr>
          <p:cNvPr id="6" name="">
            <a:extLst xmlns:a="http://schemas.openxmlformats.org/drawingml/2006/main">
              <a:ext uri="{FF2B5EF4-FFF2-40B4-BE49-F238E27FC236}">
                <a16:creationId xmlns:a16="http://schemas.microsoft.com/office/drawing/2014/main" id="{9D403963-5A64-4143-B430-BB339432CADD}"/>
              </a:ext>
            </a:extLst>
          </p:cNvPr>
          <p:cNvSpPr>
            <a:spLocks xmlns:a="http://schemas.openxmlformats.org/drawingml/2006/main" noGrp="1"/>
          </p:cNvSpPr>
          <p:nvPr/>
        </p:nvSpPr>
        <p:spPr>
          <a:xfrm xmlns:a="http://schemas.openxmlformats.org/drawingml/2006/main">
            <a:off x="647700" y="2952750"/>
            <a:ext cx="79057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C2BFB5"/>
                </a:solidFill>
                <a:latin typeface="Aptos"/>
                <a:ea typeface="Aptos"/>
                <a:cs typeface="Aptos"/>
              </a:defRPr>
            </a:pPr>
            <a:r>
              <a:rPr sz="1725" b="0">
                <a:solidFill>
                  <a:srgbClr val="C2BFB5"/>
                </a:solidFill>
                <a:latin typeface="Aptos"/>
                <a:ea typeface="Aptos"/>
                <a:cs typeface="Aptos"/>
              </a:rPr>
              <a:t>Good AI output usually comes from giving the model the right instructions, examples, source material, and checks.</a:t>
            </a:r>
          </a:p>
        </p:txBody>
      </p:sp>
      <p:sp>
        <p:nvSpPr>
          <p:cNvPr id="7" name="">
            <a:extLst xmlns:a="http://schemas.openxmlformats.org/drawingml/2006/main">
              <a:ext uri="{FF2B5EF4-FFF2-40B4-BE49-F238E27FC236}">
                <a16:creationId xmlns:a16="http://schemas.microsoft.com/office/drawing/2014/main" id="{330C77A2-4317-404C-8BBB-D47A905B3ECE}"/>
              </a:ext>
            </a:extLst>
          </p:cNvPr>
          <p:cNvSpPr>
            <a:spLocks xmlns:a="http://schemas.openxmlformats.org/drawingml/2006/main" noGrp="1"/>
          </p:cNvSpPr>
          <p:nvPr/>
        </p:nvSpPr>
        <p:spPr>
          <a:xfrm xmlns:a="http://schemas.openxmlformats.org/drawingml/2006/main">
            <a:off x="857250" y="4095750"/>
            <a:ext cx="3143250" cy="12001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8" name="">
            <a:extLst xmlns:a="http://schemas.openxmlformats.org/drawingml/2006/main">
              <a:ext uri="{FF2B5EF4-FFF2-40B4-BE49-F238E27FC236}">
                <a16:creationId xmlns:a16="http://schemas.microsoft.com/office/drawing/2014/main" id="{3CAB59D5-5754-4991-B69E-358993EA475F}"/>
              </a:ext>
            </a:extLst>
          </p:cNvPr>
          <p:cNvSpPr>
            <a:spLocks xmlns:a="http://schemas.openxmlformats.org/drawingml/2006/main" noGrp="1"/>
          </p:cNvSpPr>
          <p:nvPr/>
        </p:nvSpPr>
        <p:spPr>
          <a:xfrm xmlns:a="http://schemas.openxmlformats.org/drawingml/2006/main">
            <a:off x="1047750" y="4267200"/>
            <a:ext cx="457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01</a:t>
            </a:r>
          </a:p>
        </p:txBody>
      </p:sp>
      <p:sp>
        <p:nvSpPr>
          <p:cNvPr id="9" name="">
            <a:extLst xmlns:a="http://schemas.openxmlformats.org/drawingml/2006/main">
              <a:ext uri="{FF2B5EF4-FFF2-40B4-BE49-F238E27FC236}">
                <a16:creationId xmlns:a16="http://schemas.microsoft.com/office/drawing/2014/main" id="{B2449036-EF68-4A29-8C72-E2B09234E068}"/>
              </a:ext>
            </a:extLst>
          </p:cNvPr>
          <p:cNvSpPr>
            <a:spLocks xmlns:a="http://schemas.openxmlformats.org/drawingml/2006/main" noGrp="1"/>
          </p:cNvSpPr>
          <p:nvPr/>
        </p:nvSpPr>
        <p:spPr>
          <a:xfrm xmlns:a="http://schemas.openxmlformats.org/drawingml/2006/main">
            <a:off x="1543050" y="4257675"/>
            <a:ext cx="2228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EEE9DD"/>
                </a:solidFill>
                <a:latin typeface="Aptos Display"/>
                <a:ea typeface="Aptos Display"/>
                <a:cs typeface="Aptos Display"/>
              </a:defRPr>
            </a:pPr>
            <a:r>
              <a:rPr sz="1650" b="1">
                <a:solidFill>
                  <a:srgbClr val="EEE9DD"/>
                </a:solidFill>
                <a:latin typeface="Aptos Display"/>
                <a:ea typeface="Aptos Display"/>
                <a:cs typeface="Aptos Display"/>
              </a:rPr>
              <a:t>Context</a:t>
            </a:r>
          </a:p>
        </p:txBody>
      </p:sp>
      <p:sp>
        <p:nvSpPr>
          <p:cNvPr id="10" name="">
            <a:extLst xmlns:a="http://schemas.openxmlformats.org/drawingml/2006/main">
              <a:ext uri="{FF2B5EF4-FFF2-40B4-BE49-F238E27FC236}">
                <a16:creationId xmlns:a16="http://schemas.microsoft.com/office/drawing/2014/main" id="{CE256598-DD27-490C-B002-DD8A426878E2}"/>
              </a:ext>
            </a:extLst>
          </p:cNvPr>
          <p:cNvSpPr>
            <a:spLocks xmlns:a="http://schemas.openxmlformats.org/drawingml/2006/main" noGrp="1"/>
          </p:cNvSpPr>
          <p:nvPr/>
        </p:nvSpPr>
        <p:spPr>
          <a:xfrm xmlns:a="http://schemas.openxmlformats.org/drawingml/2006/main">
            <a:off x="1543050" y="4610100"/>
            <a:ext cx="22288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2BFB5"/>
                </a:solidFill>
                <a:latin typeface="Aptos"/>
                <a:ea typeface="Aptos"/>
                <a:cs typeface="Aptos"/>
              </a:defRPr>
            </a:pPr>
            <a:r>
              <a:rPr sz="1125" b="0">
                <a:solidFill>
                  <a:srgbClr val="C2BFB5"/>
                </a:solidFill>
                <a:latin typeface="Aptos"/>
                <a:ea typeface="Aptos"/>
                <a:cs typeface="Aptos"/>
              </a:rPr>
              <a:t>What the business believes, sells, avoids, and sounds like.</a:t>
            </a:r>
          </a:p>
        </p:txBody>
      </p:sp>
      <p:sp>
        <p:nvSpPr>
          <p:cNvPr id="11" name="">
            <a:extLst xmlns:a="http://schemas.openxmlformats.org/drawingml/2006/main">
              <a:ext uri="{FF2B5EF4-FFF2-40B4-BE49-F238E27FC236}">
                <a16:creationId xmlns:a16="http://schemas.microsoft.com/office/drawing/2014/main" id="{345D847C-5774-4D37-A125-7C5EC3D0D35B}"/>
              </a:ext>
            </a:extLst>
          </p:cNvPr>
          <p:cNvSpPr>
            <a:spLocks xmlns:a="http://schemas.openxmlformats.org/drawingml/2006/main" noGrp="1"/>
          </p:cNvSpPr>
          <p:nvPr/>
        </p:nvSpPr>
        <p:spPr>
          <a:xfrm xmlns:a="http://schemas.openxmlformats.org/drawingml/2006/main">
            <a:off x="4495800" y="4095750"/>
            <a:ext cx="3143250" cy="12001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2" name="">
            <a:extLst xmlns:a="http://schemas.openxmlformats.org/drawingml/2006/main">
              <a:ext uri="{FF2B5EF4-FFF2-40B4-BE49-F238E27FC236}">
                <a16:creationId xmlns:a16="http://schemas.microsoft.com/office/drawing/2014/main" id="{2AED35DC-CFC4-4F34-AA3C-932E7304BCFE}"/>
              </a:ext>
            </a:extLst>
          </p:cNvPr>
          <p:cNvSpPr>
            <a:spLocks xmlns:a="http://schemas.openxmlformats.org/drawingml/2006/main" noGrp="1"/>
          </p:cNvSpPr>
          <p:nvPr/>
        </p:nvSpPr>
        <p:spPr>
          <a:xfrm xmlns:a="http://schemas.openxmlformats.org/drawingml/2006/main">
            <a:off x="4686300" y="4267200"/>
            <a:ext cx="457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02</a:t>
            </a:r>
          </a:p>
        </p:txBody>
      </p:sp>
      <p:sp>
        <p:nvSpPr>
          <p:cNvPr id="13" name="">
            <a:extLst xmlns:a="http://schemas.openxmlformats.org/drawingml/2006/main">
              <a:ext uri="{FF2B5EF4-FFF2-40B4-BE49-F238E27FC236}">
                <a16:creationId xmlns:a16="http://schemas.microsoft.com/office/drawing/2014/main" id="{099AE8A5-8E0D-4E9E-9AC2-9A4F1AB19640}"/>
              </a:ext>
            </a:extLst>
          </p:cNvPr>
          <p:cNvSpPr>
            <a:spLocks xmlns:a="http://schemas.openxmlformats.org/drawingml/2006/main" noGrp="1"/>
          </p:cNvSpPr>
          <p:nvPr/>
        </p:nvSpPr>
        <p:spPr>
          <a:xfrm xmlns:a="http://schemas.openxmlformats.org/drawingml/2006/main">
            <a:off x="5181600" y="4257675"/>
            <a:ext cx="2228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EEE9DD"/>
                </a:solidFill>
                <a:latin typeface="Aptos Display"/>
                <a:ea typeface="Aptos Display"/>
                <a:cs typeface="Aptos Display"/>
              </a:defRPr>
            </a:pPr>
            <a:r>
              <a:rPr sz="1650" b="1">
                <a:solidFill>
                  <a:srgbClr val="EEE9DD"/>
                </a:solidFill>
                <a:latin typeface="Aptos Display"/>
                <a:ea typeface="Aptos Display"/>
                <a:cs typeface="Aptos Display"/>
              </a:rPr>
              <a:t>Constraints</a:t>
            </a:r>
          </a:p>
        </p:txBody>
      </p:sp>
      <p:sp>
        <p:nvSpPr>
          <p:cNvPr id="14" name="">
            <a:extLst xmlns:a="http://schemas.openxmlformats.org/drawingml/2006/main">
              <a:ext uri="{FF2B5EF4-FFF2-40B4-BE49-F238E27FC236}">
                <a16:creationId xmlns:a16="http://schemas.microsoft.com/office/drawing/2014/main" id="{A5A3F999-D7EA-4303-B937-00EC78BE0066}"/>
              </a:ext>
            </a:extLst>
          </p:cNvPr>
          <p:cNvSpPr>
            <a:spLocks xmlns:a="http://schemas.openxmlformats.org/drawingml/2006/main" noGrp="1"/>
          </p:cNvSpPr>
          <p:nvPr/>
        </p:nvSpPr>
        <p:spPr>
          <a:xfrm xmlns:a="http://schemas.openxmlformats.org/drawingml/2006/main">
            <a:off x="5181600" y="4610100"/>
            <a:ext cx="22288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2BFB5"/>
                </a:solidFill>
                <a:latin typeface="Aptos"/>
                <a:ea typeface="Aptos"/>
                <a:cs typeface="Aptos"/>
              </a:defRPr>
            </a:pPr>
            <a:r>
              <a:rPr sz="1125" b="0">
                <a:solidFill>
                  <a:srgbClr val="C2BFB5"/>
                </a:solidFill>
                <a:latin typeface="Aptos"/>
                <a:ea typeface="Aptos"/>
                <a:cs typeface="Aptos"/>
              </a:rPr>
              <a:t>Rules that stop generic, risky, or off-brand output.</a:t>
            </a:r>
          </a:p>
        </p:txBody>
      </p:sp>
      <p:sp>
        <p:nvSpPr>
          <p:cNvPr id="15" name="">
            <a:extLst xmlns:a="http://schemas.openxmlformats.org/drawingml/2006/main">
              <a:ext uri="{FF2B5EF4-FFF2-40B4-BE49-F238E27FC236}">
                <a16:creationId xmlns:a16="http://schemas.microsoft.com/office/drawing/2014/main" id="{EBD4D9D3-DA2E-4DB8-95D5-475DF8D52FF0}"/>
              </a:ext>
            </a:extLst>
          </p:cNvPr>
          <p:cNvSpPr>
            <a:spLocks xmlns:a="http://schemas.openxmlformats.org/drawingml/2006/main" noGrp="1"/>
          </p:cNvSpPr>
          <p:nvPr/>
        </p:nvSpPr>
        <p:spPr>
          <a:xfrm xmlns:a="http://schemas.openxmlformats.org/drawingml/2006/main">
            <a:off x="8134350" y="4095750"/>
            <a:ext cx="3143250" cy="12001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6" name="">
            <a:extLst xmlns:a="http://schemas.openxmlformats.org/drawingml/2006/main">
              <a:ext uri="{FF2B5EF4-FFF2-40B4-BE49-F238E27FC236}">
                <a16:creationId xmlns:a16="http://schemas.microsoft.com/office/drawing/2014/main" id="{4724569B-51BD-4B3F-BC83-73FC5E9FF503}"/>
              </a:ext>
            </a:extLst>
          </p:cNvPr>
          <p:cNvSpPr>
            <a:spLocks xmlns:a="http://schemas.openxmlformats.org/drawingml/2006/main" noGrp="1"/>
          </p:cNvSpPr>
          <p:nvPr/>
        </p:nvSpPr>
        <p:spPr>
          <a:xfrm xmlns:a="http://schemas.openxmlformats.org/drawingml/2006/main">
            <a:off x="8324850" y="4267200"/>
            <a:ext cx="457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03</a:t>
            </a:r>
          </a:p>
        </p:txBody>
      </p:sp>
      <p:sp>
        <p:nvSpPr>
          <p:cNvPr id="17" name="">
            <a:extLst xmlns:a="http://schemas.openxmlformats.org/drawingml/2006/main">
              <a:ext uri="{FF2B5EF4-FFF2-40B4-BE49-F238E27FC236}">
                <a16:creationId xmlns:a16="http://schemas.microsoft.com/office/drawing/2014/main" id="{B0D8CCB8-8AF2-4553-B3E8-12273C439292}"/>
              </a:ext>
            </a:extLst>
          </p:cNvPr>
          <p:cNvSpPr>
            <a:spLocks xmlns:a="http://schemas.openxmlformats.org/drawingml/2006/main" noGrp="1"/>
          </p:cNvSpPr>
          <p:nvPr/>
        </p:nvSpPr>
        <p:spPr>
          <a:xfrm xmlns:a="http://schemas.openxmlformats.org/drawingml/2006/main">
            <a:off x="8820150" y="4257675"/>
            <a:ext cx="2228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EEE9DD"/>
                </a:solidFill>
                <a:latin typeface="Aptos Display"/>
                <a:ea typeface="Aptos Display"/>
                <a:cs typeface="Aptos Display"/>
              </a:defRPr>
            </a:pPr>
            <a:r>
              <a:rPr sz="1650" b="1">
                <a:solidFill>
                  <a:srgbClr val="EEE9DD"/>
                </a:solidFill>
                <a:latin typeface="Aptos Display"/>
                <a:ea typeface="Aptos Display"/>
                <a:cs typeface="Aptos Display"/>
              </a:rPr>
              <a:t>Verification</a:t>
            </a:r>
          </a:p>
        </p:txBody>
      </p:sp>
      <p:sp>
        <p:nvSpPr>
          <p:cNvPr id="18" name="">
            <a:extLst xmlns:a="http://schemas.openxmlformats.org/drawingml/2006/main">
              <a:ext uri="{FF2B5EF4-FFF2-40B4-BE49-F238E27FC236}">
                <a16:creationId xmlns:a16="http://schemas.microsoft.com/office/drawing/2014/main" id="{B7092A26-C443-4C9A-9202-9C61CC6674D0}"/>
              </a:ext>
            </a:extLst>
          </p:cNvPr>
          <p:cNvSpPr>
            <a:spLocks xmlns:a="http://schemas.openxmlformats.org/drawingml/2006/main" noGrp="1"/>
          </p:cNvSpPr>
          <p:nvPr/>
        </p:nvSpPr>
        <p:spPr>
          <a:xfrm xmlns:a="http://schemas.openxmlformats.org/drawingml/2006/main">
            <a:off x="8820150" y="4610100"/>
            <a:ext cx="22288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2BFB5"/>
                </a:solidFill>
                <a:latin typeface="Aptos"/>
                <a:ea typeface="Aptos"/>
                <a:cs typeface="Aptos"/>
              </a:defRPr>
            </a:pPr>
            <a:r>
              <a:rPr sz="1125" b="0">
                <a:solidFill>
                  <a:srgbClr val="C2BFB5"/>
                </a:solidFill>
                <a:latin typeface="Aptos"/>
                <a:ea typeface="Aptos"/>
                <a:cs typeface="Aptos"/>
              </a:rPr>
              <a:t>A way to judge if the draft is useful before it ships.</a:t>
            </a:r>
          </a:p>
        </p:txBody>
      </p:sp>
      <p:sp>
        <p:nvSpPr>
          <p:cNvPr id="19" name="">
            <a:extLst xmlns:a="http://schemas.openxmlformats.org/drawingml/2006/main">
              <a:ext uri="{FF2B5EF4-FFF2-40B4-BE49-F238E27FC236}">
                <a16:creationId xmlns:a16="http://schemas.microsoft.com/office/drawing/2014/main" id="{102F08E8-2287-42D4-8E05-B63B7A845683}"/>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C79340F7-B248-4916-BAF9-695DB9FC3F75}"/>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1" name="">
            <a:extLst xmlns:a="http://schemas.openxmlformats.org/drawingml/2006/main">
              <a:ext uri="{FF2B5EF4-FFF2-40B4-BE49-F238E27FC236}">
                <a16:creationId xmlns:a16="http://schemas.microsoft.com/office/drawing/2014/main" id="{0C8AE4D1-9EAC-4124-A8A5-F70E60C1C925}"/>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187640669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13CF35-E1F5-431E-A1F7-223AF7905A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60F36D3-3DB4-44D5-96A9-83382A6EEFEA}"/>
              </a:ext>
            </a:extLst>
          </p:cNvPr>
          <p:cNvSpPr>
            <a:spLocks xmlns:a="http://schemas.openxmlformats.org/drawingml/2006/main" noGrp="1"/>
          </p:cNvSpPr>
          <p:nvPr/>
        </p:nvSpPr>
        <p:spPr>
          <a:xfrm xmlns:a="http://schemas.openxmlformats.org/drawingml/2006/main">
            <a:off x="609600" y="495300"/>
            <a:ext cx="1200150"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3510C3DE-E460-4A04-834A-2D9C6A133201}"/>
              </a:ext>
            </a:extLst>
          </p:cNvPr>
          <p:cNvSpPr>
            <a:spLocks xmlns:a="http://schemas.openxmlformats.org/drawingml/2006/main" noGrp="1"/>
          </p:cNvSpPr>
          <p:nvPr/>
        </p:nvSpPr>
        <p:spPr>
          <a:xfrm xmlns:a="http://schemas.openxmlformats.org/drawingml/2006/main">
            <a:off x="781050" y="5715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THE ENGINE</a:t>
            </a:r>
          </a:p>
        </p:txBody>
      </p:sp>
      <p:sp>
        <p:nvSpPr>
          <p:cNvPr id="4" name="">
            <a:extLst xmlns:a="http://schemas.openxmlformats.org/drawingml/2006/main">
              <a:ext uri="{FF2B5EF4-FFF2-40B4-BE49-F238E27FC236}">
                <a16:creationId xmlns:a16="http://schemas.microsoft.com/office/drawing/2014/main" id="{1DFD2329-505F-4F84-870F-69F475A33BD2}"/>
              </a:ext>
            </a:extLst>
          </p:cNvPr>
          <p:cNvSpPr>
            <a:spLocks xmlns:a="http://schemas.openxmlformats.org/drawingml/2006/main" noGrp="1"/>
          </p:cNvSpPr>
          <p:nvPr/>
        </p:nvSpPr>
        <p:spPr>
          <a:xfrm xmlns:a="http://schemas.openxmlformats.org/drawingml/2006/main">
            <a:off x="609600" y="1028700"/>
            <a:ext cx="78105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350" b="1">
                <a:solidFill>
                  <a:srgbClr val="EEE9DD"/>
                </a:solidFill>
                <a:latin typeface="Aptos Display"/>
                <a:ea typeface="Aptos Display"/>
                <a:cs typeface="Aptos Display"/>
              </a:defRPr>
            </a:pPr>
            <a:r>
              <a:rPr sz="4350" b="1">
                <a:solidFill>
                  <a:srgbClr val="EEE9DD"/>
                </a:solidFill>
                <a:latin typeface="Aptos Display"/>
                <a:ea typeface="Aptos Display"/>
                <a:cs typeface="Aptos Display"/>
              </a:rPr>
              <a:t>Four parts make content feel automatic.</a:t>
            </a:r>
          </a:p>
        </p:txBody>
      </p:sp>
      <p:sp>
        <p:nvSpPr>
          <p:cNvPr id="5" name="">
            <a:extLst xmlns:a="http://schemas.openxmlformats.org/drawingml/2006/main">
              <a:ext uri="{FF2B5EF4-FFF2-40B4-BE49-F238E27FC236}">
                <a16:creationId xmlns:a16="http://schemas.microsoft.com/office/drawing/2014/main" id="{1A9BBD29-3793-4ED1-AE08-6037EFF10930}"/>
              </a:ext>
            </a:extLst>
          </p:cNvPr>
          <p:cNvSpPr>
            <a:spLocks xmlns:a="http://schemas.openxmlformats.org/drawingml/2006/main" noGrp="1"/>
          </p:cNvSpPr>
          <p:nvPr/>
        </p:nvSpPr>
        <p:spPr>
          <a:xfrm xmlns:a="http://schemas.openxmlformats.org/drawingml/2006/main">
            <a:off x="647700" y="2324100"/>
            <a:ext cx="7239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C2BFB5"/>
                </a:solidFill>
                <a:latin typeface="Aptos"/>
                <a:ea typeface="Aptos"/>
                <a:cs typeface="Aptos"/>
              </a:defRPr>
            </a:pPr>
            <a:r>
              <a:rPr sz="1725" b="0">
                <a:solidFill>
                  <a:srgbClr val="C2BFB5"/>
                </a:solidFill>
                <a:latin typeface="Aptos"/>
                <a:ea typeface="Aptos"/>
                <a:cs typeface="Aptos"/>
              </a:rPr>
              <a:t>Not fully automated. Automatic enough that the blank page stops owning your week.</a:t>
            </a:r>
          </a:p>
        </p:txBody>
      </p:sp>
      <p:sp>
        <p:nvSpPr>
          <p:cNvPr id="6" name="">
            <a:extLst xmlns:a="http://schemas.openxmlformats.org/drawingml/2006/main">
              <a:ext uri="{FF2B5EF4-FFF2-40B4-BE49-F238E27FC236}">
                <a16:creationId xmlns:a16="http://schemas.microsoft.com/office/drawing/2014/main" id="{0542698D-394A-4319-BB62-FAB2259B6C1D}"/>
              </a:ext>
            </a:extLst>
          </p:cNvPr>
          <p:cNvSpPr>
            <a:spLocks xmlns:a="http://schemas.openxmlformats.org/drawingml/2006/main" noGrp="1"/>
          </p:cNvSpPr>
          <p:nvPr/>
        </p:nvSpPr>
        <p:spPr>
          <a:xfrm xmlns:a="http://schemas.openxmlformats.org/drawingml/2006/main">
            <a:off x="1009650" y="3581400"/>
            <a:ext cx="2000250" cy="400050"/>
          </a:xfrm>
          <a:prstGeom xmlns:a="http://schemas.openxmlformats.org/drawingml/2006/main" prst="rect">
            <a:avLst/>
          </a:prstGeom>
          <a:solidFill xmlns:a="http://schemas.openxmlformats.org/drawingml/2006/main">
            <a:srgbClr val="252B21"/>
          </a:solidFill>
          <a:ln xmlns:a="http://schemas.openxmlformats.org/drawingml/2006/main" w="9525">
            <a:solidFill>
              <a:srgbClr val="E26F2A"/>
            </a:solidFill>
            <a:prstDash val="solid"/>
          </a:ln>
        </p:spPr>
      </p:sp>
      <p:sp>
        <p:nvSpPr>
          <p:cNvPr id="7" name="">
            <a:extLst xmlns:a="http://schemas.openxmlformats.org/drawingml/2006/main">
              <a:ext uri="{FF2B5EF4-FFF2-40B4-BE49-F238E27FC236}">
                <a16:creationId xmlns:a16="http://schemas.microsoft.com/office/drawing/2014/main" id="{D6CEACA4-E17D-4CCC-A633-ABBBF55CF8D1}"/>
              </a:ext>
            </a:extLst>
          </p:cNvPr>
          <p:cNvSpPr>
            <a:spLocks xmlns:a="http://schemas.openxmlformats.org/drawingml/2006/main" noGrp="1"/>
          </p:cNvSpPr>
          <p:nvPr/>
        </p:nvSpPr>
        <p:spPr>
          <a:xfrm xmlns:a="http://schemas.openxmlformats.org/drawingml/2006/main">
            <a:off x="1181100" y="3676650"/>
            <a:ext cx="165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EEE9DD"/>
                </a:solidFill>
                <a:latin typeface="Aptos"/>
                <a:ea typeface="Aptos"/>
                <a:cs typeface="Aptos"/>
              </a:defRPr>
            </a:pPr>
            <a:r>
              <a:rPr sz="1275" b="1">
                <a:solidFill>
                  <a:srgbClr val="EEE9DD"/>
                </a:solidFill>
                <a:latin typeface="Aptos"/>
                <a:ea typeface="Aptos"/>
                <a:cs typeface="Aptos"/>
              </a:rPr>
              <a:t>01 Context</a:t>
            </a:r>
          </a:p>
        </p:txBody>
      </p:sp>
      <p:sp>
        <p:nvSpPr>
          <p:cNvPr id="8" name="">
            <a:extLst xmlns:a="http://schemas.openxmlformats.org/drawingml/2006/main">
              <a:ext uri="{FF2B5EF4-FFF2-40B4-BE49-F238E27FC236}">
                <a16:creationId xmlns:a16="http://schemas.microsoft.com/office/drawing/2014/main" id="{5756C4AA-F05E-4DC2-B468-C4DFC0C4480B}"/>
              </a:ext>
            </a:extLst>
          </p:cNvPr>
          <p:cNvSpPr>
            <a:spLocks xmlns:a="http://schemas.openxmlformats.org/drawingml/2006/main" noGrp="1"/>
          </p:cNvSpPr>
          <p:nvPr/>
        </p:nvSpPr>
        <p:spPr>
          <a:xfrm xmlns:a="http://schemas.openxmlformats.org/drawingml/2006/main">
            <a:off x="3752850" y="3581400"/>
            <a:ext cx="2000250" cy="400050"/>
          </a:xfrm>
          <a:prstGeom xmlns:a="http://schemas.openxmlformats.org/drawingml/2006/main" prst="rect">
            <a:avLst/>
          </a:prstGeom>
          <a:solidFill xmlns:a="http://schemas.openxmlformats.org/drawingml/2006/main">
            <a:srgbClr val="252B21"/>
          </a:solidFill>
          <a:ln xmlns:a="http://schemas.openxmlformats.org/drawingml/2006/main" w="9525">
            <a:solidFill>
              <a:srgbClr val="6B7053"/>
            </a:solidFill>
            <a:prstDash val="solid"/>
          </a:ln>
        </p:spPr>
      </p:sp>
      <p:sp>
        <p:nvSpPr>
          <p:cNvPr id="9" name="">
            <a:extLst xmlns:a="http://schemas.openxmlformats.org/drawingml/2006/main">
              <a:ext uri="{FF2B5EF4-FFF2-40B4-BE49-F238E27FC236}">
                <a16:creationId xmlns:a16="http://schemas.microsoft.com/office/drawing/2014/main" id="{53259126-7E6F-4ED2-9427-BA0A0EF82805}"/>
              </a:ext>
            </a:extLst>
          </p:cNvPr>
          <p:cNvSpPr>
            <a:spLocks xmlns:a="http://schemas.openxmlformats.org/drawingml/2006/main" noGrp="1"/>
          </p:cNvSpPr>
          <p:nvPr/>
        </p:nvSpPr>
        <p:spPr>
          <a:xfrm xmlns:a="http://schemas.openxmlformats.org/drawingml/2006/main">
            <a:off x="3924300" y="3676650"/>
            <a:ext cx="165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EEE9DD"/>
                </a:solidFill>
                <a:latin typeface="Aptos"/>
                <a:ea typeface="Aptos"/>
                <a:cs typeface="Aptos"/>
              </a:defRPr>
            </a:pPr>
            <a:r>
              <a:rPr sz="1275" b="1">
                <a:solidFill>
                  <a:srgbClr val="EEE9DD"/>
                </a:solidFill>
                <a:latin typeface="Aptos"/>
                <a:ea typeface="Aptos"/>
                <a:cs typeface="Aptos"/>
              </a:rPr>
              <a:t>02 Cadence</a:t>
            </a:r>
          </a:p>
        </p:txBody>
      </p:sp>
      <p:sp>
        <p:nvSpPr>
          <p:cNvPr id="10" name="">
            <a:extLst xmlns:a="http://schemas.openxmlformats.org/drawingml/2006/main">
              <a:ext uri="{FF2B5EF4-FFF2-40B4-BE49-F238E27FC236}">
                <a16:creationId xmlns:a16="http://schemas.microsoft.com/office/drawing/2014/main" id="{51F1B98B-A11C-49A4-82D2-9DAD12217493}"/>
              </a:ext>
            </a:extLst>
          </p:cNvPr>
          <p:cNvSpPr>
            <a:spLocks xmlns:a="http://schemas.openxmlformats.org/drawingml/2006/main" noGrp="1"/>
          </p:cNvSpPr>
          <p:nvPr/>
        </p:nvSpPr>
        <p:spPr>
          <a:xfrm xmlns:a="http://schemas.openxmlformats.org/drawingml/2006/main">
            <a:off x="6496050" y="3581400"/>
            <a:ext cx="2000250" cy="400050"/>
          </a:xfrm>
          <a:prstGeom xmlns:a="http://schemas.openxmlformats.org/drawingml/2006/main" prst="rect">
            <a:avLst/>
          </a:prstGeom>
          <a:solidFill xmlns:a="http://schemas.openxmlformats.org/drawingml/2006/main">
            <a:srgbClr val="252B21"/>
          </a:solidFill>
          <a:ln xmlns:a="http://schemas.openxmlformats.org/drawingml/2006/main" w="9525">
            <a:solidFill>
              <a:srgbClr val="E26F2A"/>
            </a:solidFill>
            <a:prstDash val="solid"/>
          </a:ln>
        </p:spPr>
      </p:sp>
      <p:sp>
        <p:nvSpPr>
          <p:cNvPr id="11" name="">
            <a:extLst xmlns:a="http://schemas.openxmlformats.org/drawingml/2006/main">
              <a:ext uri="{FF2B5EF4-FFF2-40B4-BE49-F238E27FC236}">
                <a16:creationId xmlns:a16="http://schemas.microsoft.com/office/drawing/2014/main" id="{B4DEB7F5-3A5F-423D-9A57-02941135D460}"/>
              </a:ext>
            </a:extLst>
          </p:cNvPr>
          <p:cNvSpPr>
            <a:spLocks xmlns:a="http://schemas.openxmlformats.org/drawingml/2006/main" noGrp="1"/>
          </p:cNvSpPr>
          <p:nvPr/>
        </p:nvSpPr>
        <p:spPr>
          <a:xfrm xmlns:a="http://schemas.openxmlformats.org/drawingml/2006/main">
            <a:off x="6667500" y="3676650"/>
            <a:ext cx="165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EEE9DD"/>
                </a:solidFill>
                <a:latin typeface="Aptos"/>
                <a:ea typeface="Aptos"/>
                <a:cs typeface="Aptos"/>
              </a:defRPr>
            </a:pPr>
            <a:r>
              <a:rPr sz="1275" b="1">
                <a:solidFill>
                  <a:srgbClr val="EEE9DD"/>
                </a:solidFill>
                <a:latin typeface="Aptos"/>
                <a:ea typeface="Aptos"/>
                <a:cs typeface="Aptos"/>
              </a:rPr>
              <a:t>03 Cascade</a:t>
            </a:r>
          </a:p>
        </p:txBody>
      </p:sp>
      <p:sp>
        <p:nvSpPr>
          <p:cNvPr id="12" name="">
            <a:extLst xmlns:a="http://schemas.openxmlformats.org/drawingml/2006/main">
              <a:ext uri="{FF2B5EF4-FFF2-40B4-BE49-F238E27FC236}">
                <a16:creationId xmlns:a16="http://schemas.microsoft.com/office/drawing/2014/main" id="{B8855EB1-5D3A-4805-84D7-A6CB948D5EE4}"/>
              </a:ext>
            </a:extLst>
          </p:cNvPr>
          <p:cNvSpPr>
            <a:spLocks xmlns:a="http://schemas.openxmlformats.org/drawingml/2006/main" noGrp="1"/>
          </p:cNvSpPr>
          <p:nvPr/>
        </p:nvSpPr>
        <p:spPr>
          <a:xfrm xmlns:a="http://schemas.openxmlformats.org/drawingml/2006/main">
            <a:off x="9239250" y="3581400"/>
            <a:ext cx="2000250" cy="400050"/>
          </a:xfrm>
          <a:prstGeom xmlns:a="http://schemas.openxmlformats.org/drawingml/2006/main" prst="rect">
            <a:avLst/>
          </a:prstGeom>
          <a:solidFill xmlns:a="http://schemas.openxmlformats.org/drawingml/2006/main">
            <a:srgbClr val="252B21"/>
          </a:solidFill>
          <a:ln xmlns:a="http://schemas.openxmlformats.org/drawingml/2006/main" w="9525">
            <a:solidFill>
              <a:srgbClr val="6B7053"/>
            </a:solidFill>
            <a:prstDash val="solid"/>
          </a:ln>
        </p:spPr>
      </p:sp>
      <p:sp>
        <p:nvSpPr>
          <p:cNvPr id="13" name="">
            <a:extLst xmlns:a="http://schemas.openxmlformats.org/drawingml/2006/main">
              <a:ext uri="{FF2B5EF4-FFF2-40B4-BE49-F238E27FC236}">
                <a16:creationId xmlns:a16="http://schemas.microsoft.com/office/drawing/2014/main" id="{D0A7D075-167A-478F-9391-A4CE30B0C75B}"/>
              </a:ext>
            </a:extLst>
          </p:cNvPr>
          <p:cNvSpPr>
            <a:spLocks xmlns:a="http://schemas.openxmlformats.org/drawingml/2006/main" noGrp="1"/>
          </p:cNvSpPr>
          <p:nvPr/>
        </p:nvSpPr>
        <p:spPr>
          <a:xfrm xmlns:a="http://schemas.openxmlformats.org/drawingml/2006/main">
            <a:off x="9410700" y="3676650"/>
            <a:ext cx="1657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EEE9DD"/>
                </a:solidFill>
                <a:latin typeface="Aptos"/>
                <a:ea typeface="Aptos"/>
                <a:cs typeface="Aptos"/>
              </a:defRPr>
            </a:pPr>
            <a:r>
              <a:rPr sz="1275" b="1">
                <a:solidFill>
                  <a:srgbClr val="EEE9DD"/>
                </a:solidFill>
                <a:latin typeface="Aptos"/>
                <a:ea typeface="Aptos"/>
                <a:cs typeface="Aptos"/>
              </a:rPr>
              <a:t>04 Calendar</a:t>
            </a:r>
          </a:p>
        </p:txBody>
      </p:sp>
      <p:sp>
        <p:nvSpPr>
          <p:cNvPr id="14" name="">
            <a:extLst xmlns:a="http://schemas.openxmlformats.org/drawingml/2006/main">
              <a:ext uri="{FF2B5EF4-FFF2-40B4-BE49-F238E27FC236}">
                <a16:creationId xmlns:a16="http://schemas.microsoft.com/office/drawing/2014/main" id="{A0B636DE-DB36-40C1-A342-3E6529D93874}"/>
              </a:ext>
            </a:extLst>
          </p:cNvPr>
          <p:cNvSpPr>
            <a:spLocks xmlns:a="http://schemas.openxmlformats.org/drawingml/2006/main" noGrp="1"/>
          </p:cNvSpPr>
          <p:nvPr/>
        </p:nvSpPr>
        <p:spPr>
          <a:xfrm xmlns:a="http://schemas.openxmlformats.org/drawingml/2006/main">
            <a:off x="3009900" y="3771900"/>
            <a:ext cx="514350" cy="190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B3535C9-3214-4BED-BEA7-AC585EB15713}"/>
              </a:ext>
            </a:extLst>
          </p:cNvPr>
          <p:cNvSpPr>
            <a:spLocks xmlns:a="http://schemas.openxmlformats.org/drawingml/2006/main" noGrp="1"/>
          </p:cNvSpPr>
          <p:nvPr/>
        </p:nvSpPr>
        <p:spPr>
          <a:xfrm xmlns:a="http://schemas.openxmlformats.org/drawingml/2006/main">
            <a:off x="5753100" y="3771900"/>
            <a:ext cx="514350" cy="190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F95E749-9C9E-47BE-BCC6-F118718FDE76}"/>
              </a:ext>
            </a:extLst>
          </p:cNvPr>
          <p:cNvSpPr>
            <a:spLocks xmlns:a="http://schemas.openxmlformats.org/drawingml/2006/main" noGrp="1"/>
          </p:cNvSpPr>
          <p:nvPr/>
        </p:nvSpPr>
        <p:spPr>
          <a:xfrm xmlns:a="http://schemas.openxmlformats.org/drawingml/2006/main">
            <a:off x="8496300" y="3771900"/>
            <a:ext cx="514350" cy="190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41ECF95-8B17-456F-9676-B1571FC69AC3}"/>
              </a:ext>
            </a:extLst>
          </p:cNvPr>
          <p:cNvSpPr>
            <a:spLocks xmlns:a="http://schemas.openxmlformats.org/drawingml/2006/main" noGrp="1"/>
          </p:cNvSpPr>
          <p:nvPr/>
        </p:nvSpPr>
        <p:spPr>
          <a:xfrm xmlns:a="http://schemas.openxmlformats.org/drawingml/2006/main">
            <a:off x="1009650" y="4210050"/>
            <a:ext cx="200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C2BFB5"/>
                </a:solidFill>
                <a:latin typeface="Aptos"/>
                <a:ea typeface="Aptos"/>
                <a:cs typeface="Aptos"/>
              </a:defRPr>
            </a:pPr>
            <a:r>
              <a:rPr sz="1350" b="0">
                <a:solidFill>
                  <a:srgbClr val="C2BFB5"/>
                </a:solidFill>
                <a:latin typeface="Aptos"/>
                <a:ea typeface="Aptos"/>
                <a:cs typeface="Aptos"/>
              </a:rPr>
              <a:t>the folder</a:t>
            </a:r>
          </a:p>
        </p:txBody>
      </p:sp>
      <p:sp>
        <p:nvSpPr>
          <p:cNvPr id="18" name="">
            <a:extLst xmlns:a="http://schemas.openxmlformats.org/drawingml/2006/main">
              <a:ext uri="{FF2B5EF4-FFF2-40B4-BE49-F238E27FC236}">
                <a16:creationId xmlns:a16="http://schemas.microsoft.com/office/drawing/2014/main" id="{6842E44C-F675-493F-87A4-7F278504CD05}"/>
              </a:ext>
            </a:extLst>
          </p:cNvPr>
          <p:cNvSpPr>
            <a:spLocks xmlns:a="http://schemas.openxmlformats.org/drawingml/2006/main" noGrp="1"/>
          </p:cNvSpPr>
          <p:nvPr/>
        </p:nvSpPr>
        <p:spPr>
          <a:xfrm xmlns:a="http://schemas.openxmlformats.org/drawingml/2006/main">
            <a:off x="3752850" y="4210050"/>
            <a:ext cx="200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C2BFB5"/>
                </a:solidFill>
                <a:latin typeface="Aptos"/>
                <a:ea typeface="Aptos"/>
                <a:cs typeface="Aptos"/>
              </a:defRPr>
            </a:pPr>
            <a:r>
              <a:rPr sz="1350" b="0">
                <a:solidFill>
                  <a:srgbClr val="C2BFB5"/>
                </a:solidFill>
                <a:latin typeface="Aptos"/>
                <a:ea typeface="Aptos"/>
                <a:cs typeface="Aptos"/>
              </a:rPr>
              <a:t>the rhythm</a:t>
            </a:r>
          </a:p>
        </p:txBody>
      </p:sp>
      <p:sp>
        <p:nvSpPr>
          <p:cNvPr id="19" name="">
            <a:extLst xmlns:a="http://schemas.openxmlformats.org/drawingml/2006/main">
              <a:ext uri="{FF2B5EF4-FFF2-40B4-BE49-F238E27FC236}">
                <a16:creationId xmlns:a16="http://schemas.microsoft.com/office/drawing/2014/main" id="{7147D458-1230-4482-B273-D5ABD132F8FF}"/>
              </a:ext>
            </a:extLst>
          </p:cNvPr>
          <p:cNvSpPr>
            <a:spLocks xmlns:a="http://schemas.openxmlformats.org/drawingml/2006/main" noGrp="1"/>
          </p:cNvSpPr>
          <p:nvPr/>
        </p:nvSpPr>
        <p:spPr>
          <a:xfrm xmlns:a="http://schemas.openxmlformats.org/drawingml/2006/main">
            <a:off x="6496050" y="4210050"/>
            <a:ext cx="200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C2BFB5"/>
                </a:solidFill>
                <a:latin typeface="Aptos"/>
                <a:ea typeface="Aptos"/>
                <a:cs typeface="Aptos"/>
              </a:defRPr>
            </a:pPr>
            <a:r>
              <a:rPr sz="1350" b="0">
                <a:solidFill>
                  <a:srgbClr val="C2BFB5"/>
                </a:solidFill>
                <a:latin typeface="Aptos"/>
                <a:ea typeface="Aptos"/>
                <a:cs typeface="Aptos"/>
              </a:rPr>
              <a:t>the prompt</a:t>
            </a:r>
          </a:p>
        </p:txBody>
      </p:sp>
      <p:sp>
        <p:nvSpPr>
          <p:cNvPr id="20" name="">
            <a:extLst xmlns:a="http://schemas.openxmlformats.org/drawingml/2006/main">
              <a:ext uri="{FF2B5EF4-FFF2-40B4-BE49-F238E27FC236}">
                <a16:creationId xmlns:a16="http://schemas.microsoft.com/office/drawing/2014/main" id="{9783498F-56A0-487A-ACFF-ACF16DD7457A}"/>
              </a:ext>
            </a:extLst>
          </p:cNvPr>
          <p:cNvSpPr>
            <a:spLocks xmlns:a="http://schemas.openxmlformats.org/drawingml/2006/main" noGrp="1"/>
          </p:cNvSpPr>
          <p:nvPr/>
        </p:nvSpPr>
        <p:spPr>
          <a:xfrm xmlns:a="http://schemas.openxmlformats.org/drawingml/2006/main">
            <a:off x="9239250" y="4210050"/>
            <a:ext cx="2000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C2BFB5"/>
                </a:solidFill>
                <a:latin typeface="Aptos"/>
                <a:ea typeface="Aptos"/>
                <a:cs typeface="Aptos"/>
              </a:defRPr>
            </a:pPr>
            <a:r>
              <a:rPr sz="1350" b="0">
                <a:solidFill>
                  <a:srgbClr val="C2BFB5"/>
                </a:solidFill>
                <a:latin typeface="Aptos"/>
                <a:ea typeface="Aptos"/>
                <a:cs typeface="Aptos"/>
              </a:rPr>
              <a:t>the shipping plan</a:t>
            </a:r>
          </a:p>
        </p:txBody>
      </p:sp>
      <p:sp>
        <p:nvSpPr>
          <p:cNvPr id="21" name="">
            <a:extLst xmlns:a="http://schemas.openxmlformats.org/drawingml/2006/main">
              <a:ext uri="{FF2B5EF4-FFF2-40B4-BE49-F238E27FC236}">
                <a16:creationId xmlns:a16="http://schemas.microsoft.com/office/drawing/2014/main" id="{028CED18-0574-409F-A0DA-A661AC050763}"/>
              </a:ext>
            </a:extLst>
          </p:cNvPr>
          <p:cNvSpPr>
            <a:spLocks xmlns:a="http://schemas.openxmlformats.org/drawingml/2006/main" noGrp="1"/>
          </p:cNvSpPr>
          <p:nvPr/>
        </p:nvSpPr>
        <p:spPr>
          <a:xfrm xmlns:a="http://schemas.openxmlformats.org/drawingml/2006/main">
            <a:off x="2324100" y="5219700"/>
            <a:ext cx="7524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EEE9DD"/>
                </a:solidFill>
                <a:latin typeface="Aptos Display"/>
                <a:ea typeface="Aptos Display"/>
                <a:cs typeface="Aptos Display"/>
              </a:defRPr>
            </a:pPr>
            <a:r>
              <a:rPr sz="2400" b="1">
                <a:solidFill>
                  <a:srgbClr val="EEE9DD"/>
                </a:solidFill>
                <a:latin typeface="Aptos Display"/>
                <a:ea typeface="Aptos Display"/>
                <a:cs typeface="Aptos Display"/>
              </a:rPr>
              <a:t>Most people only buy tools. Operators build loops.</a:t>
            </a:r>
          </a:p>
        </p:txBody>
      </p:sp>
      <p:sp>
        <p:nvSpPr>
          <p:cNvPr id="22" name="">
            <a:extLst xmlns:a="http://schemas.openxmlformats.org/drawingml/2006/main">
              <a:ext uri="{FF2B5EF4-FFF2-40B4-BE49-F238E27FC236}">
                <a16:creationId xmlns:a16="http://schemas.microsoft.com/office/drawing/2014/main" id="{DE4A4488-37E0-4FA5-90E8-7EDD321781AF}"/>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2146236D-9478-458A-B7B2-13C500CD4484}"/>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4" name="">
            <a:extLst xmlns:a="http://schemas.openxmlformats.org/drawingml/2006/main">
              <a:ext uri="{FF2B5EF4-FFF2-40B4-BE49-F238E27FC236}">
                <a16:creationId xmlns:a16="http://schemas.microsoft.com/office/drawing/2014/main" id="{8FECC782-8A1D-419E-9028-3709A4E6438D}"/>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202512340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A66372-2C61-46AF-A85E-33F29D24B60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E2F6246-A80C-43E7-87A8-350A4DD46F15}"/>
              </a:ext>
            </a:extLst>
          </p:cNvPr>
          <p:cNvSpPr>
            <a:spLocks xmlns:a="http://schemas.openxmlformats.org/drawingml/2006/main" noGrp="1"/>
          </p:cNvSpPr>
          <p:nvPr/>
        </p:nvSpPr>
        <p:spPr>
          <a:xfrm xmlns:a="http://schemas.openxmlformats.org/drawingml/2006/main">
            <a:off x="609600" y="495300"/>
            <a:ext cx="2314575"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60616BD5-0ADF-4B53-9D2E-DB504A37CE58}"/>
              </a:ext>
            </a:extLst>
          </p:cNvPr>
          <p:cNvSpPr>
            <a:spLocks xmlns:a="http://schemas.openxmlformats.org/drawingml/2006/main" noGrp="1"/>
          </p:cNvSpPr>
          <p:nvPr/>
        </p:nvSpPr>
        <p:spPr>
          <a:xfrm xmlns:a="http://schemas.openxmlformats.org/drawingml/2006/main">
            <a:off x="781050" y="571500"/>
            <a:ext cx="200977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WHY CHATBOTS DISAPPOINT</a:t>
            </a:r>
          </a:p>
        </p:txBody>
      </p:sp>
      <p:sp>
        <p:nvSpPr>
          <p:cNvPr id="4" name="">
            <a:extLst xmlns:a="http://schemas.openxmlformats.org/drawingml/2006/main">
              <a:ext uri="{FF2B5EF4-FFF2-40B4-BE49-F238E27FC236}">
                <a16:creationId xmlns:a16="http://schemas.microsoft.com/office/drawing/2014/main" id="{D5D4CE89-4465-45E0-9291-7BD364885477}"/>
              </a:ext>
            </a:extLst>
          </p:cNvPr>
          <p:cNvSpPr>
            <a:spLocks xmlns:a="http://schemas.openxmlformats.org/drawingml/2006/main" noGrp="1"/>
          </p:cNvSpPr>
          <p:nvPr/>
        </p:nvSpPr>
        <p:spPr>
          <a:xfrm xmlns:a="http://schemas.openxmlformats.org/drawingml/2006/main">
            <a:off x="609600" y="1009650"/>
            <a:ext cx="8572500" cy="1200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200" b="1">
                <a:solidFill>
                  <a:srgbClr val="EEE9DD"/>
                </a:solidFill>
                <a:latin typeface="Aptos Display"/>
                <a:ea typeface="Aptos Display"/>
                <a:cs typeface="Aptos Display"/>
              </a:defRPr>
            </a:pPr>
            <a:r>
              <a:rPr sz="4200" b="1">
                <a:solidFill>
                  <a:srgbClr val="EEE9DD"/>
                </a:solidFill>
                <a:latin typeface="Aptos Display"/>
                <a:ea typeface="Aptos Display"/>
                <a:cs typeface="Aptos Display"/>
              </a:rPr>
              <a:t>A chat box gives you answers. A system gives you continuity.</a:t>
            </a:r>
          </a:p>
        </p:txBody>
      </p:sp>
      <p:sp>
        <p:nvSpPr>
          <p:cNvPr id="5" name="">
            <a:extLst xmlns:a="http://schemas.openxmlformats.org/drawingml/2006/main">
              <a:ext uri="{FF2B5EF4-FFF2-40B4-BE49-F238E27FC236}">
                <a16:creationId xmlns:a16="http://schemas.microsoft.com/office/drawing/2014/main" id="{6A0E73EA-AFC4-4C89-B45A-6BD79A1BCE94}"/>
              </a:ext>
            </a:extLst>
          </p:cNvPr>
          <p:cNvSpPr>
            <a:spLocks xmlns:a="http://schemas.openxmlformats.org/drawingml/2006/main" noGrp="1"/>
          </p:cNvSpPr>
          <p:nvPr/>
        </p:nvSpPr>
        <p:spPr>
          <a:xfrm xmlns:a="http://schemas.openxmlformats.org/drawingml/2006/main">
            <a:off x="857250" y="2533650"/>
            <a:ext cx="2000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E26F2A"/>
                </a:solidFill>
                <a:latin typeface="Aptos"/>
                <a:ea typeface="Aptos"/>
                <a:cs typeface="Aptos"/>
              </a:defRPr>
            </a:pPr>
            <a:r>
              <a:rPr sz="1200" b="1">
                <a:solidFill>
                  <a:srgbClr val="E26F2A"/>
                </a:solidFill>
                <a:latin typeface="Aptos"/>
                <a:ea typeface="Aptos"/>
                <a:cs typeface="Aptos"/>
              </a:rPr>
              <a:t>Mode</a:t>
            </a:r>
          </a:p>
        </p:txBody>
      </p:sp>
      <p:sp>
        <p:nvSpPr>
          <p:cNvPr id="6" name="">
            <a:extLst xmlns:a="http://schemas.openxmlformats.org/drawingml/2006/main">
              <a:ext uri="{FF2B5EF4-FFF2-40B4-BE49-F238E27FC236}">
                <a16:creationId xmlns:a16="http://schemas.microsoft.com/office/drawing/2014/main" id="{0C297301-CEE4-4452-9467-BB75353D5858}"/>
              </a:ext>
            </a:extLst>
          </p:cNvPr>
          <p:cNvSpPr>
            <a:spLocks xmlns:a="http://schemas.openxmlformats.org/drawingml/2006/main" noGrp="1"/>
          </p:cNvSpPr>
          <p:nvPr/>
        </p:nvSpPr>
        <p:spPr>
          <a:xfrm xmlns:a="http://schemas.openxmlformats.org/drawingml/2006/main">
            <a:off x="3143250" y="25336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E26F2A"/>
                </a:solidFill>
                <a:latin typeface="Aptos"/>
                <a:ea typeface="Aptos"/>
                <a:cs typeface="Aptos"/>
              </a:defRPr>
            </a:pPr>
            <a:r>
              <a:rPr sz="1200" b="1">
                <a:solidFill>
                  <a:srgbClr val="E26F2A"/>
                </a:solidFill>
                <a:latin typeface="Aptos"/>
                <a:ea typeface="Aptos"/>
                <a:cs typeface="Aptos"/>
              </a:rPr>
              <a:t>Context</a:t>
            </a:r>
          </a:p>
        </p:txBody>
      </p:sp>
      <p:sp>
        <p:nvSpPr>
          <p:cNvPr id="7" name="">
            <a:extLst xmlns:a="http://schemas.openxmlformats.org/drawingml/2006/main">
              <a:ext uri="{FF2B5EF4-FFF2-40B4-BE49-F238E27FC236}">
                <a16:creationId xmlns:a16="http://schemas.microsoft.com/office/drawing/2014/main" id="{94E594FD-8CDB-4A81-B011-5D2529FB8FF2}"/>
              </a:ext>
            </a:extLst>
          </p:cNvPr>
          <p:cNvSpPr>
            <a:spLocks xmlns:a="http://schemas.openxmlformats.org/drawingml/2006/main" noGrp="1"/>
          </p:cNvSpPr>
          <p:nvPr/>
        </p:nvSpPr>
        <p:spPr>
          <a:xfrm xmlns:a="http://schemas.openxmlformats.org/drawingml/2006/main">
            <a:off x="5905500" y="25336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E26F2A"/>
                </a:solidFill>
                <a:latin typeface="Aptos"/>
                <a:ea typeface="Aptos"/>
                <a:cs typeface="Aptos"/>
              </a:defRPr>
            </a:pPr>
            <a:r>
              <a:rPr sz="1200" b="1">
                <a:solidFill>
                  <a:srgbClr val="E26F2A"/>
                </a:solidFill>
                <a:latin typeface="Aptos"/>
                <a:ea typeface="Aptos"/>
                <a:cs typeface="Aptos"/>
              </a:rPr>
              <a:t>Output</a:t>
            </a:r>
          </a:p>
        </p:txBody>
      </p:sp>
      <p:sp>
        <p:nvSpPr>
          <p:cNvPr id="8" name="">
            <a:extLst xmlns:a="http://schemas.openxmlformats.org/drawingml/2006/main">
              <a:ext uri="{FF2B5EF4-FFF2-40B4-BE49-F238E27FC236}">
                <a16:creationId xmlns:a16="http://schemas.microsoft.com/office/drawing/2014/main" id="{238EAA93-6F93-45FF-BDDF-69753ED9CFDD}"/>
              </a:ext>
            </a:extLst>
          </p:cNvPr>
          <p:cNvSpPr>
            <a:spLocks xmlns:a="http://schemas.openxmlformats.org/drawingml/2006/main" noGrp="1"/>
          </p:cNvSpPr>
          <p:nvPr/>
        </p:nvSpPr>
        <p:spPr>
          <a:xfrm xmlns:a="http://schemas.openxmlformats.org/drawingml/2006/main">
            <a:off x="8572500" y="25336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E26F2A"/>
                </a:solidFill>
                <a:latin typeface="Aptos"/>
                <a:ea typeface="Aptos"/>
                <a:cs typeface="Aptos"/>
              </a:defRPr>
            </a:pPr>
            <a:r>
              <a:rPr sz="1200" b="1">
                <a:solidFill>
                  <a:srgbClr val="E26F2A"/>
                </a:solidFill>
                <a:latin typeface="Aptos"/>
                <a:ea typeface="Aptos"/>
                <a:cs typeface="Aptos"/>
              </a:rPr>
              <a:t>Behaviour</a:t>
            </a:r>
          </a:p>
        </p:txBody>
      </p:sp>
      <p:sp>
        <p:nvSpPr>
          <p:cNvPr id="9" name="">
            <a:extLst xmlns:a="http://schemas.openxmlformats.org/drawingml/2006/main">
              <a:ext uri="{FF2B5EF4-FFF2-40B4-BE49-F238E27FC236}">
                <a16:creationId xmlns:a16="http://schemas.microsoft.com/office/drawing/2014/main" id="{5487075E-B673-4C57-BED5-5481AA8BF603}"/>
              </a:ext>
            </a:extLst>
          </p:cNvPr>
          <p:cNvSpPr>
            <a:spLocks xmlns:a="http://schemas.openxmlformats.org/drawingml/2006/main" noGrp="1"/>
          </p:cNvSpPr>
          <p:nvPr/>
        </p:nvSpPr>
        <p:spPr>
          <a:xfrm xmlns:a="http://schemas.openxmlformats.org/drawingml/2006/main">
            <a:off x="742950" y="2876550"/>
            <a:ext cx="10706100" cy="876300"/>
          </a:xfrm>
          <a:prstGeom xmlns:a="http://schemas.openxmlformats.org/drawingml/2006/main" prst="rect">
            <a:avLst/>
          </a:prstGeom>
          <a:solidFill xmlns:a="http://schemas.openxmlformats.org/drawingml/2006/main">
            <a:srgbClr val="20251D"/>
          </a:solidFill>
          <a:ln xmlns:a="http://schemas.openxmlformats.org/drawingml/2006/main" w="9525">
            <a:solidFill>
              <a:srgbClr val="34392D"/>
            </a:solidFill>
            <a:prstDash val="solid"/>
          </a:ln>
        </p:spPr>
      </p:sp>
      <p:sp>
        <p:nvSpPr>
          <p:cNvPr id="10" name="">
            <a:extLst xmlns:a="http://schemas.openxmlformats.org/drawingml/2006/main">
              <a:ext uri="{FF2B5EF4-FFF2-40B4-BE49-F238E27FC236}">
                <a16:creationId xmlns:a16="http://schemas.microsoft.com/office/drawing/2014/main" id="{FF7D03CA-CA2F-41E8-831F-661CB755A4EB}"/>
              </a:ext>
            </a:extLst>
          </p:cNvPr>
          <p:cNvSpPr>
            <a:spLocks xmlns:a="http://schemas.openxmlformats.org/drawingml/2006/main" noGrp="1"/>
          </p:cNvSpPr>
          <p:nvPr/>
        </p:nvSpPr>
        <p:spPr>
          <a:xfrm xmlns:a="http://schemas.openxmlformats.org/drawingml/2006/main">
            <a:off x="857250" y="3143250"/>
            <a:ext cx="1905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EEE9DD"/>
                </a:solidFill>
                <a:latin typeface="Aptos Display"/>
                <a:ea typeface="Aptos Display"/>
                <a:cs typeface="Aptos Display"/>
              </a:defRPr>
            </a:pPr>
            <a:r>
              <a:rPr sz="1800" b="1">
                <a:solidFill>
                  <a:srgbClr val="EEE9DD"/>
                </a:solidFill>
                <a:latin typeface="Aptos Display"/>
                <a:ea typeface="Aptos Display"/>
                <a:cs typeface="Aptos Display"/>
              </a:rPr>
              <a:t>Chatbox</a:t>
            </a:r>
          </a:p>
        </p:txBody>
      </p:sp>
      <p:sp>
        <p:nvSpPr>
          <p:cNvPr id="11" name="">
            <a:extLst xmlns:a="http://schemas.openxmlformats.org/drawingml/2006/main">
              <a:ext uri="{FF2B5EF4-FFF2-40B4-BE49-F238E27FC236}">
                <a16:creationId xmlns:a16="http://schemas.microsoft.com/office/drawing/2014/main" id="{800E8F5F-B1B0-40D2-A6B7-4D6807060433}"/>
              </a:ext>
            </a:extLst>
          </p:cNvPr>
          <p:cNvSpPr>
            <a:spLocks xmlns:a="http://schemas.openxmlformats.org/drawingml/2006/main" noGrp="1"/>
          </p:cNvSpPr>
          <p:nvPr/>
        </p:nvSpPr>
        <p:spPr>
          <a:xfrm xmlns:a="http://schemas.openxmlformats.org/drawingml/2006/main">
            <a:off x="3143250" y="3143250"/>
            <a:ext cx="2333625"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EEE9DD"/>
                </a:solidFill>
                <a:latin typeface="Aptos"/>
                <a:ea typeface="Aptos"/>
                <a:cs typeface="Aptos"/>
              </a:defRPr>
            </a:pPr>
            <a:r>
              <a:rPr sz="1575" b="0">
                <a:solidFill>
                  <a:srgbClr val="EEE9DD"/>
                </a:solidFill>
                <a:latin typeface="Aptos"/>
                <a:ea typeface="Aptos"/>
                <a:cs typeface="Aptos"/>
              </a:rPr>
              <a:t>You explain everything again</a:t>
            </a:r>
          </a:p>
        </p:txBody>
      </p:sp>
      <p:sp>
        <p:nvSpPr>
          <p:cNvPr id="12" name="">
            <a:extLst xmlns:a="http://schemas.openxmlformats.org/drawingml/2006/main">
              <a:ext uri="{FF2B5EF4-FFF2-40B4-BE49-F238E27FC236}">
                <a16:creationId xmlns:a16="http://schemas.microsoft.com/office/drawing/2014/main" id="{73C42447-7E9F-4CA8-ADE5-4A2F9B8CC88C}"/>
              </a:ext>
            </a:extLst>
          </p:cNvPr>
          <p:cNvSpPr>
            <a:spLocks xmlns:a="http://schemas.openxmlformats.org/drawingml/2006/main" noGrp="1"/>
          </p:cNvSpPr>
          <p:nvPr/>
        </p:nvSpPr>
        <p:spPr>
          <a:xfrm xmlns:a="http://schemas.openxmlformats.org/drawingml/2006/main">
            <a:off x="5905500" y="3143250"/>
            <a:ext cx="2333625"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EEE9DD"/>
                </a:solidFill>
                <a:latin typeface="Aptos"/>
                <a:ea typeface="Aptos"/>
                <a:cs typeface="Aptos"/>
              </a:defRPr>
            </a:pPr>
            <a:r>
              <a:rPr sz="1575" b="0">
                <a:solidFill>
                  <a:srgbClr val="EEE9DD"/>
                </a:solidFill>
                <a:latin typeface="Aptos"/>
                <a:ea typeface="Aptos"/>
                <a:cs typeface="Aptos"/>
              </a:rPr>
              <a:t>One-off output</a:t>
            </a:r>
          </a:p>
        </p:txBody>
      </p:sp>
      <p:sp>
        <p:nvSpPr>
          <p:cNvPr id="13" name="">
            <a:extLst xmlns:a="http://schemas.openxmlformats.org/drawingml/2006/main">
              <a:ext uri="{FF2B5EF4-FFF2-40B4-BE49-F238E27FC236}">
                <a16:creationId xmlns:a16="http://schemas.microsoft.com/office/drawing/2014/main" id="{F1F5621E-50B2-44F1-83B0-8E3931272A3B}"/>
              </a:ext>
            </a:extLst>
          </p:cNvPr>
          <p:cNvSpPr>
            <a:spLocks xmlns:a="http://schemas.openxmlformats.org/drawingml/2006/main" noGrp="1"/>
          </p:cNvSpPr>
          <p:nvPr/>
        </p:nvSpPr>
        <p:spPr>
          <a:xfrm xmlns:a="http://schemas.openxmlformats.org/drawingml/2006/main">
            <a:off x="8572500" y="3143250"/>
            <a:ext cx="238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EEE9DD"/>
                </a:solidFill>
                <a:latin typeface="Aptos"/>
                <a:ea typeface="Aptos"/>
                <a:cs typeface="Aptos"/>
              </a:defRPr>
            </a:pPr>
            <a:r>
              <a:rPr sz="1575" b="0">
                <a:solidFill>
                  <a:srgbClr val="EEE9DD"/>
                </a:solidFill>
                <a:latin typeface="Aptos"/>
                <a:ea typeface="Aptos"/>
                <a:cs typeface="Aptos"/>
              </a:rPr>
              <a:t>Easy to ignore</a:t>
            </a:r>
          </a:p>
        </p:txBody>
      </p:sp>
      <p:sp>
        <p:nvSpPr>
          <p:cNvPr id="14" name="">
            <a:extLst xmlns:a="http://schemas.openxmlformats.org/drawingml/2006/main">
              <a:ext uri="{FF2B5EF4-FFF2-40B4-BE49-F238E27FC236}">
                <a16:creationId xmlns:a16="http://schemas.microsoft.com/office/drawing/2014/main" id="{4A4B6F06-600E-4E91-83DC-6107151AB6B8}"/>
              </a:ext>
            </a:extLst>
          </p:cNvPr>
          <p:cNvSpPr>
            <a:spLocks xmlns:a="http://schemas.openxmlformats.org/drawingml/2006/main" noGrp="1"/>
          </p:cNvSpPr>
          <p:nvPr/>
        </p:nvSpPr>
        <p:spPr>
          <a:xfrm xmlns:a="http://schemas.openxmlformats.org/drawingml/2006/main">
            <a:off x="742950" y="4000500"/>
            <a:ext cx="10706100" cy="876300"/>
          </a:xfrm>
          <a:prstGeom xmlns:a="http://schemas.openxmlformats.org/drawingml/2006/main" prst="rect">
            <a:avLst/>
          </a:prstGeom>
          <a:solidFill xmlns:a="http://schemas.openxmlformats.org/drawingml/2006/main">
            <a:srgbClr val="283020"/>
          </a:solidFill>
          <a:ln xmlns:a="http://schemas.openxmlformats.org/drawingml/2006/main" w="9525">
            <a:solidFill>
              <a:srgbClr val="34392D"/>
            </a:solidFill>
            <a:prstDash val="solid"/>
          </a:ln>
        </p:spPr>
      </p:sp>
      <p:sp>
        <p:nvSpPr>
          <p:cNvPr id="15" name="">
            <a:extLst xmlns:a="http://schemas.openxmlformats.org/drawingml/2006/main">
              <a:ext uri="{FF2B5EF4-FFF2-40B4-BE49-F238E27FC236}">
                <a16:creationId xmlns:a16="http://schemas.microsoft.com/office/drawing/2014/main" id="{A71D28A9-22CA-4957-9DEB-CF5AB918C2D9}"/>
              </a:ext>
            </a:extLst>
          </p:cNvPr>
          <p:cNvSpPr>
            <a:spLocks xmlns:a="http://schemas.openxmlformats.org/drawingml/2006/main" noGrp="1"/>
          </p:cNvSpPr>
          <p:nvPr/>
        </p:nvSpPr>
        <p:spPr>
          <a:xfrm xmlns:a="http://schemas.openxmlformats.org/drawingml/2006/main">
            <a:off x="857250" y="4267200"/>
            <a:ext cx="1905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E26F2A"/>
                </a:solidFill>
                <a:latin typeface="Aptos Display"/>
                <a:ea typeface="Aptos Display"/>
                <a:cs typeface="Aptos Display"/>
              </a:defRPr>
            </a:pPr>
            <a:r>
              <a:rPr sz="1800" b="1">
                <a:solidFill>
                  <a:srgbClr val="E26F2A"/>
                </a:solidFill>
                <a:latin typeface="Aptos Display"/>
                <a:ea typeface="Aptos Display"/>
                <a:cs typeface="Aptos Display"/>
              </a:rPr>
              <a:t>Content engine</a:t>
            </a:r>
          </a:p>
        </p:txBody>
      </p:sp>
      <p:sp>
        <p:nvSpPr>
          <p:cNvPr id="16" name="">
            <a:extLst xmlns:a="http://schemas.openxmlformats.org/drawingml/2006/main">
              <a:ext uri="{FF2B5EF4-FFF2-40B4-BE49-F238E27FC236}">
                <a16:creationId xmlns:a16="http://schemas.microsoft.com/office/drawing/2014/main" id="{6BF3EE98-65F1-4944-8ACB-D90456853E65}"/>
              </a:ext>
            </a:extLst>
          </p:cNvPr>
          <p:cNvSpPr>
            <a:spLocks xmlns:a="http://schemas.openxmlformats.org/drawingml/2006/main" noGrp="1"/>
          </p:cNvSpPr>
          <p:nvPr/>
        </p:nvSpPr>
        <p:spPr>
          <a:xfrm xmlns:a="http://schemas.openxmlformats.org/drawingml/2006/main">
            <a:off x="3143250" y="4267200"/>
            <a:ext cx="2333625"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EEE9DD"/>
                </a:solidFill>
                <a:latin typeface="Aptos"/>
                <a:ea typeface="Aptos"/>
                <a:cs typeface="Aptos"/>
              </a:defRPr>
            </a:pPr>
            <a:r>
              <a:rPr sz="1575" b="0">
                <a:solidFill>
                  <a:srgbClr val="EEE9DD"/>
                </a:solidFill>
                <a:latin typeface="Aptos"/>
                <a:ea typeface="Aptos"/>
                <a:cs typeface="Aptos"/>
              </a:rPr>
              <a:t>The folder explains you</a:t>
            </a:r>
          </a:p>
        </p:txBody>
      </p:sp>
      <p:sp>
        <p:nvSpPr>
          <p:cNvPr id="17" name="">
            <a:extLst xmlns:a="http://schemas.openxmlformats.org/drawingml/2006/main">
              <a:ext uri="{FF2B5EF4-FFF2-40B4-BE49-F238E27FC236}">
                <a16:creationId xmlns:a16="http://schemas.microsoft.com/office/drawing/2014/main" id="{3A2C98BD-63D9-4CD3-A784-3CE065034FF3}"/>
              </a:ext>
            </a:extLst>
          </p:cNvPr>
          <p:cNvSpPr>
            <a:spLocks xmlns:a="http://schemas.openxmlformats.org/drawingml/2006/main" noGrp="1"/>
          </p:cNvSpPr>
          <p:nvPr/>
        </p:nvSpPr>
        <p:spPr>
          <a:xfrm xmlns:a="http://schemas.openxmlformats.org/drawingml/2006/main">
            <a:off x="5905500" y="4267200"/>
            <a:ext cx="2333625"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EEE9DD"/>
                </a:solidFill>
                <a:latin typeface="Aptos"/>
                <a:ea typeface="Aptos"/>
                <a:cs typeface="Aptos"/>
              </a:defRPr>
            </a:pPr>
            <a:r>
              <a:rPr sz="1575" b="0">
                <a:solidFill>
                  <a:srgbClr val="EEE9DD"/>
                </a:solidFill>
                <a:latin typeface="Aptos"/>
                <a:ea typeface="Aptos"/>
                <a:cs typeface="Aptos"/>
              </a:rPr>
              <a:t>Reusable workflow</a:t>
            </a:r>
          </a:p>
        </p:txBody>
      </p:sp>
      <p:sp>
        <p:nvSpPr>
          <p:cNvPr id="18" name="">
            <a:extLst xmlns:a="http://schemas.openxmlformats.org/drawingml/2006/main">
              <a:ext uri="{FF2B5EF4-FFF2-40B4-BE49-F238E27FC236}">
                <a16:creationId xmlns:a16="http://schemas.microsoft.com/office/drawing/2014/main" id="{E863D72E-8F46-4D7C-8639-B4B9132C59C1}"/>
              </a:ext>
            </a:extLst>
          </p:cNvPr>
          <p:cNvSpPr>
            <a:spLocks xmlns:a="http://schemas.openxmlformats.org/drawingml/2006/main" noGrp="1"/>
          </p:cNvSpPr>
          <p:nvPr/>
        </p:nvSpPr>
        <p:spPr>
          <a:xfrm xmlns:a="http://schemas.openxmlformats.org/drawingml/2006/main">
            <a:off x="8572500" y="4267200"/>
            <a:ext cx="238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EEE9DD"/>
                </a:solidFill>
                <a:latin typeface="Aptos"/>
                <a:ea typeface="Aptos"/>
                <a:cs typeface="Aptos"/>
              </a:defRPr>
            </a:pPr>
            <a:r>
              <a:rPr sz="1575" b="0">
                <a:solidFill>
                  <a:srgbClr val="EEE9DD"/>
                </a:solidFill>
                <a:latin typeface="Aptos"/>
                <a:ea typeface="Aptos"/>
                <a:cs typeface="Aptos"/>
              </a:rPr>
              <a:t>Easy to repeat</a:t>
            </a:r>
          </a:p>
        </p:txBody>
      </p:sp>
      <p:sp>
        <p:nvSpPr>
          <p:cNvPr id="19" name="">
            <a:extLst xmlns:a="http://schemas.openxmlformats.org/drawingml/2006/main">
              <a:ext uri="{FF2B5EF4-FFF2-40B4-BE49-F238E27FC236}">
                <a16:creationId xmlns:a16="http://schemas.microsoft.com/office/drawing/2014/main" id="{A5EDAFA1-E61A-427D-AED2-DFFE0F4B9E19}"/>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FE8C5F9-0587-4797-8DEA-676FE9529539}"/>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1" name="">
            <a:extLst xmlns:a="http://schemas.openxmlformats.org/drawingml/2006/main">
              <a:ext uri="{FF2B5EF4-FFF2-40B4-BE49-F238E27FC236}">
                <a16:creationId xmlns:a16="http://schemas.microsoft.com/office/drawing/2014/main" id="{A99C7678-5578-45F9-9539-1A0E1C773562}"/>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139131329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23F738-4ACD-44D8-9DF1-B261E3FF5E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0D1048D-4F28-477E-94EE-2C7F5919C6C0}"/>
              </a:ext>
            </a:extLst>
          </p:cNvPr>
          <p:cNvSpPr>
            <a:spLocks xmlns:a="http://schemas.openxmlformats.org/drawingml/2006/main" noGrp="1"/>
          </p:cNvSpPr>
          <p:nvPr/>
        </p:nvSpPr>
        <p:spPr>
          <a:xfrm xmlns:a="http://schemas.openxmlformats.org/drawingml/2006/main">
            <a:off x="609600" y="495300"/>
            <a:ext cx="1200150"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A289E22B-B4E7-4069-9A81-1A267A733AFF}"/>
              </a:ext>
            </a:extLst>
          </p:cNvPr>
          <p:cNvSpPr>
            <a:spLocks xmlns:a="http://schemas.openxmlformats.org/drawingml/2006/main" noGrp="1"/>
          </p:cNvSpPr>
          <p:nvPr/>
        </p:nvSpPr>
        <p:spPr>
          <a:xfrm xmlns:a="http://schemas.openxmlformats.org/drawingml/2006/main">
            <a:off x="781050" y="5715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THE FOLDER</a:t>
            </a:r>
          </a:p>
        </p:txBody>
      </p:sp>
      <p:sp>
        <p:nvSpPr>
          <p:cNvPr id="4" name="">
            <a:extLst xmlns:a="http://schemas.openxmlformats.org/drawingml/2006/main">
              <a:ext uri="{FF2B5EF4-FFF2-40B4-BE49-F238E27FC236}">
                <a16:creationId xmlns:a16="http://schemas.microsoft.com/office/drawing/2014/main" id="{A9790298-0597-4CC6-AC4F-9BD6D4E67FA7}"/>
              </a:ext>
            </a:extLst>
          </p:cNvPr>
          <p:cNvSpPr>
            <a:spLocks xmlns:a="http://schemas.openxmlformats.org/drawingml/2006/main" noGrp="1"/>
          </p:cNvSpPr>
          <p:nvPr/>
        </p:nvSpPr>
        <p:spPr>
          <a:xfrm xmlns:a="http://schemas.openxmlformats.org/drawingml/2006/main">
            <a:off x="609600" y="1028700"/>
            <a:ext cx="7429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500" b="1">
                <a:solidFill>
                  <a:srgbClr val="EEE9DD"/>
                </a:solidFill>
                <a:latin typeface="Aptos Display"/>
                <a:ea typeface="Aptos Display"/>
                <a:cs typeface="Aptos Display"/>
              </a:defRPr>
            </a:pPr>
            <a:r>
              <a:rPr sz="4500" b="1">
                <a:solidFill>
                  <a:srgbClr val="EEE9DD"/>
                </a:solidFill>
                <a:latin typeface="Aptos Display"/>
                <a:ea typeface="Aptos Display"/>
                <a:cs typeface="Aptos Display"/>
              </a:rPr>
              <a:t>Four files are enough to start.</a:t>
            </a:r>
          </a:p>
        </p:txBody>
      </p:sp>
      <p:sp>
        <p:nvSpPr>
          <p:cNvPr id="5" name="">
            <a:extLst xmlns:a="http://schemas.openxmlformats.org/drawingml/2006/main">
              <a:ext uri="{FF2B5EF4-FFF2-40B4-BE49-F238E27FC236}">
                <a16:creationId xmlns:a16="http://schemas.microsoft.com/office/drawing/2014/main" id="{D25D1963-7117-49E1-9A98-39A2859BC901}"/>
              </a:ext>
            </a:extLst>
          </p:cNvPr>
          <p:cNvSpPr>
            <a:spLocks xmlns:a="http://schemas.openxmlformats.org/drawingml/2006/main" noGrp="1"/>
          </p:cNvSpPr>
          <p:nvPr/>
        </p:nvSpPr>
        <p:spPr>
          <a:xfrm xmlns:a="http://schemas.openxmlformats.org/drawingml/2006/main">
            <a:off x="876300" y="2457450"/>
            <a:ext cx="4095750" cy="5524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6" name="">
            <a:extLst xmlns:a="http://schemas.openxmlformats.org/drawingml/2006/main">
              <a:ext uri="{FF2B5EF4-FFF2-40B4-BE49-F238E27FC236}">
                <a16:creationId xmlns:a16="http://schemas.microsoft.com/office/drawing/2014/main" id="{B0B348E3-BDF9-47AC-8875-291E93A327FB}"/>
              </a:ext>
            </a:extLst>
          </p:cNvPr>
          <p:cNvSpPr>
            <a:spLocks xmlns:a="http://schemas.openxmlformats.org/drawingml/2006/main" noGrp="1"/>
          </p:cNvSpPr>
          <p:nvPr/>
        </p:nvSpPr>
        <p:spPr>
          <a:xfrm xmlns:a="http://schemas.openxmlformats.org/drawingml/2006/main">
            <a:off x="1104900" y="2600325"/>
            <a:ext cx="361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E26F2A"/>
                </a:solidFill>
                <a:latin typeface="Aptos Mono"/>
                <a:ea typeface="Aptos Mono"/>
                <a:cs typeface="Aptos Mono"/>
              </a:defRPr>
            </a:pPr>
            <a:r>
              <a:rPr sz="1800" b="1">
                <a:solidFill>
                  <a:srgbClr val="E26F2A"/>
                </a:solidFill>
                <a:latin typeface="Aptos Mono"/>
                <a:ea typeface="Aptos Mono"/>
                <a:cs typeface="Aptos Mono"/>
              </a:rPr>
              <a:t>strategy.md</a:t>
            </a:r>
          </a:p>
        </p:txBody>
      </p:sp>
      <p:sp>
        <p:nvSpPr>
          <p:cNvPr id="7" name="">
            <a:extLst xmlns:a="http://schemas.openxmlformats.org/drawingml/2006/main">
              <a:ext uri="{FF2B5EF4-FFF2-40B4-BE49-F238E27FC236}">
                <a16:creationId xmlns:a16="http://schemas.microsoft.com/office/drawing/2014/main" id="{4BF2A7BC-6F1C-4FE1-9F11-71D809FC737A}"/>
              </a:ext>
            </a:extLst>
          </p:cNvPr>
          <p:cNvSpPr>
            <a:spLocks xmlns:a="http://schemas.openxmlformats.org/drawingml/2006/main" noGrp="1"/>
          </p:cNvSpPr>
          <p:nvPr/>
        </p:nvSpPr>
        <p:spPr>
          <a:xfrm xmlns:a="http://schemas.openxmlformats.org/drawingml/2006/main">
            <a:off x="5467350" y="2571750"/>
            <a:ext cx="5429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C2BFB5"/>
                </a:solidFill>
                <a:latin typeface="Aptos"/>
                <a:ea typeface="Aptos"/>
                <a:cs typeface="Aptos"/>
              </a:defRPr>
            </a:pPr>
            <a:r>
              <a:rPr sz="1500" b="0">
                <a:solidFill>
                  <a:srgbClr val="C2BFB5"/>
                </a:solidFill>
                <a:latin typeface="Aptos"/>
                <a:ea typeface="Aptos"/>
                <a:cs typeface="Aptos"/>
              </a:rPr>
              <a:t>Who this is for, what you believe, what you are not building.</a:t>
            </a:r>
          </a:p>
        </p:txBody>
      </p:sp>
      <p:sp>
        <p:nvSpPr>
          <p:cNvPr id="8" name="">
            <a:extLst xmlns:a="http://schemas.openxmlformats.org/drawingml/2006/main">
              <a:ext uri="{FF2B5EF4-FFF2-40B4-BE49-F238E27FC236}">
                <a16:creationId xmlns:a16="http://schemas.microsoft.com/office/drawing/2014/main" id="{02CC32D1-B5F3-4C7B-8B6C-E85AA1DA928B}"/>
              </a:ext>
            </a:extLst>
          </p:cNvPr>
          <p:cNvSpPr>
            <a:spLocks xmlns:a="http://schemas.openxmlformats.org/drawingml/2006/main" noGrp="1"/>
          </p:cNvSpPr>
          <p:nvPr/>
        </p:nvSpPr>
        <p:spPr>
          <a:xfrm xmlns:a="http://schemas.openxmlformats.org/drawingml/2006/main">
            <a:off x="876300" y="3276600"/>
            <a:ext cx="4095750" cy="5524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9" name="">
            <a:extLst xmlns:a="http://schemas.openxmlformats.org/drawingml/2006/main">
              <a:ext uri="{FF2B5EF4-FFF2-40B4-BE49-F238E27FC236}">
                <a16:creationId xmlns:a16="http://schemas.microsoft.com/office/drawing/2014/main" id="{890C8734-34F0-4EF3-8188-E95870DA53A9}"/>
              </a:ext>
            </a:extLst>
          </p:cNvPr>
          <p:cNvSpPr>
            <a:spLocks xmlns:a="http://schemas.openxmlformats.org/drawingml/2006/main" noGrp="1"/>
          </p:cNvSpPr>
          <p:nvPr/>
        </p:nvSpPr>
        <p:spPr>
          <a:xfrm xmlns:a="http://schemas.openxmlformats.org/drawingml/2006/main">
            <a:off x="1104900" y="3419475"/>
            <a:ext cx="361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E26F2A"/>
                </a:solidFill>
                <a:latin typeface="Aptos Mono"/>
                <a:ea typeface="Aptos Mono"/>
                <a:cs typeface="Aptos Mono"/>
              </a:defRPr>
            </a:pPr>
            <a:r>
              <a:rPr sz="1800" b="1">
                <a:solidFill>
                  <a:srgbClr val="E26F2A"/>
                </a:solidFill>
                <a:latin typeface="Aptos Mono"/>
                <a:ea typeface="Aptos Mono"/>
                <a:cs typeface="Aptos Mono"/>
              </a:rPr>
              <a:t>voice-dna.md</a:t>
            </a:r>
          </a:p>
        </p:txBody>
      </p:sp>
      <p:sp>
        <p:nvSpPr>
          <p:cNvPr id="10" name="">
            <a:extLst xmlns:a="http://schemas.openxmlformats.org/drawingml/2006/main">
              <a:ext uri="{FF2B5EF4-FFF2-40B4-BE49-F238E27FC236}">
                <a16:creationId xmlns:a16="http://schemas.microsoft.com/office/drawing/2014/main" id="{965188CE-1504-4844-99AF-4638413F88F6}"/>
              </a:ext>
            </a:extLst>
          </p:cNvPr>
          <p:cNvSpPr>
            <a:spLocks xmlns:a="http://schemas.openxmlformats.org/drawingml/2006/main" noGrp="1"/>
          </p:cNvSpPr>
          <p:nvPr/>
        </p:nvSpPr>
        <p:spPr>
          <a:xfrm xmlns:a="http://schemas.openxmlformats.org/drawingml/2006/main">
            <a:off x="5467350" y="3390900"/>
            <a:ext cx="5429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C2BFB5"/>
                </a:solidFill>
                <a:latin typeface="Aptos"/>
                <a:ea typeface="Aptos"/>
                <a:cs typeface="Aptos"/>
              </a:defRPr>
            </a:pPr>
            <a:r>
              <a:rPr sz="1500" b="0">
                <a:solidFill>
                  <a:srgbClr val="C2BFB5"/>
                </a:solidFill>
                <a:latin typeface="Aptos"/>
                <a:ea typeface="Aptos"/>
                <a:cs typeface="Aptos"/>
              </a:rPr>
              <a:t>How you sound, phrases you use, phrases you never use.</a:t>
            </a:r>
          </a:p>
        </p:txBody>
      </p:sp>
      <p:sp>
        <p:nvSpPr>
          <p:cNvPr id="11" name="">
            <a:extLst xmlns:a="http://schemas.openxmlformats.org/drawingml/2006/main">
              <a:ext uri="{FF2B5EF4-FFF2-40B4-BE49-F238E27FC236}">
                <a16:creationId xmlns:a16="http://schemas.microsoft.com/office/drawing/2014/main" id="{74B29BED-FD12-46AF-B75C-FEA69DF7D175}"/>
              </a:ext>
            </a:extLst>
          </p:cNvPr>
          <p:cNvSpPr>
            <a:spLocks xmlns:a="http://schemas.openxmlformats.org/drawingml/2006/main" noGrp="1"/>
          </p:cNvSpPr>
          <p:nvPr/>
        </p:nvSpPr>
        <p:spPr>
          <a:xfrm xmlns:a="http://schemas.openxmlformats.org/drawingml/2006/main">
            <a:off x="876300" y="4095750"/>
            <a:ext cx="4095750" cy="5524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2" name="">
            <a:extLst xmlns:a="http://schemas.openxmlformats.org/drawingml/2006/main">
              <a:ext uri="{FF2B5EF4-FFF2-40B4-BE49-F238E27FC236}">
                <a16:creationId xmlns:a16="http://schemas.microsoft.com/office/drawing/2014/main" id="{5A1B1DB8-F66B-4B56-838C-22B1EE9EF798}"/>
              </a:ext>
            </a:extLst>
          </p:cNvPr>
          <p:cNvSpPr>
            <a:spLocks xmlns:a="http://schemas.openxmlformats.org/drawingml/2006/main" noGrp="1"/>
          </p:cNvSpPr>
          <p:nvPr/>
        </p:nvSpPr>
        <p:spPr>
          <a:xfrm xmlns:a="http://schemas.openxmlformats.org/drawingml/2006/main">
            <a:off x="1104900" y="4238625"/>
            <a:ext cx="361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E26F2A"/>
                </a:solidFill>
                <a:latin typeface="Aptos Mono"/>
                <a:ea typeface="Aptos Mono"/>
                <a:cs typeface="Aptos Mono"/>
              </a:defRPr>
            </a:pPr>
            <a:r>
              <a:rPr sz="1800" b="1">
                <a:solidFill>
                  <a:srgbClr val="E26F2A"/>
                </a:solidFill>
                <a:latin typeface="Aptos Mono"/>
                <a:ea typeface="Aptos Mono"/>
                <a:cs typeface="Aptos Mono"/>
              </a:rPr>
              <a:t>publishing-rules.md</a:t>
            </a:r>
          </a:p>
        </p:txBody>
      </p:sp>
      <p:sp>
        <p:nvSpPr>
          <p:cNvPr id="13" name="">
            <a:extLst xmlns:a="http://schemas.openxmlformats.org/drawingml/2006/main">
              <a:ext uri="{FF2B5EF4-FFF2-40B4-BE49-F238E27FC236}">
                <a16:creationId xmlns:a16="http://schemas.microsoft.com/office/drawing/2014/main" id="{E7A30F3F-1B76-411A-834B-8792F6A1852B}"/>
              </a:ext>
            </a:extLst>
          </p:cNvPr>
          <p:cNvSpPr>
            <a:spLocks xmlns:a="http://schemas.openxmlformats.org/drawingml/2006/main" noGrp="1"/>
          </p:cNvSpPr>
          <p:nvPr/>
        </p:nvSpPr>
        <p:spPr>
          <a:xfrm xmlns:a="http://schemas.openxmlformats.org/drawingml/2006/main">
            <a:off x="5467350" y="4210050"/>
            <a:ext cx="5429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C2BFB5"/>
                </a:solidFill>
                <a:latin typeface="Aptos"/>
                <a:ea typeface="Aptos"/>
                <a:cs typeface="Aptos"/>
              </a:defRPr>
            </a:pPr>
            <a:r>
              <a:rPr sz="1500" b="0">
                <a:solidFill>
                  <a:srgbClr val="C2BFB5"/>
                </a:solidFill>
                <a:latin typeface="Aptos"/>
                <a:ea typeface="Aptos"/>
                <a:cs typeface="Aptos"/>
              </a:rPr>
              <a:t>Hard yeses, hard nos, confidentiality, approval rules.</a:t>
            </a:r>
          </a:p>
        </p:txBody>
      </p:sp>
      <p:sp>
        <p:nvSpPr>
          <p:cNvPr id="14" name="">
            <a:extLst xmlns:a="http://schemas.openxmlformats.org/drawingml/2006/main">
              <a:ext uri="{FF2B5EF4-FFF2-40B4-BE49-F238E27FC236}">
                <a16:creationId xmlns:a16="http://schemas.microsoft.com/office/drawing/2014/main" id="{457A5DA2-6D08-4971-89D5-D4426E89EB35}"/>
              </a:ext>
            </a:extLst>
          </p:cNvPr>
          <p:cNvSpPr>
            <a:spLocks xmlns:a="http://schemas.openxmlformats.org/drawingml/2006/main" noGrp="1"/>
          </p:cNvSpPr>
          <p:nvPr/>
        </p:nvSpPr>
        <p:spPr>
          <a:xfrm xmlns:a="http://schemas.openxmlformats.org/drawingml/2006/main">
            <a:off x="876300" y="4914900"/>
            <a:ext cx="4095750" cy="5524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5" name="">
            <a:extLst xmlns:a="http://schemas.openxmlformats.org/drawingml/2006/main">
              <a:ext uri="{FF2B5EF4-FFF2-40B4-BE49-F238E27FC236}">
                <a16:creationId xmlns:a16="http://schemas.microsoft.com/office/drawing/2014/main" id="{0E78D95F-53FA-4E45-93A7-B66B0682BEBF}"/>
              </a:ext>
            </a:extLst>
          </p:cNvPr>
          <p:cNvSpPr>
            <a:spLocks xmlns:a="http://schemas.openxmlformats.org/drawingml/2006/main" noGrp="1"/>
          </p:cNvSpPr>
          <p:nvPr/>
        </p:nvSpPr>
        <p:spPr>
          <a:xfrm xmlns:a="http://schemas.openxmlformats.org/drawingml/2006/main">
            <a:off x="1104900" y="5057775"/>
            <a:ext cx="361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E26F2A"/>
                </a:solidFill>
                <a:latin typeface="Aptos Mono"/>
                <a:ea typeface="Aptos Mono"/>
                <a:cs typeface="Aptos Mono"/>
              </a:defRPr>
            </a:pPr>
            <a:r>
              <a:rPr sz="1800" b="1">
                <a:solidFill>
                  <a:srgbClr val="E26F2A"/>
                </a:solidFill>
                <a:latin typeface="Aptos Mono"/>
                <a:ea typeface="Aptos Mono"/>
                <a:cs typeface="Aptos Mono"/>
              </a:rPr>
              <a:t>waterfall.md</a:t>
            </a:r>
          </a:p>
        </p:txBody>
      </p:sp>
      <p:sp>
        <p:nvSpPr>
          <p:cNvPr id="16" name="">
            <a:extLst xmlns:a="http://schemas.openxmlformats.org/drawingml/2006/main">
              <a:ext uri="{FF2B5EF4-FFF2-40B4-BE49-F238E27FC236}">
                <a16:creationId xmlns:a16="http://schemas.microsoft.com/office/drawing/2014/main" id="{FCE3C994-75EB-46DF-AAB5-00869DB65647}"/>
              </a:ext>
            </a:extLst>
          </p:cNvPr>
          <p:cNvSpPr>
            <a:spLocks xmlns:a="http://schemas.openxmlformats.org/drawingml/2006/main" noGrp="1"/>
          </p:cNvSpPr>
          <p:nvPr/>
        </p:nvSpPr>
        <p:spPr>
          <a:xfrm xmlns:a="http://schemas.openxmlformats.org/drawingml/2006/main">
            <a:off x="5467350" y="5029200"/>
            <a:ext cx="5429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C2BFB5"/>
                </a:solidFill>
                <a:latin typeface="Aptos"/>
                <a:ea typeface="Aptos"/>
                <a:cs typeface="Aptos"/>
              </a:defRPr>
            </a:pPr>
            <a:r>
              <a:rPr sz="1500" b="0">
                <a:solidFill>
                  <a:srgbClr val="C2BFB5"/>
                </a:solidFill>
                <a:latin typeface="Aptos"/>
                <a:ea typeface="Aptos"/>
                <a:cs typeface="Aptos"/>
              </a:rPr>
              <a:t>How one idea becomes formats, captions, and platform variants.</a:t>
            </a:r>
          </a:p>
        </p:txBody>
      </p:sp>
      <p:sp>
        <p:nvSpPr>
          <p:cNvPr id="17" name="">
            <a:extLst xmlns:a="http://schemas.openxmlformats.org/drawingml/2006/main">
              <a:ext uri="{FF2B5EF4-FFF2-40B4-BE49-F238E27FC236}">
                <a16:creationId xmlns:a16="http://schemas.microsoft.com/office/drawing/2014/main" id="{F6947866-52B5-4477-ADEA-6D60964A8F99}"/>
              </a:ext>
            </a:extLst>
          </p:cNvPr>
          <p:cNvSpPr>
            <a:spLocks xmlns:a="http://schemas.openxmlformats.org/drawingml/2006/main" noGrp="1"/>
          </p:cNvSpPr>
          <p:nvPr/>
        </p:nvSpPr>
        <p:spPr>
          <a:xfrm xmlns:a="http://schemas.openxmlformats.org/drawingml/2006/main">
            <a:off x="5219700" y="2352675"/>
            <a:ext cx="9525" cy="338137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5C3A2CD5-1082-4B11-9C17-ECE3460326C3}"/>
              </a:ext>
            </a:extLst>
          </p:cNvPr>
          <p:cNvSpPr>
            <a:spLocks xmlns:a="http://schemas.openxmlformats.org/drawingml/2006/main" noGrp="1"/>
          </p:cNvSpPr>
          <p:nvPr/>
        </p:nvSpPr>
        <p:spPr>
          <a:xfrm xmlns:a="http://schemas.openxmlformats.org/drawingml/2006/main">
            <a:off x="6705600" y="5581650"/>
            <a:ext cx="4000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950" b="1">
                <a:solidFill>
                  <a:srgbClr val="EEE9DD"/>
                </a:solidFill>
                <a:latin typeface="Aptos Display"/>
                <a:ea typeface="Aptos Display"/>
                <a:cs typeface="Aptos Display"/>
              </a:defRPr>
            </a:pPr>
            <a:r>
              <a:rPr sz="1950" b="1">
                <a:solidFill>
                  <a:srgbClr val="EEE9DD"/>
                </a:solidFill>
                <a:latin typeface="Aptos Display"/>
                <a:ea typeface="Aptos Display"/>
                <a:cs typeface="Aptos Display"/>
              </a:rPr>
              <a:t>The folder is the memory.</a:t>
            </a:r>
          </a:p>
          <a:p xmlns:a="http://schemas.openxmlformats.org/drawingml/2006/main">
            <a:pPr algn="r">
              <a:defRPr sz="1950" b="1">
                <a:solidFill>
                  <a:srgbClr val="EEE9DD"/>
                </a:solidFill>
                <a:latin typeface="Aptos Display"/>
                <a:ea typeface="Aptos Display"/>
                <a:cs typeface="Aptos Display"/>
              </a:defRPr>
            </a:pPr>
            <a:r>
              <a:rPr sz="1950" b="1">
                <a:solidFill>
                  <a:srgbClr val="EEE9DD"/>
                </a:solidFill>
                <a:latin typeface="Aptos Display"/>
                <a:ea typeface="Aptos Display"/>
                <a:cs typeface="Aptos Display"/>
              </a:rPr>
              <a:t>The prompt is just the trigger.</a:t>
            </a:r>
          </a:p>
        </p:txBody>
      </p:sp>
      <p:sp>
        <p:nvSpPr>
          <p:cNvPr id="19" name="">
            <a:extLst xmlns:a="http://schemas.openxmlformats.org/drawingml/2006/main">
              <a:ext uri="{FF2B5EF4-FFF2-40B4-BE49-F238E27FC236}">
                <a16:creationId xmlns:a16="http://schemas.microsoft.com/office/drawing/2014/main" id="{BF97B642-088C-4B46-821B-397430B9149A}"/>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DB018A13-7111-40DD-B2EC-D43D1C1D1954}"/>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1" name="">
            <a:extLst xmlns:a="http://schemas.openxmlformats.org/drawingml/2006/main">
              <a:ext uri="{FF2B5EF4-FFF2-40B4-BE49-F238E27FC236}">
                <a16:creationId xmlns:a16="http://schemas.microsoft.com/office/drawing/2014/main" id="{82F49F86-43A9-441A-8D21-CC1E715AE8F7}"/>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143278310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B95086-F1AD-4E05-8035-73679553A66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3760839-DF38-4C8B-9CD9-A5434916ABBD}"/>
              </a:ext>
            </a:extLst>
          </p:cNvPr>
          <p:cNvSpPr>
            <a:spLocks xmlns:a="http://schemas.openxmlformats.org/drawingml/2006/main" noGrp="1"/>
          </p:cNvSpPr>
          <p:nvPr/>
        </p:nvSpPr>
        <p:spPr>
          <a:xfrm xmlns:a="http://schemas.openxmlformats.org/drawingml/2006/main">
            <a:off x="609600" y="495300"/>
            <a:ext cx="1143000"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3D89C009-0384-4FDF-8E1C-0DE78CC0F9C7}"/>
              </a:ext>
            </a:extLst>
          </p:cNvPr>
          <p:cNvSpPr>
            <a:spLocks xmlns:a="http://schemas.openxmlformats.org/drawingml/2006/main" noGrp="1"/>
          </p:cNvSpPr>
          <p:nvPr/>
        </p:nvSpPr>
        <p:spPr>
          <a:xfrm xmlns:a="http://schemas.openxmlformats.org/drawingml/2006/main">
            <a:off x="781050" y="571500"/>
            <a:ext cx="800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CADENCE</a:t>
            </a:r>
          </a:p>
        </p:txBody>
      </p:sp>
      <p:sp>
        <p:nvSpPr>
          <p:cNvPr id="4" name="">
            <a:extLst xmlns:a="http://schemas.openxmlformats.org/drawingml/2006/main">
              <a:ext uri="{FF2B5EF4-FFF2-40B4-BE49-F238E27FC236}">
                <a16:creationId xmlns:a16="http://schemas.microsoft.com/office/drawing/2014/main" id="{8A2E2A38-6FEA-4310-A5EC-8739B9D1E9C8}"/>
              </a:ext>
            </a:extLst>
          </p:cNvPr>
          <p:cNvSpPr>
            <a:spLocks xmlns:a="http://schemas.openxmlformats.org/drawingml/2006/main" noGrp="1"/>
          </p:cNvSpPr>
          <p:nvPr/>
        </p:nvSpPr>
        <p:spPr>
          <a:xfrm xmlns:a="http://schemas.openxmlformats.org/drawingml/2006/main">
            <a:off x="609600" y="1047750"/>
            <a:ext cx="7810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800" b="1">
                <a:solidFill>
                  <a:srgbClr val="EEE9DD"/>
                </a:solidFill>
                <a:latin typeface="Aptos Display"/>
                <a:ea typeface="Aptos Display"/>
                <a:cs typeface="Aptos Display"/>
              </a:defRPr>
            </a:pPr>
            <a:r>
              <a:rPr sz="4800" b="1">
                <a:solidFill>
                  <a:srgbClr val="EEE9DD"/>
                </a:solidFill>
                <a:latin typeface="Aptos Display"/>
                <a:ea typeface="Aptos Display"/>
                <a:cs typeface="Aptos Display"/>
              </a:rPr>
              <a:t>One big idea per fortnight.</a:t>
            </a:r>
          </a:p>
        </p:txBody>
      </p:sp>
      <p:sp>
        <p:nvSpPr>
          <p:cNvPr id="5" name="">
            <a:extLst xmlns:a="http://schemas.openxmlformats.org/drawingml/2006/main">
              <a:ext uri="{FF2B5EF4-FFF2-40B4-BE49-F238E27FC236}">
                <a16:creationId xmlns:a16="http://schemas.microsoft.com/office/drawing/2014/main" id="{C33F0777-1291-40B3-9C92-A9CAD4CBCCCC}"/>
              </a:ext>
            </a:extLst>
          </p:cNvPr>
          <p:cNvSpPr>
            <a:spLocks xmlns:a="http://schemas.openxmlformats.org/drawingml/2006/main" noGrp="1"/>
          </p:cNvSpPr>
          <p:nvPr/>
        </p:nvSpPr>
        <p:spPr>
          <a:xfrm xmlns:a="http://schemas.openxmlformats.org/drawingml/2006/main">
            <a:off x="647700" y="2057400"/>
            <a:ext cx="7429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C2BFB5"/>
                </a:solidFill>
                <a:latin typeface="Aptos"/>
                <a:ea typeface="Aptos"/>
                <a:cs typeface="Aptos"/>
              </a:defRPr>
            </a:pPr>
            <a:r>
              <a:rPr sz="1725" b="0">
                <a:solidFill>
                  <a:srgbClr val="C2BFB5"/>
                </a:solidFill>
                <a:latin typeface="Aptos"/>
                <a:ea typeface="Aptos"/>
                <a:cs typeface="Aptos"/>
              </a:rPr>
              <a:t>You do not need five fresh ideas a week. You need one useful idea that can carry multiple formats.</a:t>
            </a:r>
          </a:p>
        </p:txBody>
      </p:sp>
      <p:sp>
        <p:nvSpPr>
          <p:cNvPr id="6" name="">
            <a:extLst xmlns:a="http://schemas.openxmlformats.org/drawingml/2006/main">
              <a:ext uri="{FF2B5EF4-FFF2-40B4-BE49-F238E27FC236}">
                <a16:creationId xmlns:a16="http://schemas.microsoft.com/office/drawing/2014/main" id="{F83EA5B0-ED51-49D3-B60A-DF7AFCC7BF32}"/>
              </a:ext>
            </a:extLst>
          </p:cNvPr>
          <p:cNvSpPr>
            <a:spLocks xmlns:a="http://schemas.openxmlformats.org/drawingml/2006/main" noGrp="1"/>
          </p:cNvSpPr>
          <p:nvPr/>
        </p:nvSpPr>
        <p:spPr>
          <a:xfrm xmlns:a="http://schemas.openxmlformats.org/drawingml/2006/main">
            <a:off x="838200" y="3257550"/>
            <a:ext cx="3143250" cy="13525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7" name="">
            <a:extLst xmlns:a="http://schemas.openxmlformats.org/drawingml/2006/main">
              <a:ext uri="{FF2B5EF4-FFF2-40B4-BE49-F238E27FC236}">
                <a16:creationId xmlns:a16="http://schemas.microsoft.com/office/drawing/2014/main" id="{63CAFBBB-DA27-40A9-8046-D667C1313C14}"/>
              </a:ext>
            </a:extLst>
          </p:cNvPr>
          <p:cNvSpPr>
            <a:spLocks xmlns:a="http://schemas.openxmlformats.org/drawingml/2006/main" noGrp="1"/>
          </p:cNvSpPr>
          <p:nvPr/>
        </p:nvSpPr>
        <p:spPr>
          <a:xfrm xmlns:a="http://schemas.openxmlformats.org/drawingml/2006/main">
            <a:off x="1028700" y="3429000"/>
            <a:ext cx="457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01</a:t>
            </a:r>
          </a:p>
        </p:txBody>
      </p:sp>
      <p:sp>
        <p:nvSpPr>
          <p:cNvPr id="8" name="">
            <a:extLst xmlns:a="http://schemas.openxmlformats.org/drawingml/2006/main">
              <a:ext uri="{FF2B5EF4-FFF2-40B4-BE49-F238E27FC236}">
                <a16:creationId xmlns:a16="http://schemas.microsoft.com/office/drawing/2014/main" id="{4FF011F0-18E3-4B97-A31C-B77A4D70DBBC}"/>
              </a:ext>
            </a:extLst>
          </p:cNvPr>
          <p:cNvSpPr>
            <a:spLocks xmlns:a="http://schemas.openxmlformats.org/drawingml/2006/main" noGrp="1"/>
          </p:cNvSpPr>
          <p:nvPr/>
        </p:nvSpPr>
        <p:spPr>
          <a:xfrm xmlns:a="http://schemas.openxmlformats.org/drawingml/2006/main">
            <a:off x="1524000" y="3419475"/>
            <a:ext cx="2228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EEE9DD"/>
                </a:solidFill>
                <a:latin typeface="Aptos Display"/>
                <a:ea typeface="Aptos Display"/>
                <a:cs typeface="Aptos Display"/>
              </a:defRPr>
            </a:pPr>
            <a:r>
              <a:rPr sz="1650" b="1">
                <a:solidFill>
                  <a:srgbClr val="EEE9DD"/>
                </a:solidFill>
                <a:latin typeface="Aptos Display"/>
                <a:ea typeface="Aptos Display"/>
                <a:cs typeface="Aptos Display"/>
              </a:rPr>
              <a:t>Capture</a:t>
            </a:r>
          </a:p>
        </p:txBody>
      </p:sp>
      <p:sp>
        <p:nvSpPr>
          <p:cNvPr id="9" name="">
            <a:extLst xmlns:a="http://schemas.openxmlformats.org/drawingml/2006/main">
              <a:ext uri="{FF2B5EF4-FFF2-40B4-BE49-F238E27FC236}">
                <a16:creationId xmlns:a16="http://schemas.microsoft.com/office/drawing/2014/main" id="{9E4E7241-3339-48A0-BFE1-FC02C013EAB6}"/>
              </a:ext>
            </a:extLst>
          </p:cNvPr>
          <p:cNvSpPr>
            <a:spLocks xmlns:a="http://schemas.openxmlformats.org/drawingml/2006/main" noGrp="1"/>
          </p:cNvSpPr>
          <p:nvPr/>
        </p:nvSpPr>
        <p:spPr>
          <a:xfrm xmlns:a="http://schemas.openxmlformats.org/drawingml/2006/main">
            <a:off x="1524000" y="3771900"/>
            <a:ext cx="22288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2BFB5"/>
                </a:solidFill>
                <a:latin typeface="Aptos"/>
                <a:ea typeface="Aptos"/>
                <a:cs typeface="Aptos"/>
              </a:defRPr>
            </a:pPr>
            <a:r>
              <a:rPr sz="1125" b="0">
                <a:solidFill>
                  <a:srgbClr val="C2BFB5"/>
                </a:solidFill>
                <a:latin typeface="Aptos"/>
                <a:ea typeface="Aptos"/>
                <a:cs typeface="Aptos"/>
              </a:rPr>
              <a:t>Collect raw ideas from work, calls, books, training, and real conversations.</a:t>
            </a:r>
          </a:p>
        </p:txBody>
      </p:sp>
      <p:sp>
        <p:nvSpPr>
          <p:cNvPr id="10" name="">
            <a:extLst xmlns:a="http://schemas.openxmlformats.org/drawingml/2006/main">
              <a:ext uri="{FF2B5EF4-FFF2-40B4-BE49-F238E27FC236}">
                <a16:creationId xmlns:a16="http://schemas.microsoft.com/office/drawing/2014/main" id="{6C80A047-7AB8-4048-AA38-C2008EC540F4}"/>
              </a:ext>
            </a:extLst>
          </p:cNvPr>
          <p:cNvSpPr>
            <a:spLocks xmlns:a="http://schemas.openxmlformats.org/drawingml/2006/main" noGrp="1"/>
          </p:cNvSpPr>
          <p:nvPr/>
        </p:nvSpPr>
        <p:spPr>
          <a:xfrm xmlns:a="http://schemas.openxmlformats.org/drawingml/2006/main">
            <a:off x="4524375" y="3257550"/>
            <a:ext cx="3143250" cy="13525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1" name="">
            <a:extLst xmlns:a="http://schemas.openxmlformats.org/drawingml/2006/main">
              <a:ext uri="{FF2B5EF4-FFF2-40B4-BE49-F238E27FC236}">
                <a16:creationId xmlns:a16="http://schemas.microsoft.com/office/drawing/2014/main" id="{53A05129-0677-48C1-A99B-9D4833ABEFF6}"/>
              </a:ext>
            </a:extLst>
          </p:cNvPr>
          <p:cNvSpPr>
            <a:spLocks xmlns:a="http://schemas.openxmlformats.org/drawingml/2006/main" noGrp="1"/>
          </p:cNvSpPr>
          <p:nvPr/>
        </p:nvSpPr>
        <p:spPr>
          <a:xfrm xmlns:a="http://schemas.openxmlformats.org/drawingml/2006/main">
            <a:off x="4714875" y="3429000"/>
            <a:ext cx="457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02</a:t>
            </a:r>
          </a:p>
        </p:txBody>
      </p:sp>
      <p:sp>
        <p:nvSpPr>
          <p:cNvPr id="12" name="">
            <a:extLst xmlns:a="http://schemas.openxmlformats.org/drawingml/2006/main">
              <a:ext uri="{FF2B5EF4-FFF2-40B4-BE49-F238E27FC236}">
                <a16:creationId xmlns:a16="http://schemas.microsoft.com/office/drawing/2014/main" id="{CAB8B9A7-A706-4498-B44F-FA20043C1542}"/>
              </a:ext>
            </a:extLst>
          </p:cNvPr>
          <p:cNvSpPr>
            <a:spLocks xmlns:a="http://schemas.openxmlformats.org/drawingml/2006/main" noGrp="1"/>
          </p:cNvSpPr>
          <p:nvPr/>
        </p:nvSpPr>
        <p:spPr>
          <a:xfrm xmlns:a="http://schemas.openxmlformats.org/drawingml/2006/main">
            <a:off x="5210175" y="3419475"/>
            <a:ext cx="2228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EEE9DD"/>
                </a:solidFill>
                <a:latin typeface="Aptos Display"/>
                <a:ea typeface="Aptos Display"/>
                <a:cs typeface="Aptos Display"/>
              </a:defRPr>
            </a:pPr>
            <a:r>
              <a:rPr sz="1650" b="1">
                <a:solidFill>
                  <a:srgbClr val="EEE9DD"/>
                </a:solidFill>
                <a:latin typeface="Aptos Display"/>
                <a:ea typeface="Aptos Display"/>
                <a:cs typeface="Aptos Display"/>
              </a:rPr>
              <a:t>Promote</a:t>
            </a:r>
          </a:p>
        </p:txBody>
      </p:sp>
      <p:sp>
        <p:nvSpPr>
          <p:cNvPr id="13" name="">
            <a:extLst xmlns:a="http://schemas.openxmlformats.org/drawingml/2006/main">
              <a:ext uri="{FF2B5EF4-FFF2-40B4-BE49-F238E27FC236}">
                <a16:creationId xmlns:a16="http://schemas.microsoft.com/office/drawing/2014/main" id="{330959B8-98C6-4F07-92BB-EC8504FC8CFA}"/>
              </a:ext>
            </a:extLst>
          </p:cNvPr>
          <p:cNvSpPr>
            <a:spLocks xmlns:a="http://schemas.openxmlformats.org/drawingml/2006/main" noGrp="1"/>
          </p:cNvSpPr>
          <p:nvPr/>
        </p:nvSpPr>
        <p:spPr>
          <a:xfrm xmlns:a="http://schemas.openxmlformats.org/drawingml/2006/main">
            <a:off x="5210175" y="3771900"/>
            <a:ext cx="22288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2BFB5"/>
                </a:solidFill>
                <a:latin typeface="Aptos"/>
                <a:ea typeface="Aptos"/>
                <a:cs typeface="Aptos"/>
              </a:defRPr>
            </a:pPr>
            <a:r>
              <a:rPr sz="1125" b="0">
                <a:solidFill>
                  <a:srgbClr val="C2BFB5"/>
                </a:solidFill>
                <a:latin typeface="Aptos"/>
                <a:ea typeface="Aptos"/>
                <a:cs typeface="Aptos"/>
              </a:rPr>
              <a:t>Pick one idea with enough tension to become more than a caption.</a:t>
            </a:r>
          </a:p>
        </p:txBody>
      </p:sp>
      <p:sp>
        <p:nvSpPr>
          <p:cNvPr id="14" name="">
            <a:extLst xmlns:a="http://schemas.openxmlformats.org/drawingml/2006/main">
              <a:ext uri="{FF2B5EF4-FFF2-40B4-BE49-F238E27FC236}">
                <a16:creationId xmlns:a16="http://schemas.microsoft.com/office/drawing/2014/main" id="{9C74873A-D6B4-475C-8258-123B2A0DB5AA}"/>
              </a:ext>
            </a:extLst>
          </p:cNvPr>
          <p:cNvSpPr>
            <a:spLocks xmlns:a="http://schemas.openxmlformats.org/drawingml/2006/main" noGrp="1"/>
          </p:cNvSpPr>
          <p:nvPr/>
        </p:nvSpPr>
        <p:spPr>
          <a:xfrm xmlns:a="http://schemas.openxmlformats.org/drawingml/2006/main">
            <a:off x="8210550" y="3257550"/>
            <a:ext cx="3143250" cy="13525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5" name="">
            <a:extLst xmlns:a="http://schemas.openxmlformats.org/drawingml/2006/main">
              <a:ext uri="{FF2B5EF4-FFF2-40B4-BE49-F238E27FC236}">
                <a16:creationId xmlns:a16="http://schemas.microsoft.com/office/drawing/2014/main" id="{999B97B9-6CF7-4A58-8D9B-DEBD9A2BF048}"/>
              </a:ext>
            </a:extLst>
          </p:cNvPr>
          <p:cNvSpPr>
            <a:spLocks xmlns:a="http://schemas.openxmlformats.org/drawingml/2006/main" noGrp="1"/>
          </p:cNvSpPr>
          <p:nvPr/>
        </p:nvSpPr>
        <p:spPr>
          <a:xfrm xmlns:a="http://schemas.openxmlformats.org/drawingml/2006/main">
            <a:off x="8401050" y="3429000"/>
            <a:ext cx="457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03</a:t>
            </a:r>
          </a:p>
        </p:txBody>
      </p:sp>
      <p:sp>
        <p:nvSpPr>
          <p:cNvPr id="16" name="">
            <a:extLst xmlns:a="http://schemas.openxmlformats.org/drawingml/2006/main">
              <a:ext uri="{FF2B5EF4-FFF2-40B4-BE49-F238E27FC236}">
                <a16:creationId xmlns:a16="http://schemas.microsoft.com/office/drawing/2014/main" id="{65D4E81C-D585-4892-BA58-46FAF59F052F}"/>
              </a:ext>
            </a:extLst>
          </p:cNvPr>
          <p:cNvSpPr>
            <a:spLocks xmlns:a="http://schemas.openxmlformats.org/drawingml/2006/main" noGrp="1"/>
          </p:cNvSpPr>
          <p:nvPr/>
        </p:nvSpPr>
        <p:spPr>
          <a:xfrm xmlns:a="http://schemas.openxmlformats.org/drawingml/2006/main">
            <a:off x="8896350" y="3419475"/>
            <a:ext cx="22288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EEE9DD"/>
                </a:solidFill>
                <a:latin typeface="Aptos Display"/>
                <a:ea typeface="Aptos Display"/>
                <a:cs typeface="Aptos Display"/>
              </a:defRPr>
            </a:pPr>
            <a:r>
              <a:rPr sz="1650" b="1">
                <a:solidFill>
                  <a:srgbClr val="EEE9DD"/>
                </a:solidFill>
                <a:latin typeface="Aptos Display"/>
                <a:ea typeface="Aptos Display"/>
                <a:cs typeface="Aptos Display"/>
              </a:rPr>
              <a:t>Cascade</a:t>
            </a:r>
          </a:p>
        </p:txBody>
      </p:sp>
      <p:sp>
        <p:nvSpPr>
          <p:cNvPr id="17" name="">
            <a:extLst xmlns:a="http://schemas.openxmlformats.org/drawingml/2006/main">
              <a:ext uri="{FF2B5EF4-FFF2-40B4-BE49-F238E27FC236}">
                <a16:creationId xmlns:a16="http://schemas.microsoft.com/office/drawing/2014/main" id="{F7CF636F-6E42-4948-A1F0-32F49B24AAEF}"/>
              </a:ext>
            </a:extLst>
          </p:cNvPr>
          <p:cNvSpPr>
            <a:spLocks xmlns:a="http://schemas.openxmlformats.org/drawingml/2006/main" noGrp="1"/>
          </p:cNvSpPr>
          <p:nvPr/>
        </p:nvSpPr>
        <p:spPr>
          <a:xfrm xmlns:a="http://schemas.openxmlformats.org/drawingml/2006/main">
            <a:off x="8896350" y="3771900"/>
            <a:ext cx="22288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2BFB5"/>
                </a:solidFill>
                <a:latin typeface="Aptos"/>
                <a:ea typeface="Aptos"/>
                <a:cs typeface="Aptos"/>
              </a:defRPr>
            </a:pPr>
            <a:r>
              <a:rPr sz="1125" b="0">
                <a:solidFill>
                  <a:srgbClr val="C2BFB5"/>
                </a:solidFill>
                <a:latin typeface="Aptos"/>
                <a:ea typeface="Aptos"/>
                <a:cs typeface="Aptos"/>
              </a:rPr>
              <a:t>Turn the idea into essay, script, reel, LinkedIn post, and X thread drafts.</a:t>
            </a:r>
          </a:p>
        </p:txBody>
      </p:sp>
      <p:sp>
        <p:nvSpPr>
          <p:cNvPr id="18" name="">
            <a:extLst xmlns:a="http://schemas.openxmlformats.org/drawingml/2006/main">
              <a:ext uri="{FF2B5EF4-FFF2-40B4-BE49-F238E27FC236}">
                <a16:creationId xmlns:a16="http://schemas.microsoft.com/office/drawing/2014/main" id="{42A8CB9E-1AD1-4472-86DE-FAF1641E9A07}"/>
              </a:ext>
            </a:extLst>
          </p:cNvPr>
          <p:cNvSpPr>
            <a:spLocks xmlns:a="http://schemas.openxmlformats.org/drawingml/2006/main" noGrp="1"/>
          </p:cNvSpPr>
          <p:nvPr/>
        </p:nvSpPr>
        <p:spPr>
          <a:xfrm xmlns:a="http://schemas.openxmlformats.org/drawingml/2006/main">
            <a:off x="1543050" y="5353050"/>
            <a:ext cx="91059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EEE9DD"/>
                </a:solidFill>
                <a:latin typeface="Aptos Display"/>
                <a:ea typeface="Aptos Display"/>
                <a:cs typeface="Aptos Display"/>
              </a:defRPr>
            </a:pPr>
            <a:r>
              <a:rPr sz="2100" b="1">
                <a:solidFill>
                  <a:srgbClr val="EEE9DD"/>
                </a:solidFill>
                <a:latin typeface="Aptos Display"/>
                <a:ea typeface="Aptos Display"/>
                <a:cs typeface="Aptos Display"/>
              </a:rPr>
              <a:t>The rhythm protects your taste. It stops the algorithm becoming your creative director.</a:t>
            </a:r>
          </a:p>
        </p:txBody>
      </p:sp>
      <p:sp>
        <p:nvSpPr>
          <p:cNvPr id="19" name="">
            <a:extLst xmlns:a="http://schemas.openxmlformats.org/drawingml/2006/main">
              <a:ext uri="{FF2B5EF4-FFF2-40B4-BE49-F238E27FC236}">
                <a16:creationId xmlns:a16="http://schemas.microsoft.com/office/drawing/2014/main" id="{EA991B66-DC62-4392-A767-B28CBD5C6C8D}"/>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6A8AC42-1F79-4C01-BA3F-4EBDBE1376EE}"/>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1" name="">
            <a:extLst xmlns:a="http://schemas.openxmlformats.org/drawingml/2006/main">
              <a:ext uri="{FF2B5EF4-FFF2-40B4-BE49-F238E27FC236}">
                <a16:creationId xmlns:a16="http://schemas.microsoft.com/office/drawing/2014/main" id="{065D44C3-9AEA-4A30-BE41-665EAD5C02B7}"/>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1563087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73DFE9-74A6-4A99-AD31-5857A45183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37FE709-7156-43E8-A8FB-E71CF2641436}"/>
              </a:ext>
            </a:extLst>
          </p:cNvPr>
          <p:cNvSpPr>
            <a:spLocks xmlns:a="http://schemas.openxmlformats.org/drawingml/2006/main" noGrp="1"/>
          </p:cNvSpPr>
          <p:nvPr/>
        </p:nvSpPr>
        <p:spPr>
          <a:xfrm xmlns:a="http://schemas.openxmlformats.org/drawingml/2006/main">
            <a:off x="609600" y="495300"/>
            <a:ext cx="1143000"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18FF49B1-F9EF-475F-8C26-FCEBB87A9185}"/>
              </a:ext>
            </a:extLst>
          </p:cNvPr>
          <p:cNvSpPr>
            <a:spLocks xmlns:a="http://schemas.openxmlformats.org/drawingml/2006/main" noGrp="1"/>
          </p:cNvSpPr>
          <p:nvPr/>
        </p:nvSpPr>
        <p:spPr>
          <a:xfrm xmlns:a="http://schemas.openxmlformats.org/drawingml/2006/main">
            <a:off x="781050" y="571500"/>
            <a:ext cx="800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CASCADE</a:t>
            </a:r>
          </a:p>
        </p:txBody>
      </p:sp>
      <p:sp>
        <p:nvSpPr>
          <p:cNvPr id="4" name="">
            <a:extLst xmlns:a="http://schemas.openxmlformats.org/drawingml/2006/main">
              <a:ext uri="{FF2B5EF4-FFF2-40B4-BE49-F238E27FC236}">
                <a16:creationId xmlns:a16="http://schemas.microsoft.com/office/drawing/2014/main" id="{B627EF36-05F2-43BE-9EF7-08CBAA9D5BC4}"/>
              </a:ext>
            </a:extLst>
          </p:cNvPr>
          <p:cNvSpPr>
            <a:spLocks xmlns:a="http://schemas.openxmlformats.org/drawingml/2006/main" noGrp="1"/>
          </p:cNvSpPr>
          <p:nvPr/>
        </p:nvSpPr>
        <p:spPr>
          <a:xfrm xmlns:a="http://schemas.openxmlformats.org/drawingml/2006/main">
            <a:off x="609600" y="1028700"/>
            <a:ext cx="74295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500" b="1">
                <a:solidFill>
                  <a:srgbClr val="EEE9DD"/>
                </a:solidFill>
                <a:latin typeface="Aptos Display"/>
                <a:ea typeface="Aptos Display"/>
                <a:cs typeface="Aptos Display"/>
              </a:defRPr>
            </a:pPr>
            <a:r>
              <a:rPr sz="4500" b="1">
                <a:solidFill>
                  <a:srgbClr val="EEE9DD"/>
                </a:solidFill>
                <a:latin typeface="Aptos Display"/>
                <a:ea typeface="Aptos Display"/>
                <a:cs typeface="Aptos Display"/>
              </a:rPr>
              <a:t>One idea becomes five drafts.</a:t>
            </a:r>
          </a:p>
        </p:txBody>
      </p:sp>
      <p:sp>
        <p:nvSpPr>
          <p:cNvPr id="5" name="">
            <a:extLst xmlns:a="http://schemas.openxmlformats.org/drawingml/2006/main">
              <a:ext uri="{FF2B5EF4-FFF2-40B4-BE49-F238E27FC236}">
                <a16:creationId xmlns:a16="http://schemas.microsoft.com/office/drawing/2014/main" id="{4B2CE9F0-3977-4624-9535-961306BAC702}"/>
              </a:ext>
            </a:extLst>
          </p:cNvPr>
          <p:cNvSpPr>
            <a:spLocks xmlns:a="http://schemas.openxmlformats.org/drawingml/2006/main" noGrp="1"/>
          </p:cNvSpPr>
          <p:nvPr/>
        </p:nvSpPr>
        <p:spPr>
          <a:xfrm xmlns:a="http://schemas.openxmlformats.org/drawingml/2006/main">
            <a:off x="3714750" y="2552700"/>
            <a:ext cx="2857500" cy="7048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E10DDB8-C913-4708-8227-7806E88AAB06}"/>
              </a:ext>
            </a:extLst>
          </p:cNvPr>
          <p:cNvSpPr>
            <a:spLocks xmlns:a="http://schemas.openxmlformats.org/drawingml/2006/main" noGrp="1"/>
          </p:cNvSpPr>
          <p:nvPr/>
        </p:nvSpPr>
        <p:spPr>
          <a:xfrm xmlns:a="http://schemas.openxmlformats.org/drawingml/2006/main">
            <a:off x="3905250" y="278130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C1F1A"/>
                </a:solidFill>
                <a:latin typeface="Aptos Display"/>
                <a:ea typeface="Aptos Display"/>
                <a:cs typeface="Aptos Display"/>
              </a:defRPr>
            </a:pPr>
            <a:r>
              <a:rPr sz="1800" b="1">
                <a:solidFill>
                  <a:srgbClr val="1C1F1A"/>
                </a:solidFill>
                <a:latin typeface="Aptos Display"/>
                <a:ea typeface="Aptos Display"/>
                <a:cs typeface="Aptos Display"/>
              </a:rPr>
              <a:t>Idea of the fortnight</a:t>
            </a:r>
          </a:p>
        </p:txBody>
      </p:sp>
      <p:sp>
        <p:nvSpPr>
          <p:cNvPr id="7" name="">
            <a:extLst xmlns:a="http://schemas.openxmlformats.org/drawingml/2006/main">
              <a:ext uri="{FF2B5EF4-FFF2-40B4-BE49-F238E27FC236}">
                <a16:creationId xmlns:a16="http://schemas.microsoft.com/office/drawing/2014/main" id="{88834A75-8597-4C72-B52D-27C858C64608}"/>
              </a:ext>
            </a:extLst>
          </p:cNvPr>
          <p:cNvSpPr>
            <a:spLocks xmlns:a="http://schemas.openxmlformats.org/drawingml/2006/main" noGrp="1"/>
          </p:cNvSpPr>
          <p:nvPr/>
        </p:nvSpPr>
        <p:spPr>
          <a:xfrm xmlns:a="http://schemas.openxmlformats.org/drawingml/2006/main">
            <a:off x="857250" y="4095750"/>
            <a:ext cx="1809750" cy="7048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8" name="">
            <a:extLst xmlns:a="http://schemas.openxmlformats.org/drawingml/2006/main">
              <a:ext uri="{FF2B5EF4-FFF2-40B4-BE49-F238E27FC236}">
                <a16:creationId xmlns:a16="http://schemas.microsoft.com/office/drawing/2014/main" id="{7C810A5B-16C2-400D-BFC8-D79E49DE6C7E}"/>
              </a:ext>
            </a:extLst>
          </p:cNvPr>
          <p:cNvSpPr>
            <a:spLocks xmlns:a="http://schemas.openxmlformats.org/drawingml/2006/main" noGrp="1"/>
          </p:cNvSpPr>
          <p:nvPr/>
        </p:nvSpPr>
        <p:spPr>
          <a:xfrm xmlns:a="http://schemas.openxmlformats.org/drawingml/2006/main">
            <a:off x="1009650" y="4314825"/>
            <a:ext cx="1504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EEE9DD"/>
                </a:solidFill>
                <a:latin typeface="Aptos Display"/>
                <a:ea typeface="Aptos Display"/>
                <a:cs typeface="Aptos Display"/>
              </a:defRPr>
            </a:pPr>
            <a:r>
              <a:rPr sz="1500" b="1">
                <a:solidFill>
                  <a:srgbClr val="EEE9DD"/>
                </a:solidFill>
                <a:latin typeface="Aptos Display"/>
                <a:ea typeface="Aptos Display"/>
                <a:cs typeface="Aptos Display"/>
              </a:rPr>
              <a:t>Substack essay</a:t>
            </a:r>
          </a:p>
        </p:txBody>
      </p:sp>
      <p:sp>
        <p:nvSpPr>
          <p:cNvPr id="9" name="">
            <a:extLst xmlns:a="http://schemas.openxmlformats.org/drawingml/2006/main">
              <a:ext uri="{FF2B5EF4-FFF2-40B4-BE49-F238E27FC236}">
                <a16:creationId xmlns:a16="http://schemas.microsoft.com/office/drawing/2014/main" id="{71B82AB3-AE19-4B56-A875-2CEC20D1D44C}"/>
              </a:ext>
            </a:extLst>
          </p:cNvPr>
          <p:cNvSpPr>
            <a:spLocks xmlns:a="http://schemas.openxmlformats.org/drawingml/2006/main" noGrp="1"/>
          </p:cNvSpPr>
          <p:nvPr/>
        </p:nvSpPr>
        <p:spPr>
          <a:xfrm xmlns:a="http://schemas.openxmlformats.org/drawingml/2006/main">
            <a:off x="1762125" y="3333750"/>
            <a:ext cx="3381375" cy="1905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CA81710-F304-4C28-8CEE-8D8AF54778D8}"/>
              </a:ext>
            </a:extLst>
          </p:cNvPr>
          <p:cNvSpPr>
            <a:spLocks xmlns:a="http://schemas.openxmlformats.org/drawingml/2006/main" noGrp="1"/>
          </p:cNvSpPr>
          <p:nvPr/>
        </p:nvSpPr>
        <p:spPr>
          <a:xfrm xmlns:a="http://schemas.openxmlformats.org/drawingml/2006/main">
            <a:off x="1752600" y="3333750"/>
            <a:ext cx="19050" cy="76200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81E9DC4-EB11-49EB-9963-F2A9DFDF8A4D}"/>
              </a:ext>
            </a:extLst>
          </p:cNvPr>
          <p:cNvSpPr>
            <a:spLocks xmlns:a="http://schemas.openxmlformats.org/drawingml/2006/main" noGrp="1"/>
          </p:cNvSpPr>
          <p:nvPr/>
        </p:nvSpPr>
        <p:spPr>
          <a:xfrm xmlns:a="http://schemas.openxmlformats.org/drawingml/2006/main">
            <a:off x="3000375" y="4857750"/>
            <a:ext cx="1809750" cy="7048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2" name="">
            <a:extLst xmlns:a="http://schemas.openxmlformats.org/drawingml/2006/main">
              <a:ext uri="{FF2B5EF4-FFF2-40B4-BE49-F238E27FC236}">
                <a16:creationId xmlns:a16="http://schemas.microsoft.com/office/drawing/2014/main" id="{75929698-9342-4B21-B5B7-BD9253E38140}"/>
              </a:ext>
            </a:extLst>
          </p:cNvPr>
          <p:cNvSpPr>
            <a:spLocks xmlns:a="http://schemas.openxmlformats.org/drawingml/2006/main" noGrp="1"/>
          </p:cNvSpPr>
          <p:nvPr/>
        </p:nvSpPr>
        <p:spPr>
          <a:xfrm xmlns:a="http://schemas.openxmlformats.org/drawingml/2006/main">
            <a:off x="3152775" y="5076825"/>
            <a:ext cx="1504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EEE9DD"/>
                </a:solidFill>
                <a:latin typeface="Aptos Display"/>
                <a:ea typeface="Aptos Display"/>
                <a:cs typeface="Aptos Display"/>
              </a:defRPr>
            </a:pPr>
            <a:r>
              <a:rPr sz="1500" b="1">
                <a:solidFill>
                  <a:srgbClr val="EEE9DD"/>
                </a:solidFill>
                <a:latin typeface="Aptos Display"/>
                <a:ea typeface="Aptos Display"/>
                <a:cs typeface="Aptos Display"/>
              </a:rPr>
              <a:t>Cinematic script</a:t>
            </a:r>
          </a:p>
        </p:txBody>
      </p:sp>
      <p:sp>
        <p:nvSpPr>
          <p:cNvPr id="13" name="">
            <a:extLst xmlns:a="http://schemas.openxmlformats.org/drawingml/2006/main">
              <a:ext uri="{FF2B5EF4-FFF2-40B4-BE49-F238E27FC236}">
                <a16:creationId xmlns:a16="http://schemas.microsoft.com/office/drawing/2014/main" id="{39627011-5FA8-4969-B03B-07BE68D6BC36}"/>
              </a:ext>
            </a:extLst>
          </p:cNvPr>
          <p:cNvSpPr>
            <a:spLocks xmlns:a="http://schemas.openxmlformats.org/drawingml/2006/main" noGrp="1"/>
          </p:cNvSpPr>
          <p:nvPr/>
        </p:nvSpPr>
        <p:spPr>
          <a:xfrm xmlns:a="http://schemas.openxmlformats.org/drawingml/2006/main">
            <a:off x="3905250" y="3333750"/>
            <a:ext cx="1238250" cy="1905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F0380AD-7FA5-414E-8C83-0073FA9D37B4}"/>
              </a:ext>
            </a:extLst>
          </p:cNvPr>
          <p:cNvSpPr>
            <a:spLocks xmlns:a="http://schemas.openxmlformats.org/drawingml/2006/main" noGrp="1"/>
          </p:cNvSpPr>
          <p:nvPr/>
        </p:nvSpPr>
        <p:spPr>
          <a:xfrm xmlns:a="http://schemas.openxmlformats.org/drawingml/2006/main">
            <a:off x="3895725" y="3333750"/>
            <a:ext cx="19050" cy="152400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C951EB10-1E08-4F33-A4B5-6D4DCDAF71E0}"/>
              </a:ext>
            </a:extLst>
          </p:cNvPr>
          <p:cNvSpPr>
            <a:spLocks xmlns:a="http://schemas.openxmlformats.org/drawingml/2006/main" noGrp="1"/>
          </p:cNvSpPr>
          <p:nvPr/>
        </p:nvSpPr>
        <p:spPr>
          <a:xfrm xmlns:a="http://schemas.openxmlformats.org/drawingml/2006/main">
            <a:off x="5143500" y="4095750"/>
            <a:ext cx="1809750" cy="7048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6" name="">
            <a:extLst xmlns:a="http://schemas.openxmlformats.org/drawingml/2006/main">
              <a:ext uri="{FF2B5EF4-FFF2-40B4-BE49-F238E27FC236}">
                <a16:creationId xmlns:a16="http://schemas.microsoft.com/office/drawing/2014/main" id="{92A30F49-1283-4203-8073-1B64CD7B0059}"/>
              </a:ext>
            </a:extLst>
          </p:cNvPr>
          <p:cNvSpPr>
            <a:spLocks xmlns:a="http://schemas.openxmlformats.org/drawingml/2006/main" noGrp="1"/>
          </p:cNvSpPr>
          <p:nvPr/>
        </p:nvSpPr>
        <p:spPr>
          <a:xfrm xmlns:a="http://schemas.openxmlformats.org/drawingml/2006/main">
            <a:off x="5295900" y="4314825"/>
            <a:ext cx="1504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EEE9DD"/>
                </a:solidFill>
                <a:latin typeface="Aptos Display"/>
                <a:ea typeface="Aptos Display"/>
                <a:cs typeface="Aptos Display"/>
              </a:defRPr>
            </a:pPr>
            <a:r>
              <a:rPr sz="1500" b="1">
                <a:solidFill>
                  <a:srgbClr val="EEE9DD"/>
                </a:solidFill>
                <a:latin typeface="Aptos Display"/>
                <a:ea typeface="Aptos Display"/>
                <a:cs typeface="Aptos Display"/>
              </a:rPr>
              <a:t>Field-note reel</a:t>
            </a:r>
          </a:p>
        </p:txBody>
      </p:sp>
      <p:sp>
        <p:nvSpPr>
          <p:cNvPr id="17" name="">
            <a:extLst xmlns:a="http://schemas.openxmlformats.org/drawingml/2006/main">
              <a:ext uri="{FF2B5EF4-FFF2-40B4-BE49-F238E27FC236}">
                <a16:creationId xmlns:a16="http://schemas.microsoft.com/office/drawing/2014/main" id="{405742E8-A8CB-400E-917A-82E69742DC67}"/>
              </a:ext>
            </a:extLst>
          </p:cNvPr>
          <p:cNvSpPr>
            <a:spLocks xmlns:a="http://schemas.openxmlformats.org/drawingml/2006/main" noGrp="1"/>
          </p:cNvSpPr>
          <p:nvPr/>
        </p:nvSpPr>
        <p:spPr>
          <a:xfrm xmlns:a="http://schemas.openxmlformats.org/drawingml/2006/main">
            <a:off x="5143500" y="3333750"/>
            <a:ext cx="904875" cy="1905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30FF3AB-754B-4173-979B-00A5EC0877BE}"/>
              </a:ext>
            </a:extLst>
          </p:cNvPr>
          <p:cNvSpPr>
            <a:spLocks xmlns:a="http://schemas.openxmlformats.org/drawingml/2006/main" noGrp="1"/>
          </p:cNvSpPr>
          <p:nvPr/>
        </p:nvSpPr>
        <p:spPr>
          <a:xfrm xmlns:a="http://schemas.openxmlformats.org/drawingml/2006/main">
            <a:off x="6038850" y="3333750"/>
            <a:ext cx="19050" cy="76200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D16C0FD-A882-4342-8C8D-42A7F3302690}"/>
              </a:ext>
            </a:extLst>
          </p:cNvPr>
          <p:cNvSpPr>
            <a:spLocks xmlns:a="http://schemas.openxmlformats.org/drawingml/2006/main" noGrp="1"/>
          </p:cNvSpPr>
          <p:nvPr/>
        </p:nvSpPr>
        <p:spPr>
          <a:xfrm xmlns:a="http://schemas.openxmlformats.org/drawingml/2006/main">
            <a:off x="7286625" y="4857750"/>
            <a:ext cx="1809750" cy="7048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20" name="">
            <a:extLst xmlns:a="http://schemas.openxmlformats.org/drawingml/2006/main">
              <a:ext uri="{FF2B5EF4-FFF2-40B4-BE49-F238E27FC236}">
                <a16:creationId xmlns:a16="http://schemas.microsoft.com/office/drawing/2014/main" id="{E812CD5A-8BF6-406F-BCFC-11AB30E890BF}"/>
              </a:ext>
            </a:extLst>
          </p:cNvPr>
          <p:cNvSpPr>
            <a:spLocks xmlns:a="http://schemas.openxmlformats.org/drawingml/2006/main" noGrp="1"/>
          </p:cNvSpPr>
          <p:nvPr/>
        </p:nvSpPr>
        <p:spPr>
          <a:xfrm xmlns:a="http://schemas.openxmlformats.org/drawingml/2006/main">
            <a:off x="7439025" y="5076825"/>
            <a:ext cx="1504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EEE9DD"/>
                </a:solidFill>
                <a:latin typeface="Aptos Display"/>
                <a:ea typeface="Aptos Display"/>
                <a:cs typeface="Aptos Display"/>
              </a:defRPr>
            </a:pPr>
            <a:r>
              <a:rPr sz="1500" b="1">
                <a:solidFill>
                  <a:srgbClr val="EEE9DD"/>
                </a:solidFill>
                <a:latin typeface="Aptos Display"/>
                <a:ea typeface="Aptos Display"/>
                <a:cs typeface="Aptos Display"/>
              </a:rPr>
              <a:t>LinkedIn editorial</a:t>
            </a:r>
          </a:p>
        </p:txBody>
      </p:sp>
      <p:sp>
        <p:nvSpPr>
          <p:cNvPr id="21" name="">
            <a:extLst xmlns:a="http://schemas.openxmlformats.org/drawingml/2006/main">
              <a:ext uri="{FF2B5EF4-FFF2-40B4-BE49-F238E27FC236}">
                <a16:creationId xmlns:a16="http://schemas.microsoft.com/office/drawing/2014/main" id="{CD623E56-0DC1-448A-8664-60E8A6460A66}"/>
              </a:ext>
            </a:extLst>
          </p:cNvPr>
          <p:cNvSpPr>
            <a:spLocks xmlns:a="http://schemas.openxmlformats.org/drawingml/2006/main" noGrp="1"/>
          </p:cNvSpPr>
          <p:nvPr/>
        </p:nvSpPr>
        <p:spPr>
          <a:xfrm xmlns:a="http://schemas.openxmlformats.org/drawingml/2006/main">
            <a:off x="5143500" y="3333750"/>
            <a:ext cx="3048000" cy="1905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1C326787-FBD0-4C62-A400-8FE4C40E4DF9}"/>
              </a:ext>
            </a:extLst>
          </p:cNvPr>
          <p:cNvSpPr>
            <a:spLocks xmlns:a="http://schemas.openxmlformats.org/drawingml/2006/main" noGrp="1"/>
          </p:cNvSpPr>
          <p:nvPr/>
        </p:nvSpPr>
        <p:spPr>
          <a:xfrm xmlns:a="http://schemas.openxmlformats.org/drawingml/2006/main">
            <a:off x="8181975" y="3333750"/>
            <a:ext cx="19050" cy="152400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834785F9-7E11-4FF1-AF7C-D863752F42C6}"/>
              </a:ext>
            </a:extLst>
          </p:cNvPr>
          <p:cNvSpPr>
            <a:spLocks xmlns:a="http://schemas.openxmlformats.org/drawingml/2006/main" noGrp="1"/>
          </p:cNvSpPr>
          <p:nvPr/>
        </p:nvSpPr>
        <p:spPr>
          <a:xfrm xmlns:a="http://schemas.openxmlformats.org/drawingml/2006/main">
            <a:off x="9429750" y="4095750"/>
            <a:ext cx="1809750" cy="7048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24" name="">
            <a:extLst xmlns:a="http://schemas.openxmlformats.org/drawingml/2006/main">
              <a:ext uri="{FF2B5EF4-FFF2-40B4-BE49-F238E27FC236}">
                <a16:creationId xmlns:a16="http://schemas.microsoft.com/office/drawing/2014/main" id="{A95D43D2-DF31-4935-9324-55E3DFB6FCA5}"/>
              </a:ext>
            </a:extLst>
          </p:cNvPr>
          <p:cNvSpPr>
            <a:spLocks xmlns:a="http://schemas.openxmlformats.org/drawingml/2006/main" noGrp="1"/>
          </p:cNvSpPr>
          <p:nvPr/>
        </p:nvSpPr>
        <p:spPr>
          <a:xfrm xmlns:a="http://schemas.openxmlformats.org/drawingml/2006/main">
            <a:off x="9582150" y="4314825"/>
            <a:ext cx="1504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EEE9DD"/>
                </a:solidFill>
                <a:latin typeface="Aptos Display"/>
                <a:ea typeface="Aptos Display"/>
                <a:cs typeface="Aptos Display"/>
              </a:defRPr>
            </a:pPr>
            <a:r>
              <a:rPr sz="1500" b="1">
                <a:solidFill>
                  <a:srgbClr val="EEE9DD"/>
                </a:solidFill>
                <a:latin typeface="Aptos Display"/>
                <a:ea typeface="Aptos Display"/>
                <a:cs typeface="Aptos Display"/>
              </a:rPr>
              <a:t>X thread</a:t>
            </a:r>
          </a:p>
        </p:txBody>
      </p:sp>
      <p:sp>
        <p:nvSpPr>
          <p:cNvPr id="25" name="">
            <a:extLst xmlns:a="http://schemas.openxmlformats.org/drawingml/2006/main">
              <a:ext uri="{FF2B5EF4-FFF2-40B4-BE49-F238E27FC236}">
                <a16:creationId xmlns:a16="http://schemas.microsoft.com/office/drawing/2014/main" id="{8530EA57-093E-4CA7-B86B-F30EAD14D8A7}"/>
              </a:ext>
            </a:extLst>
          </p:cNvPr>
          <p:cNvSpPr>
            <a:spLocks xmlns:a="http://schemas.openxmlformats.org/drawingml/2006/main" noGrp="1"/>
          </p:cNvSpPr>
          <p:nvPr/>
        </p:nvSpPr>
        <p:spPr>
          <a:xfrm xmlns:a="http://schemas.openxmlformats.org/drawingml/2006/main">
            <a:off x="5143500" y="3333750"/>
            <a:ext cx="5191125" cy="1905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195A3C44-117F-4D66-BF8D-F8A97327DF32}"/>
              </a:ext>
            </a:extLst>
          </p:cNvPr>
          <p:cNvSpPr>
            <a:spLocks xmlns:a="http://schemas.openxmlformats.org/drawingml/2006/main" noGrp="1"/>
          </p:cNvSpPr>
          <p:nvPr/>
        </p:nvSpPr>
        <p:spPr>
          <a:xfrm xmlns:a="http://schemas.openxmlformats.org/drawingml/2006/main">
            <a:off x="10325100" y="3333750"/>
            <a:ext cx="19050" cy="76200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34D187E8-6306-44E9-934F-D99A545B3B2F}"/>
              </a:ext>
            </a:extLst>
          </p:cNvPr>
          <p:cNvSpPr>
            <a:spLocks xmlns:a="http://schemas.openxmlformats.org/drawingml/2006/main" noGrp="1"/>
          </p:cNvSpPr>
          <p:nvPr/>
        </p:nvSpPr>
        <p:spPr>
          <a:xfrm xmlns:a="http://schemas.openxmlformats.org/drawingml/2006/main">
            <a:off x="2476500" y="5829300"/>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725" b="0">
                <a:solidFill>
                  <a:srgbClr val="C2BFB5"/>
                </a:solidFill>
                <a:latin typeface="Aptos"/>
                <a:ea typeface="Aptos"/>
                <a:cs typeface="Aptos"/>
              </a:defRPr>
            </a:pPr>
            <a:r>
              <a:rPr sz="1725" b="0">
                <a:solidFill>
                  <a:srgbClr val="C2BFB5"/>
                </a:solidFill>
                <a:latin typeface="Aptos"/>
                <a:ea typeface="Aptos"/>
                <a:cs typeface="Aptos"/>
              </a:rPr>
              <a:t>Drafts, not finished posts. The engine removes the blank page. You still bring taste.</a:t>
            </a:r>
          </a:p>
        </p:txBody>
      </p:sp>
      <p:sp>
        <p:nvSpPr>
          <p:cNvPr id="28" name="">
            <a:extLst xmlns:a="http://schemas.openxmlformats.org/drawingml/2006/main">
              <a:ext uri="{FF2B5EF4-FFF2-40B4-BE49-F238E27FC236}">
                <a16:creationId xmlns:a16="http://schemas.microsoft.com/office/drawing/2014/main" id="{3238BDD0-06C4-4A7F-858A-E522B8749C3F}"/>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DE37FAE1-26B3-4C65-BB53-7B819655CDE4}"/>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30" name="">
            <a:extLst xmlns:a="http://schemas.openxmlformats.org/drawingml/2006/main">
              <a:ext uri="{FF2B5EF4-FFF2-40B4-BE49-F238E27FC236}">
                <a16:creationId xmlns:a16="http://schemas.microsoft.com/office/drawing/2014/main" id="{2D37B416-51D6-4C95-92F5-189A27137BC1}"/>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179345879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2AA4EF-920F-4B2D-B867-8CC8A917C3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C0495FC-D808-48DA-B186-51B6B851A139}"/>
              </a:ext>
            </a:extLst>
          </p:cNvPr>
          <p:cNvSpPr>
            <a:spLocks xmlns:a="http://schemas.openxmlformats.org/drawingml/2006/main" noGrp="1"/>
          </p:cNvSpPr>
          <p:nvPr/>
        </p:nvSpPr>
        <p:spPr>
          <a:xfrm xmlns:a="http://schemas.openxmlformats.org/drawingml/2006/main">
            <a:off x="609600" y="495300"/>
            <a:ext cx="1143000"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3565F84F-4BCD-4E61-B10A-B557C4CF3BF1}"/>
              </a:ext>
            </a:extLst>
          </p:cNvPr>
          <p:cNvSpPr>
            <a:spLocks xmlns:a="http://schemas.openxmlformats.org/drawingml/2006/main" noGrp="1"/>
          </p:cNvSpPr>
          <p:nvPr/>
        </p:nvSpPr>
        <p:spPr>
          <a:xfrm xmlns:a="http://schemas.openxmlformats.org/drawingml/2006/main">
            <a:off x="781050" y="571500"/>
            <a:ext cx="8096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LIVE DEMO</a:t>
            </a:r>
          </a:p>
        </p:txBody>
      </p:sp>
      <p:sp>
        <p:nvSpPr>
          <p:cNvPr id="4" name="">
            <a:extLst xmlns:a="http://schemas.openxmlformats.org/drawingml/2006/main">
              <a:ext uri="{FF2B5EF4-FFF2-40B4-BE49-F238E27FC236}">
                <a16:creationId xmlns:a16="http://schemas.microsoft.com/office/drawing/2014/main" id="{CCFF11C7-9ABA-4D25-947E-A078C5282115}"/>
              </a:ext>
            </a:extLst>
          </p:cNvPr>
          <p:cNvSpPr>
            <a:spLocks xmlns:a="http://schemas.openxmlformats.org/drawingml/2006/main" noGrp="1"/>
          </p:cNvSpPr>
          <p:nvPr/>
        </p:nvSpPr>
        <p:spPr>
          <a:xfrm xmlns:a="http://schemas.openxmlformats.org/drawingml/2006/main">
            <a:off x="609600" y="971550"/>
            <a:ext cx="78105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350" b="1">
                <a:solidFill>
                  <a:srgbClr val="EEE9DD"/>
                </a:solidFill>
                <a:latin typeface="Aptos Display"/>
                <a:ea typeface="Aptos Display"/>
                <a:cs typeface="Aptos Display"/>
              </a:defRPr>
            </a:pPr>
            <a:r>
              <a:rPr sz="4350" b="1">
                <a:solidFill>
                  <a:srgbClr val="EEE9DD"/>
                </a:solidFill>
                <a:latin typeface="Aptos Display"/>
                <a:ea typeface="Aptos Display"/>
                <a:cs typeface="Aptos Display"/>
              </a:rPr>
              <a:t>We are going to fire the engine.</a:t>
            </a:r>
          </a:p>
        </p:txBody>
      </p:sp>
      <p:sp>
        <p:nvSpPr>
          <p:cNvPr id="5" name="">
            <a:extLst xmlns:a="http://schemas.openxmlformats.org/drawingml/2006/main">
              <a:ext uri="{FF2B5EF4-FFF2-40B4-BE49-F238E27FC236}">
                <a16:creationId xmlns:a16="http://schemas.microsoft.com/office/drawing/2014/main" id="{610A0D23-2DD0-47F8-9C43-CC0DE1EBC204}"/>
              </a:ext>
            </a:extLst>
          </p:cNvPr>
          <p:cNvSpPr>
            <a:spLocks xmlns:a="http://schemas.openxmlformats.org/drawingml/2006/main" noGrp="1"/>
          </p:cNvSpPr>
          <p:nvPr/>
        </p:nvSpPr>
        <p:spPr>
          <a:xfrm xmlns:a="http://schemas.openxmlformats.org/drawingml/2006/main">
            <a:off x="647700" y="2457450"/>
            <a:ext cx="8382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C2BFB5"/>
                </a:solidFill>
                <a:latin typeface="Aptos"/>
                <a:ea typeface="Aptos"/>
                <a:cs typeface="Aptos"/>
              </a:defRPr>
            </a:pPr>
            <a:r>
              <a:rPr sz="1650" b="0">
                <a:solidFill>
                  <a:srgbClr val="C2BFB5"/>
                </a:solidFill>
                <a:latin typeface="Aptos"/>
                <a:ea typeface="Aptos"/>
                <a:cs typeface="Aptos"/>
              </a:rPr>
              <a:t>The demo idea is deliberately simple: a post got 444,000 views, the next one reached almost nobody, and the smaller number told the truth.</a:t>
            </a:r>
          </a:p>
        </p:txBody>
      </p:sp>
      <p:sp>
        <p:nvSpPr>
          <p:cNvPr id="6" name="">
            <a:extLst xmlns:a="http://schemas.openxmlformats.org/drawingml/2006/main">
              <a:ext uri="{FF2B5EF4-FFF2-40B4-BE49-F238E27FC236}">
                <a16:creationId xmlns:a16="http://schemas.microsoft.com/office/drawing/2014/main" id="{1672621A-3CB4-4BAE-96B2-7A34F6BE930C}"/>
              </a:ext>
            </a:extLst>
          </p:cNvPr>
          <p:cNvSpPr>
            <a:spLocks xmlns:a="http://schemas.openxmlformats.org/drawingml/2006/main" noGrp="1"/>
          </p:cNvSpPr>
          <p:nvPr/>
        </p:nvSpPr>
        <p:spPr>
          <a:xfrm xmlns:a="http://schemas.openxmlformats.org/drawingml/2006/main">
            <a:off x="1009650" y="3638550"/>
            <a:ext cx="3048000" cy="15621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7" name="">
            <a:extLst xmlns:a="http://schemas.openxmlformats.org/drawingml/2006/main">
              <a:ext uri="{FF2B5EF4-FFF2-40B4-BE49-F238E27FC236}">
                <a16:creationId xmlns:a16="http://schemas.microsoft.com/office/drawing/2014/main" id="{680AB8E3-976B-498D-BADA-77317EFA033A}"/>
              </a:ext>
            </a:extLst>
          </p:cNvPr>
          <p:cNvSpPr>
            <a:spLocks xmlns:a="http://schemas.openxmlformats.org/drawingml/2006/main" noGrp="1"/>
          </p:cNvSpPr>
          <p:nvPr/>
        </p:nvSpPr>
        <p:spPr>
          <a:xfrm xmlns:a="http://schemas.openxmlformats.org/drawingml/2006/main">
            <a:off x="1257300" y="3981450"/>
            <a:ext cx="25527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000" b="1">
                <a:solidFill>
                  <a:srgbClr val="E26F2A"/>
                </a:solidFill>
                <a:latin typeface="Aptos Display"/>
                <a:ea typeface="Aptos Display"/>
                <a:cs typeface="Aptos Display"/>
              </a:defRPr>
            </a:pPr>
            <a:r>
              <a:rPr sz="3000" b="1">
                <a:solidFill>
                  <a:srgbClr val="E26F2A"/>
                </a:solidFill>
                <a:latin typeface="Aptos Display"/>
                <a:ea typeface="Aptos Display"/>
                <a:cs typeface="Aptos Display"/>
              </a:rPr>
              <a:t>444,000 views</a:t>
            </a:r>
          </a:p>
        </p:txBody>
      </p:sp>
      <p:sp>
        <p:nvSpPr>
          <p:cNvPr id="8" name="">
            <a:extLst xmlns:a="http://schemas.openxmlformats.org/drawingml/2006/main">
              <a:ext uri="{FF2B5EF4-FFF2-40B4-BE49-F238E27FC236}">
                <a16:creationId xmlns:a16="http://schemas.microsoft.com/office/drawing/2014/main" id="{733C9F72-E806-49F2-BF8E-FAA785BE0226}"/>
              </a:ext>
            </a:extLst>
          </p:cNvPr>
          <p:cNvSpPr>
            <a:spLocks xmlns:a="http://schemas.openxmlformats.org/drawingml/2006/main" noGrp="1"/>
          </p:cNvSpPr>
          <p:nvPr/>
        </p:nvSpPr>
        <p:spPr>
          <a:xfrm xmlns:a="http://schemas.openxmlformats.org/drawingml/2006/main">
            <a:off x="1257300" y="4533900"/>
            <a:ext cx="2552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C2BFB5"/>
                </a:solidFill>
                <a:latin typeface="Aptos"/>
                <a:ea typeface="Aptos"/>
                <a:cs typeface="Aptos"/>
              </a:defRPr>
            </a:pPr>
            <a:r>
              <a:rPr sz="1350" b="0">
                <a:solidFill>
                  <a:srgbClr val="C2BFB5"/>
                </a:solidFill>
                <a:latin typeface="Aptos"/>
                <a:ea typeface="Aptos"/>
                <a:cs typeface="Aptos"/>
              </a:rPr>
              <a:t>A big number.</a:t>
            </a:r>
          </a:p>
          <a:p xmlns:a="http://schemas.openxmlformats.org/drawingml/2006/main">
            <a:pPr algn="ctr">
              <a:defRPr sz="1350" b="0">
                <a:solidFill>
                  <a:srgbClr val="C2BFB5"/>
                </a:solidFill>
                <a:latin typeface="Aptos"/>
                <a:ea typeface="Aptos"/>
                <a:cs typeface="Aptos"/>
              </a:defRPr>
            </a:pPr>
            <a:r>
              <a:rPr sz="1350" b="0">
                <a:solidFill>
                  <a:srgbClr val="C2BFB5"/>
                </a:solidFill>
                <a:latin typeface="Aptos"/>
                <a:ea typeface="Aptos"/>
                <a:cs typeface="Aptos"/>
              </a:rPr>
              <a:t>Not a business.</a:t>
            </a:r>
          </a:p>
        </p:txBody>
      </p:sp>
      <p:sp>
        <p:nvSpPr>
          <p:cNvPr id="9" name="">
            <a:extLst xmlns:a="http://schemas.openxmlformats.org/drawingml/2006/main">
              <a:ext uri="{FF2B5EF4-FFF2-40B4-BE49-F238E27FC236}">
                <a16:creationId xmlns:a16="http://schemas.microsoft.com/office/drawing/2014/main" id="{0715DA0A-F8B7-43B8-ACD5-2A0484AABB88}"/>
              </a:ext>
            </a:extLst>
          </p:cNvPr>
          <p:cNvSpPr>
            <a:spLocks xmlns:a="http://schemas.openxmlformats.org/drawingml/2006/main" noGrp="1"/>
          </p:cNvSpPr>
          <p:nvPr/>
        </p:nvSpPr>
        <p:spPr>
          <a:xfrm xmlns:a="http://schemas.openxmlformats.org/drawingml/2006/main">
            <a:off x="4591050" y="3638550"/>
            <a:ext cx="3048000" cy="15621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0" name="">
            <a:extLst xmlns:a="http://schemas.openxmlformats.org/drawingml/2006/main">
              <a:ext uri="{FF2B5EF4-FFF2-40B4-BE49-F238E27FC236}">
                <a16:creationId xmlns:a16="http://schemas.microsoft.com/office/drawing/2014/main" id="{9A7071D1-29DD-4F84-92C5-D2599B816D5F}"/>
              </a:ext>
            </a:extLst>
          </p:cNvPr>
          <p:cNvSpPr>
            <a:spLocks xmlns:a="http://schemas.openxmlformats.org/drawingml/2006/main" noGrp="1"/>
          </p:cNvSpPr>
          <p:nvPr/>
        </p:nvSpPr>
        <p:spPr>
          <a:xfrm xmlns:a="http://schemas.openxmlformats.org/drawingml/2006/main">
            <a:off x="4838700" y="3886200"/>
            <a:ext cx="25527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EEE9DD"/>
                </a:solidFill>
                <a:latin typeface="Aptos Display"/>
                <a:ea typeface="Aptos Display"/>
                <a:cs typeface="Aptos Display"/>
              </a:defRPr>
            </a:pPr>
            <a:r>
              <a:rPr sz="2550" b="1">
                <a:solidFill>
                  <a:srgbClr val="EEE9DD"/>
                </a:solidFill>
                <a:latin typeface="Aptos Display"/>
                <a:ea typeface="Aptos Display"/>
                <a:cs typeface="Aptos Display"/>
              </a:rPr>
              <a:t>Almost no</a:t>
            </a:r>
          </a:p>
          <a:p xmlns:a="http://schemas.openxmlformats.org/drawingml/2006/main">
            <a:pPr algn="ctr">
              <a:defRPr sz="2550" b="1">
                <a:solidFill>
                  <a:srgbClr val="EEE9DD"/>
                </a:solidFill>
                <a:latin typeface="Aptos Display"/>
                <a:ea typeface="Aptos Display"/>
                <a:cs typeface="Aptos Display"/>
              </a:defRPr>
            </a:pPr>
            <a:r>
              <a:rPr sz="2550" b="1">
                <a:solidFill>
                  <a:srgbClr val="EEE9DD"/>
                </a:solidFill>
                <a:latin typeface="Aptos Display"/>
                <a:ea typeface="Aptos Display"/>
                <a:cs typeface="Aptos Display"/>
              </a:rPr>
              <a:t>reach</a:t>
            </a:r>
          </a:p>
        </p:txBody>
      </p:sp>
      <p:sp>
        <p:nvSpPr>
          <p:cNvPr id="11" name="">
            <a:extLst xmlns:a="http://schemas.openxmlformats.org/drawingml/2006/main">
              <a:ext uri="{FF2B5EF4-FFF2-40B4-BE49-F238E27FC236}">
                <a16:creationId xmlns:a16="http://schemas.microsoft.com/office/drawing/2014/main" id="{9293B061-58BF-4280-9DB1-5428BD2C555D}"/>
              </a:ext>
            </a:extLst>
          </p:cNvPr>
          <p:cNvSpPr>
            <a:spLocks xmlns:a="http://schemas.openxmlformats.org/drawingml/2006/main" noGrp="1"/>
          </p:cNvSpPr>
          <p:nvPr/>
        </p:nvSpPr>
        <p:spPr>
          <a:xfrm xmlns:a="http://schemas.openxmlformats.org/drawingml/2006/main">
            <a:off x="4838700" y="4629150"/>
            <a:ext cx="2552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C2BFB5"/>
                </a:solidFill>
                <a:latin typeface="Aptos"/>
                <a:ea typeface="Aptos"/>
                <a:cs typeface="Aptos"/>
              </a:defRPr>
            </a:pPr>
            <a:r>
              <a:rPr sz="1350" b="0">
                <a:solidFill>
                  <a:srgbClr val="C2BFB5"/>
                </a:solidFill>
                <a:latin typeface="Aptos"/>
                <a:ea typeface="Aptos"/>
                <a:cs typeface="Aptos"/>
              </a:rPr>
              <a:t>The useful signal.</a:t>
            </a:r>
          </a:p>
        </p:txBody>
      </p:sp>
      <p:sp>
        <p:nvSpPr>
          <p:cNvPr id="12" name="">
            <a:extLst xmlns:a="http://schemas.openxmlformats.org/drawingml/2006/main">
              <a:ext uri="{FF2B5EF4-FFF2-40B4-BE49-F238E27FC236}">
                <a16:creationId xmlns:a16="http://schemas.microsoft.com/office/drawing/2014/main" id="{3A253B73-726F-4DED-83FA-6280D1077100}"/>
              </a:ext>
            </a:extLst>
          </p:cNvPr>
          <p:cNvSpPr>
            <a:spLocks xmlns:a="http://schemas.openxmlformats.org/drawingml/2006/main" noGrp="1"/>
          </p:cNvSpPr>
          <p:nvPr/>
        </p:nvSpPr>
        <p:spPr>
          <a:xfrm xmlns:a="http://schemas.openxmlformats.org/drawingml/2006/main">
            <a:off x="8172450" y="3638550"/>
            <a:ext cx="3048000" cy="156210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B974DD29-BC2C-482C-8E75-8A4E1EFA8B2F}"/>
              </a:ext>
            </a:extLst>
          </p:cNvPr>
          <p:cNvSpPr>
            <a:spLocks xmlns:a="http://schemas.openxmlformats.org/drawingml/2006/main" noGrp="1"/>
          </p:cNvSpPr>
          <p:nvPr/>
        </p:nvSpPr>
        <p:spPr>
          <a:xfrm xmlns:a="http://schemas.openxmlformats.org/drawingml/2006/main">
            <a:off x="8420100" y="3886200"/>
            <a:ext cx="25527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1C1F1A"/>
                </a:solidFill>
                <a:latin typeface="Aptos Display"/>
                <a:ea typeface="Aptos Display"/>
                <a:cs typeface="Aptos Display"/>
              </a:defRPr>
            </a:pPr>
            <a:r>
              <a:rPr sz="2550" b="1">
                <a:solidFill>
                  <a:srgbClr val="1C1F1A"/>
                </a:solidFill>
                <a:latin typeface="Aptos Display"/>
                <a:ea typeface="Aptos Display"/>
                <a:cs typeface="Aptos Display"/>
              </a:rPr>
              <a:t>What do we</a:t>
            </a:r>
          </a:p>
          <a:p xmlns:a="http://schemas.openxmlformats.org/drawingml/2006/main">
            <a:pPr algn="ctr">
              <a:defRPr sz="2550" b="1">
                <a:solidFill>
                  <a:srgbClr val="1C1F1A"/>
                </a:solidFill>
                <a:latin typeface="Aptos Display"/>
                <a:ea typeface="Aptos Display"/>
                <a:cs typeface="Aptos Display"/>
              </a:defRPr>
            </a:pPr>
            <a:r>
              <a:rPr sz="2550" b="1">
                <a:solidFill>
                  <a:srgbClr val="1C1F1A"/>
                </a:solidFill>
                <a:latin typeface="Aptos Display"/>
                <a:ea typeface="Aptos Display"/>
                <a:cs typeface="Aptos Display"/>
              </a:rPr>
              <a:t>watch?</a:t>
            </a:r>
          </a:p>
        </p:txBody>
      </p:sp>
      <p:sp>
        <p:nvSpPr>
          <p:cNvPr id="14" name="">
            <a:extLst xmlns:a="http://schemas.openxmlformats.org/drawingml/2006/main">
              <a:ext uri="{FF2B5EF4-FFF2-40B4-BE49-F238E27FC236}">
                <a16:creationId xmlns:a16="http://schemas.microsoft.com/office/drawing/2014/main" id="{5C23FEE8-2C62-402E-93A8-29BBC522A130}"/>
              </a:ext>
            </a:extLst>
          </p:cNvPr>
          <p:cNvSpPr>
            <a:spLocks xmlns:a="http://schemas.openxmlformats.org/drawingml/2006/main" noGrp="1"/>
          </p:cNvSpPr>
          <p:nvPr/>
        </p:nvSpPr>
        <p:spPr>
          <a:xfrm xmlns:a="http://schemas.openxmlformats.org/drawingml/2006/main">
            <a:off x="8420100" y="4629150"/>
            <a:ext cx="2552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1C1F1A"/>
                </a:solidFill>
                <a:latin typeface="Aptos"/>
                <a:ea typeface="Aptos"/>
                <a:cs typeface="Aptos"/>
              </a:defRPr>
            </a:pPr>
            <a:r>
              <a:rPr sz="1350" b="0">
                <a:solidFill>
                  <a:srgbClr val="1C1F1A"/>
                </a:solidFill>
                <a:latin typeface="Aptos"/>
                <a:ea typeface="Aptos"/>
                <a:cs typeface="Aptos"/>
              </a:rPr>
              <a:t>Vanity, trust,</a:t>
            </a:r>
          </a:p>
          <a:p xmlns:a="http://schemas.openxmlformats.org/drawingml/2006/main">
            <a:pPr algn="ctr">
              <a:defRPr sz="1350" b="0">
                <a:solidFill>
                  <a:srgbClr val="1C1F1A"/>
                </a:solidFill>
                <a:latin typeface="Aptos"/>
                <a:ea typeface="Aptos"/>
                <a:cs typeface="Aptos"/>
              </a:defRPr>
            </a:pPr>
            <a:r>
              <a:rPr sz="1350" b="0">
                <a:solidFill>
                  <a:srgbClr val="1C1F1A"/>
                </a:solidFill>
                <a:latin typeface="Aptos"/>
                <a:ea typeface="Aptos"/>
                <a:cs typeface="Aptos"/>
              </a:rPr>
              <a:t>or buyer movement?</a:t>
            </a:r>
          </a:p>
        </p:txBody>
      </p:sp>
      <p:sp>
        <p:nvSpPr>
          <p:cNvPr id="15" name="">
            <a:extLst xmlns:a="http://schemas.openxmlformats.org/drawingml/2006/main">
              <a:ext uri="{FF2B5EF4-FFF2-40B4-BE49-F238E27FC236}">
                <a16:creationId xmlns:a16="http://schemas.microsoft.com/office/drawing/2014/main" id="{A6031CBC-E1FF-4300-9E2E-8F2B6C3C45C7}"/>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E71B8ACD-F23E-4AE3-B45D-68716F9904C9}"/>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17" name="">
            <a:extLst xmlns:a="http://schemas.openxmlformats.org/drawingml/2006/main">
              <a:ext uri="{FF2B5EF4-FFF2-40B4-BE49-F238E27FC236}">
                <a16:creationId xmlns:a16="http://schemas.microsoft.com/office/drawing/2014/main" id="{19C405DE-EC40-4266-9882-12CC3E77659A}"/>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76680514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95E920-BFEA-44B1-B1FF-69DAC16CCF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1F901D7-4F7D-459A-9AED-A5B9996B4A12}"/>
              </a:ext>
            </a:extLst>
          </p:cNvPr>
          <p:cNvSpPr>
            <a:spLocks xmlns:a="http://schemas.openxmlformats.org/drawingml/2006/main" noGrp="1"/>
          </p:cNvSpPr>
          <p:nvPr/>
        </p:nvSpPr>
        <p:spPr>
          <a:xfrm xmlns:a="http://schemas.openxmlformats.org/drawingml/2006/main">
            <a:off x="609600" y="495300"/>
            <a:ext cx="1457325"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15E363EC-898A-4776-8792-2FEE917E9A69}"/>
              </a:ext>
            </a:extLst>
          </p:cNvPr>
          <p:cNvSpPr>
            <a:spLocks xmlns:a="http://schemas.openxmlformats.org/drawingml/2006/main" noGrp="1"/>
          </p:cNvSpPr>
          <p:nvPr/>
        </p:nvSpPr>
        <p:spPr>
          <a:xfrm xmlns:a="http://schemas.openxmlformats.org/drawingml/2006/main">
            <a:off x="781050" y="571500"/>
            <a:ext cx="11525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WHAT TO WATCH</a:t>
            </a:r>
          </a:p>
        </p:txBody>
      </p:sp>
      <p:sp>
        <p:nvSpPr>
          <p:cNvPr id="4" name="">
            <a:extLst xmlns:a="http://schemas.openxmlformats.org/drawingml/2006/main">
              <a:ext uri="{FF2B5EF4-FFF2-40B4-BE49-F238E27FC236}">
                <a16:creationId xmlns:a16="http://schemas.microsoft.com/office/drawing/2014/main" id="{F673928C-6B58-474E-81B9-E9053783370C}"/>
              </a:ext>
            </a:extLst>
          </p:cNvPr>
          <p:cNvSpPr>
            <a:spLocks xmlns:a="http://schemas.openxmlformats.org/drawingml/2006/main" noGrp="1"/>
          </p:cNvSpPr>
          <p:nvPr/>
        </p:nvSpPr>
        <p:spPr>
          <a:xfrm xmlns:a="http://schemas.openxmlformats.org/drawingml/2006/main">
            <a:off x="609600" y="1028700"/>
            <a:ext cx="8572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200" b="1">
                <a:solidFill>
                  <a:srgbClr val="EEE9DD"/>
                </a:solidFill>
                <a:latin typeface="Aptos Display"/>
                <a:ea typeface="Aptos Display"/>
                <a:cs typeface="Aptos Display"/>
              </a:defRPr>
            </a:pPr>
            <a:r>
              <a:rPr sz="4200" b="1">
                <a:solidFill>
                  <a:srgbClr val="EEE9DD"/>
                </a:solidFill>
                <a:latin typeface="Aptos Display"/>
                <a:ea typeface="Aptos Display"/>
                <a:cs typeface="Aptos Display"/>
              </a:rPr>
              <a:t>The demo is testing context, not clever prompting.</a:t>
            </a:r>
          </a:p>
        </p:txBody>
      </p:sp>
      <p:sp>
        <p:nvSpPr>
          <p:cNvPr id="5" name="">
            <a:extLst xmlns:a="http://schemas.openxmlformats.org/drawingml/2006/main">
              <a:ext uri="{FF2B5EF4-FFF2-40B4-BE49-F238E27FC236}">
                <a16:creationId xmlns:a16="http://schemas.microsoft.com/office/drawing/2014/main" id="{846A319F-A2A8-4B1A-9D72-4B0D7EEF2CD4}"/>
              </a:ext>
            </a:extLst>
          </p:cNvPr>
          <p:cNvSpPr>
            <a:spLocks xmlns:a="http://schemas.openxmlformats.org/drawingml/2006/main" noGrp="1"/>
          </p:cNvSpPr>
          <p:nvPr/>
        </p:nvSpPr>
        <p:spPr>
          <a:xfrm xmlns:a="http://schemas.openxmlformats.org/drawingml/2006/main">
            <a:off x="857250" y="3048000"/>
            <a:ext cx="3143250" cy="14478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6" name="">
            <a:extLst xmlns:a="http://schemas.openxmlformats.org/drawingml/2006/main">
              <a:ext uri="{FF2B5EF4-FFF2-40B4-BE49-F238E27FC236}">
                <a16:creationId xmlns:a16="http://schemas.microsoft.com/office/drawing/2014/main" id="{43C3EAD7-3FA7-4DBB-9711-C5AFCCC737E3}"/>
              </a:ext>
            </a:extLst>
          </p:cNvPr>
          <p:cNvSpPr>
            <a:spLocks xmlns:a="http://schemas.openxmlformats.org/drawingml/2006/main" noGrp="1"/>
          </p:cNvSpPr>
          <p:nvPr/>
        </p:nvSpPr>
        <p:spPr>
          <a:xfrm xmlns:a="http://schemas.openxmlformats.org/drawingml/2006/main">
            <a:off x="857250" y="3048000"/>
            <a:ext cx="47625" cy="144780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7344BD6-0012-4E45-A736-EF404CBB4420}"/>
              </a:ext>
            </a:extLst>
          </p:cNvPr>
          <p:cNvSpPr>
            <a:spLocks xmlns:a="http://schemas.openxmlformats.org/drawingml/2006/main" noGrp="1"/>
          </p:cNvSpPr>
          <p:nvPr/>
        </p:nvSpPr>
        <p:spPr>
          <a:xfrm xmlns:a="http://schemas.openxmlformats.org/drawingml/2006/main">
            <a:off x="1085850" y="3257550"/>
            <a:ext cx="2228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EEE9DD"/>
                </a:solidFill>
                <a:latin typeface="Aptos Display"/>
                <a:ea typeface="Aptos Display"/>
                <a:cs typeface="Aptos Display"/>
              </a:defRPr>
            </a:pPr>
            <a:r>
              <a:rPr sz="1875" b="1">
                <a:solidFill>
                  <a:srgbClr val="EEE9DD"/>
                </a:solidFill>
                <a:latin typeface="Aptos Display"/>
                <a:ea typeface="Aptos Display"/>
                <a:cs typeface="Aptos Display"/>
              </a:rPr>
              <a:t>Does it keep the voice?</a:t>
            </a:r>
          </a:p>
        </p:txBody>
      </p:sp>
      <p:sp>
        <p:nvSpPr>
          <p:cNvPr id="8" name="">
            <a:extLst xmlns:a="http://schemas.openxmlformats.org/drawingml/2006/main">
              <a:ext uri="{FF2B5EF4-FFF2-40B4-BE49-F238E27FC236}">
                <a16:creationId xmlns:a16="http://schemas.microsoft.com/office/drawing/2014/main" id="{1ACE7771-02CA-4BA8-AA1E-DD01675E4A09}"/>
              </a:ext>
            </a:extLst>
          </p:cNvPr>
          <p:cNvSpPr>
            <a:spLocks xmlns:a="http://schemas.openxmlformats.org/drawingml/2006/main" noGrp="1"/>
          </p:cNvSpPr>
          <p:nvPr/>
        </p:nvSpPr>
        <p:spPr>
          <a:xfrm xmlns:a="http://schemas.openxmlformats.org/drawingml/2006/main">
            <a:off x="1085850" y="3695700"/>
            <a:ext cx="26860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C2BFB5"/>
                </a:solidFill>
                <a:latin typeface="Aptos"/>
                <a:ea typeface="Aptos"/>
                <a:cs typeface="Aptos"/>
              </a:defRPr>
            </a:pPr>
            <a:r>
              <a:rPr sz="1350" b="0">
                <a:solidFill>
                  <a:srgbClr val="C2BFB5"/>
                </a:solidFill>
                <a:latin typeface="Aptos"/>
                <a:ea typeface="Aptos"/>
                <a:cs typeface="Aptos"/>
              </a:rPr>
              <a:t>No corporate filler. No generic AI cadence. No weird guru energy.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c1cb3ef27884388">
            <a:extLst>
              <a:ext uri="{96DAC541-7B7A-43D3-8B79-37D633B846F1}">
                <asvg:svgBlip xmlns:asvg="http://schemas.microsoft.com/office/drawing/2016/SVG/main" r:embed="R10f1fdecdec44533"/>
              </a:ext>
            </a:extLst>
          </a:blip>
          <a:stretch xmlns:a="http://schemas.openxmlformats.org/drawingml/2006/main"/>
        </p:blipFill>
        <p:spPr>
          <a:xfrm xmlns:a="http://schemas.openxmlformats.org/drawingml/2006/main">
            <a:off x="3409950" y="3276600"/>
            <a:ext cx="285750" cy="285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D057E41-14E3-49D1-9CAA-B1DB75FC2EAD}"/>
              </a:ext>
            </a:extLst>
          </p:cNvPr>
          <p:cNvSpPr>
            <a:spLocks xmlns:a="http://schemas.openxmlformats.org/drawingml/2006/main" noGrp="1"/>
          </p:cNvSpPr>
          <p:nvPr/>
        </p:nvSpPr>
        <p:spPr>
          <a:xfrm xmlns:a="http://schemas.openxmlformats.org/drawingml/2006/main">
            <a:off x="4533900" y="3048000"/>
            <a:ext cx="3143250" cy="14478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1" name="">
            <a:extLst xmlns:a="http://schemas.openxmlformats.org/drawingml/2006/main">
              <a:ext uri="{FF2B5EF4-FFF2-40B4-BE49-F238E27FC236}">
                <a16:creationId xmlns:a16="http://schemas.microsoft.com/office/drawing/2014/main" id="{0DC5E250-2B9B-4A40-9551-428C40291BCD}"/>
              </a:ext>
            </a:extLst>
          </p:cNvPr>
          <p:cNvSpPr>
            <a:spLocks xmlns:a="http://schemas.openxmlformats.org/drawingml/2006/main" noGrp="1"/>
          </p:cNvSpPr>
          <p:nvPr/>
        </p:nvSpPr>
        <p:spPr>
          <a:xfrm xmlns:a="http://schemas.openxmlformats.org/drawingml/2006/main">
            <a:off x="4533900" y="3048000"/>
            <a:ext cx="47625" cy="144780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48D80B2-4853-4267-BCE9-A25742C72870}"/>
              </a:ext>
            </a:extLst>
          </p:cNvPr>
          <p:cNvSpPr>
            <a:spLocks xmlns:a="http://schemas.openxmlformats.org/drawingml/2006/main" noGrp="1"/>
          </p:cNvSpPr>
          <p:nvPr/>
        </p:nvSpPr>
        <p:spPr>
          <a:xfrm xmlns:a="http://schemas.openxmlformats.org/drawingml/2006/main">
            <a:off x="4762500" y="3257550"/>
            <a:ext cx="2228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EEE9DD"/>
                </a:solidFill>
                <a:latin typeface="Aptos Display"/>
                <a:ea typeface="Aptos Display"/>
                <a:cs typeface="Aptos Display"/>
              </a:defRPr>
            </a:pPr>
            <a:r>
              <a:rPr sz="1875" b="1">
                <a:solidFill>
                  <a:srgbClr val="EEE9DD"/>
                </a:solidFill>
                <a:latin typeface="Aptos Display"/>
                <a:ea typeface="Aptos Display"/>
                <a:cs typeface="Aptos Display"/>
              </a:rPr>
              <a:t>Does it keep the strategy?</a:t>
            </a:r>
          </a:p>
        </p:txBody>
      </p:sp>
      <p:sp>
        <p:nvSpPr>
          <p:cNvPr id="13" name="">
            <a:extLst xmlns:a="http://schemas.openxmlformats.org/drawingml/2006/main">
              <a:ext uri="{FF2B5EF4-FFF2-40B4-BE49-F238E27FC236}">
                <a16:creationId xmlns:a16="http://schemas.microsoft.com/office/drawing/2014/main" id="{0A39A152-FD80-479F-B4E5-BE5A8063C8BA}"/>
              </a:ext>
            </a:extLst>
          </p:cNvPr>
          <p:cNvSpPr>
            <a:spLocks xmlns:a="http://schemas.openxmlformats.org/drawingml/2006/main" noGrp="1"/>
          </p:cNvSpPr>
          <p:nvPr/>
        </p:nvSpPr>
        <p:spPr>
          <a:xfrm xmlns:a="http://schemas.openxmlformats.org/drawingml/2006/main">
            <a:off x="4762500" y="3695700"/>
            <a:ext cx="26860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C2BFB5"/>
                </a:solidFill>
                <a:latin typeface="Aptos"/>
                <a:ea typeface="Aptos"/>
                <a:cs typeface="Aptos"/>
              </a:defRPr>
            </a:pPr>
            <a:r>
              <a:rPr sz="1350" b="0">
                <a:solidFill>
                  <a:srgbClr val="C2BFB5"/>
                </a:solidFill>
                <a:latin typeface="Aptos"/>
                <a:ea typeface="Aptos"/>
                <a:cs typeface="Aptos"/>
              </a:rPr>
              <a:t>Field notes, practical operators, trust before vanity metrics.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ee336eb14b441db">
            <a:extLst>
              <a:ext uri="{96DAC541-7B7A-43D3-8B79-37D633B846F1}">
                <asvg:svgBlip xmlns:asvg="http://schemas.microsoft.com/office/drawing/2016/SVG/main" r:embed="Rbd0d69bd45ed4756"/>
              </a:ext>
            </a:extLst>
          </a:blip>
          <a:stretch xmlns:a="http://schemas.openxmlformats.org/drawingml/2006/main"/>
        </p:blipFill>
        <p:spPr>
          <a:xfrm xmlns:a="http://schemas.openxmlformats.org/drawingml/2006/main">
            <a:off x="7086600" y="3276600"/>
            <a:ext cx="28575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6B794BB-48FB-4DF9-884B-14FE3C02C0F8}"/>
              </a:ext>
            </a:extLst>
          </p:cNvPr>
          <p:cNvSpPr>
            <a:spLocks xmlns:a="http://schemas.openxmlformats.org/drawingml/2006/main" noGrp="1"/>
          </p:cNvSpPr>
          <p:nvPr/>
        </p:nvSpPr>
        <p:spPr>
          <a:xfrm xmlns:a="http://schemas.openxmlformats.org/drawingml/2006/main">
            <a:off x="8210550" y="3048000"/>
            <a:ext cx="3143250" cy="14478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6" name="">
            <a:extLst xmlns:a="http://schemas.openxmlformats.org/drawingml/2006/main">
              <a:ext uri="{FF2B5EF4-FFF2-40B4-BE49-F238E27FC236}">
                <a16:creationId xmlns:a16="http://schemas.microsoft.com/office/drawing/2014/main" id="{CDA71E85-8B08-4785-87A2-2561637FA9CE}"/>
              </a:ext>
            </a:extLst>
          </p:cNvPr>
          <p:cNvSpPr>
            <a:spLocks xmlns:a="http://schemas.openxmlformats.org/drawingml/2006/main" noGrp="1"/>
          </p:cNvSpPr>
          <p:nvPr/>
        </p:nvSpPr>
        <p:spPr>
          <a:xfrm xmlns:a="http://schemas.openxmlformats.org/drawingml/2006/main">
            <a:off x="8210550" y="3048000"/>
            <a:ext cx="47625" cy="144780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9A035875-4486-44AA-8B65-A7E3679C7F7B}"/>
              </a:ext>
            </a:extLst>
          </p:cNvPr>
          <p:cNvSpPr>
            <a:spLocks xmlns:a="http://schemas.openxmlformats.org/drawingml/2006/main" noGrp="1"/>
          </p:cNvSpPr>
          <p:nvPr/>
        </p:nvSpPr>
        <p:spPr>
          <a:xfrm xmlns:a="http://schemas.openxmlformats.org/drawingml/2006/main">
            <a:off x="8439150" y="3257550"/>
            <a:ext cx="22288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EEE9DD"/>
                </a:solidFill>
                <a:latin typeface="Aptos Display"/>
                <a:ea typeface="Aptos Display"/>
                <a:cs typeface="Aptos Display"/>
              </a:defRPr>
            </a:pPr>
            <a:r>
              <a:rPr sz="1875" b="1">
                <a:solidFill>
                  <a:srgbClr val="EEE9DD"/>
                </a:solidFill>
                <a:latin typeface="Aptos Display"/>
                <a:ea typeface="Aptos Display"/>
                <a:cs typeface="Aptos Display"/>
              </a:rPr>
              <a:t>Does it create useful starts?</a:t>
            </a:r>
          </a:p>
        </p:txBody>
      </p:sp>
      <p:sp>
        <p:nvSpPr>
          <p:cNvPr id="18" name="">
            <a:extLst xmlns:a="http://schemas.openxmlformats.org/drawingml/2006/main">
              <a:ext uri="{FF2B5EF4-FFF2-40B4-BE49-F238E27FC236}">
                <a16:creationId xmlns:a16="http://schemas.microsoft.com/office/drawing/2014/main" id="{84CB0F03-336B-4FB7-BDA7-647FBDD6B963}"/>
              </a:ext>
            </a:extLst>
          </p:cNvPr>
          <p:cNvSpPr>
            <a:spLocks xmlns:a="http://schemas.openxmlformats.org/drawingml/2006/main" noGrp="1"/>
          </p:cNvSpPr>
          <p:nvPr/>
        </p:nvSpPr>
        <p:spPr>
          <a:xfrm xmlns:a="http://schemas.openxmlformats.org/drawingml/2006/main">
            <a:off x="8439150" y="3695700"/>
            <a:ext cx="26860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C2BFB5"/>
                </a:solidFill>
                <a:latin typeface="Aptos"/>
                <a:ea typeface="Aptos"/>
                <a:cs typeface="Aptos"/>
              </a:defRPr>
            </a:pPr>
            <a:r>
              <a:rPr sz="1350" b="0">
                <a:solidFill>
                  <a:srgbClr val="C2BFB5"/>
                </a:solidFill>
                <a:latin typeface="Aptos"/>
                <a:ea typeface="Aptos"/>
                <a:cs typeface="Aptos"/>
              </a:rPr>
              <a:t>Not final posts. Drafts worth editing, filming, or deleting.</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859ac92c3c54297">
            <a:extLst>
              <a:ext uri="{96DAC541-7B7A-43D3-8B79-37D633B846F1}">
                <asvg:svgBlip xmlns:asvg="http://schemas.microsoft.com/office/drawing/2016/SVG/main" r:embed="R68a7f718854247c0"/>
              </a:ext>
            </a:extLst>
          </a:blip>
          <a:stretch xmlns:a="http://schemas.openxmlformats.org/drawingml/2006/main"/>
        </p:blipFill>
        <p:spPr>
          <a:xfrm xmlns:a="http://schemas.openxmlformats.org/drawingml/2006/main">
            <a:off x="10763250" y="3276600"/>
            <a:ext cx="285750" cy="285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5ED8C051-653E-4F3C-9D9B-CFA0E68B9CC3}"/>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FA6B27E1-4706-40FA-9F61-F7760C943E4E}"/>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2" name="">
            <a:extLst xmlns:a="http://schemas.openxmlformats.org/drawingml/2006/main">
              <a:ext uri="{FF2B5EF4-FFF2-40B4-BE49-F238E27FC236}">
                <a16:creationId xmlns:a16="http://schemas.microsoft.com/office/drawing/2014/main" id="{BD437A64-2F5F-4079-9C59-31994861B838}"/>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15553807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87E1B5-5195-4AAB-B56B-3327A7DB39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1D8528A-9D39-4CC8-A83A-9A2601CD8710}"/>
              </a:ext>
            </a:extLst>
          </p:cNvPr>
          <p:cNvSpPr>
            <a:spLocks xmlns:a="http://schemas.openxmlformats.org/drawingml/2006/main" noGrp="1"/>
          </p:cNvSpPr>
          <p:nvPr/>
        </p:nvSpPr>
        <p:spPr>
          <a:xfrm xmlns:a="http://schemas.openxmlformats.org/drawingml/2006/main">
            <a:off x="609600" y="495300"/>
            <a:ext cx="1457325"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5F37DDAB-216C-4714-B358-51F1ADCA99DE}"/>
              </a:ext>
            </a:extLst>
          </p:cNvPr>
          <p:cNvSpPr>
            <a:spLocks xmlns:a="http://schemas.openxmlformats.org/drawingml/2006/main" noGrp="1"/>
          </p:cNvSpPr>
          <p:nvPr/>
        </p:nvSpPr>
        <p:spPr>
          <a:xfrm xmlns:a="http://schemas.openxmlformats.org/drawingml/2006/main">
            <a:off x="781050" y="571500"/>
            <a:ext cx="11525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THE HUMAN JOB</a:t>
            </a:r>
          </a:p>
        </p:txBody>
      </p:sp>
      <p:sp>
        <p:nvSpPr>
          <p:cNvPr id="4" name="">
            <a:extLst xmlns:a="http://schemas.openxmlformats.org/drawingml/2006/main">
              <a:ext uri="{FF2B5EF4-FFF2-40B4-BE49-F238E27FC236}">
                <a16:creationId xmlns:a16="http://schemas.microsoft.com/office/drawing/2014/main" id="{93D5D7BF-E51B-44A5-8B82-151D4A730983}"/>
              </a:ext>
            </a:extLst>
          </p:cNvPr>
          <p:cNvSpPr>
            <a:spLocks xmlns:a="http://schemas.openxmlformats.org/drawingml/2006/main" noGrp="1"/>
          </p:cNvSpPr>
          <p:nvPr/>
        </p:nvSpPr>
        <p:spPr>
          <a:xfrm xmlns:a="http://schemas.openxmlformats.org/drawingml/2006/main">
            <a:off x="609600" y="1028700"/>
            <a:ext cx="895350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350" b="1">
                <a:solidFill>
                  <a:srgbClr val="EEE9DD"/>
                </a:solidFill>
                <a:latin typeface="Aptos Display"/>
                <a:ea typeface="Aptos Display"/>
                <a:cs typeface="Aptos Display"/>
              </a:defRPr>
            </a:pPr>
            <a:r>
              <a:rPr sz="4350" b="1">
                <a:solidFill>
                  <a:srgbClr val="EEE9DD"/>
                </a:solidFill>
                <a:latin typeface="Aptos Display"/>
                <a:ea typeface="Aptos Display"/>
                <a:cs typeface="Aptos Display"/>
              </a:rPr>
              <a:t>AI gets you to the draft. Taste gets you to the post.</a:t>
            </a:r>
          </a:p>
        </p:txBody>
      </p:sp>
      <p:sp>
        <p:nvSpPr>
          <p:cNvPr id="5" name="">
            <a:extLst xmlns:a="http://schemas.openxmlformats.org/drawingml/2006/main">
              <a:ext uri="{FF2B5EF4-FFF2-40B4-BE49-F238E27FC236}">
                <a16:creationId xmlns:a16="http://schemas.microsoft.com/office/drawing/2014/main" id="{220D0C02-A413-4208-9B8B-87398A252877}"/>
              </a:ext>
            </a:extLst>
          </p:cNvPr>
          <p:cNvSpPr>
            <a:spLocks xmlns:a="http://schemas.openxmlformats.org/drawingml/2006/main" noGrp="1"/>
          </p:cNvSpPr>
          <p:nvPr/>
        </p:nvSpPr>
        <p:spPr>
          <a:xfrm xmlns:a="http://schemas.openxmlformats.org/drawingml/2006/main">
            <a:off x="647700" y="2381250"/>
            <a:ext cx="7048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C2BFB5"/>
                </a:solidFill>
                <a:latin typeface="Aptos"/>
                <a:ea typeface="Aptos"/>
                <a:cs typeface="Aptos"/>
              </a:defRPr>
            </a:pPr>
            <a:r>
              <a:rPr sz="1800" b="0">
                <a:solidFill>
                  <a:srgbClr val="C2BFB5"/>
                </a:solidFill>
                <a:latin typeface="Aptos"/>
                <a:ea typeface="Aptos"/>
                <a:cs typeface="Aptos"/>
              </a:rPr>
              <a:t>The founder does not disappear. The founder moves up the stack.</a:t>
            </a:r>
          </a:p>
        </p:txBody>
      </p:sp>
      <p:sp>
        <p:nvSpPr>
          <p:cNvPr id="6" name="">
            <a:extLst xmlns:a="http://schemas.openxmlformats.org/drawingml/2006/main">
              <a:ext uri="{FF2B5EF4-FFF2-40B4-BE49-F238E27FC236}">
                <a16:creationId xmlns:a16="http://schemas.microsoft.com/office/drawing/2014/main" id="{3B4387E9-05D0-4480-A4BC-0B02F9269461}"/>
              </a:ext>
            </a:extLst>
          </p:cNvPr>
          <p:cNvSpPr>
            <a:spLocks xmlns:a="http://schemas.openxmlformats.org/drawingml/2006/main" noGrp="1"/>
          </p:cNvSpPr>
          <p:nvPr/>
        </p:nvSpPr>
        <p:spPr>
          <a:xfrm xmlns:a="http://schemas.openxmlformats.org/drawingml/2006/main">
            <a:off x="895350" y="371475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E26F2A"/>
                </a:solidFill>
                <a:latin typeface="Aptos Display"/>
                <a:ea typeface="Aptos Display"/>
                <a:cs typeface="Aptos Display"/>
              </a:defRPr>
            </a:pPr>
            <a:r>
              <a:rPr sz="2550" b="1">
                <a:solidFill>
                  <a:srgbClr val="E26F2A"/>
                </a:solidFill>
                <a:latin typeface="Aptos Display"/>
                <a:ea typeface="Aptos Display"/>
                <a:cs typeface="Aptos Display"/>
              </a:rPr>
              <a:t>Keep</a:t>
            </a:r>
          </a:p>
        </p:txBody>
      </p:sp>
      <p:sp>
        <p:nvSpPr>
          <p:cNvPr id="7" name="">
            <a:extLst xmlns:a="http://schemas.openxmlformats.org/drawingml/2006/main">
              <a:ext uri="{FF2B5EF4-FFF2-40B4-BE49-F238E27FC236}">
                <a16:creationId xmlns:a16="http://schemas.microsoft.com/office/drawing/2014/main" id="{ED7A8CF7-0602-4833-A07E-28AB78EA40FF}"/>
              </a:ext>
            </a:extLst>
          </p:cNvPr>
          <p:cNvSpPr>
            <a:spLocks xmlns:a="http://schemas.openxmlformats.org/drawingml/2006/main" noGrp="1"/>
          </p:cNvSpPr>
          <p:nvPr/>
        </p:nvSpPr>
        <p:spPr>
          <a:xfrm xmlns:a="http://schemas.openxmlformats.org/drawingml/2006/main">
            <a:off x="895350" y="4248150"/>
            <a:ext cx="2038350" cy="190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E97B5C6-2A1C-489B-B0F9-B84EB11E891F}"/>
              </a:ext>
            </a:extLst>
          </p:cNvPr>
          <p:cNvSpPr>
            <a:spLocks xmlns:a="http://schemas.openxmlformats.org/drawingml/2006/main" noGrp="1"/>
          </p:cNvSpPr>
          <p:nvPr/>
        </p:nvSpPr>
        <p:spPr>
          <a:xfrm xmlns:a="http://schemas.openxmlformats.org/drawingml/2006/main">
            <a:off x="895350" y="4476750"/>
            <a:ext cx="20383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C2BFB5"/>
                </a:solidFill>
                <a:latin typeface="Aptos"/>
                <a:ea typeface="Aptos"/>
                <a:cs typeface="Aptos"/>
              </a:defRPr>
            </a:pPr>
            <a:r>
              <a:rPr sz="1350" b="0">
                <a:solidFill>
                  <a:srgbClr val="C2BFB5"/>
                </a:solidFill>
                <a:latin typeface="Aptos"/>
                <a:ea typeface="Aptos"/>
                <a:cs typeface="Aptos"/>
              </a:rPr>
              <a:t>True observations, useful phrasing, clean structure.</a:t>
            </a:r>
          </a:p>
        </p:txBody>
      </p:sp>
      <p:sp>
        <p:nvSpPr>
          <p:cNvPr id="9" name="">
            <a:extLst xmlns:a="http://schemas.openxmlformats.org/drawingml/2006/main">
              <a:ext uri="{FF2B5EF4-FFF2-40B4-BE49-F238E27FC236}">
                <a16:creationId xmlns:a16="http://schemas.microsoft.com/office/drawing/2014/main" id="{DA59919F-A7EF-47C5-AF3C-857E4AD58EF2}"/>
              </a:ext>
            </a:extLst>
          </p:cNvPr>
          <p:cNvSpPr>
            <a:spLocks xmlns:a="http://schemas.openxmlformats.org/drawingml/2006/main" noGrp="1"/>
          </p:cNvSpPr>
          <p:nvPr/>
        </p:nvSpPr>
        <p:spPr>
          <a:xfrm xmlns:a="http://schemas.openxmlformats.org/drawingml/2006/main">
            <a:off x="3676650" y="371475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EEE9DD"/>
                </a:solidFill>
                <a:latin typeface="Aptos Display"/>
                <a:ea typeface="Aptos Display"/>
                <a:cs typeface="Aptos Display"/>
              </a:defRPr>
            </a:pPr>
            <a:r>
              <a:rPr sz="2550" b="1">
                <a:solidFill>
                  <a:srgbClr val="EEE9DD"/>
                </a:solidFill>
                <a:latin typeface="Aptos Display"/>
                <a:ea typeface="Aptos Display"/>
                <a:cs typeface="Aptos Display"/>
              </a:rPr>
              <a:t>Cut</a:t>
            </a:r>
          </a:p>
        </p:txBody>
      </p:sp>
      <p:sp>
        <p:nvSpPr>
          <p:cNvPr id="10" name="">
            <a:extLst xmlns:a="http://schemas.openxmlformats.org/drawingml/2006/main">
              <a:ext uri="{FF2B5EF4-FFF2-40B4-BE49-F238E27FC236}">
                <a16:creationId xmlns:a16="http://schemas.microsoft.com/office/drawing/2014/main" id="{F38F2CA6-63E4-4438-8D2F-305D68FD16CF}"/>
              </a:ext>
            </a:extLst>
          </p:cNvPr>
          <p:cNvSpPr>
            <a:spLocks xmlns:a="http://schemas.openxmlformats.org/drawingml/2006/main" noGrp="1"/>
          </p:cNvSpPr>
          <p:nvPr/>
        </p:nvSpPr>
        <p:spPr>
          <a:xfrm xmlns:a="http://schemas.openxmlformats.org/drawingml/2006/main">
            <a:off x="3676650" y="4248150"/>
            <a:ext cx="2038350" cy="1905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0F9A685-52A5-4683-BAFC-E95DE4F96D9E}"/>
              </a:ext>
            </a:extLst>
          </p:cNvPr>
          <p:cNvSpPr>
            <a:spLocks xmlns:a="http://schemas.openxmlformats.org/drawingml/2006/main" noGrp="1"/>
          </p:cNvSpPr>
          <p:nvPr/>
        </p:nvSpPr>
        <p:spPr>
          <a:xfrm xmlns:a="http://schemas.openxmlformats.org/drawingml/2006/main">
            <a:off x="3676650" y="4476750"/>
            <a:ext cx="20383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C2BFB5"/>
                </a:solidFill>
                <a:latin typeface="Aptos"/>
                <a:ea typeface="Aptos"/>
                <a:cs typeface="Aptos"/>
              </a:defRPr>
            </a:pPr>
            <a:r>
              <a:rPr sz="1350" b="0">
                <a:solidFill>
                  <a:srgbClr val="C2BFB5"/>
                </a:solidFill>
                <a:latin typeface="Aptos"/>
                <a:ea typeface="Aptos"/>
                <a:cs typeface="Aptos"/>
              </a:rPr>
              <a:t>Generic lines, fake certainty, anything you would not say.</a:t>
            </a:r>
          </a:p>
        </p:txBody>
      </p:sp>
      <p:sp>
        <p:nvSpPr>
          <p:cNvPr id="12" name="">
            <a:extLst xmlns:a="http://schemas.openxmlformats.org/drawingml/2006/main">
              <a:ext uri="{FF2B5EF4-FFF2-40B4-BE49-F238E27FC236}">
                <a16:creationId xmlns:a16="http://schemas.microsoft.com/office/drawing/2014/main" id="{46121B0D-3537-4B8D-97C9-891D88A57236}"/>
              </a:ext>
            </a:extLst>
          </p:cNvPr>
          <p:cNvSpPr>
            <a:spLocks xmlns:a="http://schemas.openxmlformats.org/drawingml/2006/main" noGrp="1"/>
          </p:cNvSpPr>
          <p:nvPr/>
        </p:nvSpPr>
        <p:spPr>
          <a:xfrm xmlns:a="http://schemas.openxmlformats.org/drawingml/2006/main">
            <a:off x="6457950" y="371475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E26F2A"/>
                </a:solidFill>
                <a:latin typeface="Aptos Display"/>
                <a:ea typeface="Aptos Display"/>
                <a:cs typeface="Aptos Display"/>
              </a:defRPr>
            </a:pPr>
            <a:r>
              <a:rPr sz="2550" b="1">
                <a:solidFill>
                  <a:srgbClr val="E26F2A"/>
                </a:solidFill>
                <a:latin typeface="Aptos Display"/>
                <a:ea typeface="Aptos Display"/>
                <a:cs typeface="Aptos Display"/>
              </a:rPr>
              <a:t>Sharpen</a:t>
            </a:r>
          </a:p>
        </p:txBody>
      </p:sp>
      <p:sp>
        <p:nvSpPr>
          <p:cNvPr id="13" name="">
            <a:extLst xmlns:a="http://schemas.openxmlformats.org/drawingml/2006/main">
              <a:ext uri="{FF2B5EF4-FFF2-40B4-BE49-F238E27FC236}">
                <a16:creationId xmlns:a16="http://schemas.microsoft.com/office/drawing/2014/main" id="{3607BE04-DBF3-46C3-87F2-F35D4E0EA4FC}"/>
              </a:ext>
            </a:extLst>
          </p:cNvPr>
          <p:cNvSpPr>
            <a:spLocks xmlns:a="http://schemas.openxmlformats.org/drawingml/2006/main" noGrp="1"/>
          </p:cNvSpPr>
          <p:nvPr/>
        </p:nvSpPr>
        <p:spPr>
          <a:xfrm xmlns:a="http://schemas.openxmlformats.org/drawingml/2006/main">
            <a:off x="6457950" y="4248150"/>
            <a:ext cx="2038350" cy="190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11F32A3-AE49-4794-97EC-42E70BF87C45}"/>
              </a:ext>
            </a:extLst>
          </p:cNvPr>
          <p:cNvSpPr>
            <a:spLocks xmlns:a="http://schemas.openxmlformats.org/drawingml/2006/main" noGrp="1"/>
          </p:cNvSpPr>
          <p:nvPr/>
        </p:nvSpPr>
        <p:spPr>
          <a:xfrm xmlns:a="http://schemas.openxmlformats.org/drawingml/2006/main">
            <a:off x="6457950" y="4476750"/>
            <a:ext cx="20383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C2BFB5"/>
                </a:solidFill>
                <a:latin typeface="Aptos"/>
                <a:ea typeface="Aptos"/>
                <a:cs typeface="Aptos"/>
              </a:defRPr>
            </a:pPr>
            <a:r>
              <a:rPr sz="1350" b="0">
                <a:solidFill>
                  <a:srgbClr val="C2BFB5"/>
                </a:solidFill>
                <a:latin typeface="Aptos"/>
                <a:ea typeface="Aptos"/>
                <a:cs typeface="Aptos"/>
              </a:rPr>
              <a:t>The first line, the proof, the final takeaway.</a:t>
            </a:r>
          </a:p>
        </p:txBody>
      </p:sp>
      <p:sp>
        <p:nvSpPr>
          <p:cNvPr id="15" name="">
            <a:extLst xmlns:a="http://schemas.openxmlformats.org/drawingml/2006/main">
              <a:ext uri="{FF2B5EF4-FFF2-40B4-BE49-F238E27FC236}">
                <a16:creationId xmlns:a16="http://schemas.microsoft.com/office/drawing/2014/main" id="{509B5CA4-AF57-4F77-885F-4C84E1DC3187}"/>
              </a:ext>
            </a:extLst>
          </p:cNvPr>
          <p:cNvSpPr>
            <a:spLocks xmlns:a="http://schemas.openxmlformats.org/drawingml/2006/main" noGrp="1"/>
          </p:cNvSpPr>
          <p:nvPr/>
        </p:nvSpPr>
        <p:spPr>
          <a:xfrm xmlns:a="http://schemas.openxmlformats.org/drawingml/2006/main">
            <a:off x="9239250" y="371475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EEE9DD"/>
                </a:solidFill>
                <a:latin typeface="Aptos Display"/>
                <a:ea typeface="Aptos Display"/>
                <a:cs typeface="Aptos Display"/>
              </a:defRPr>
            </a:pPr>
            <a:r>
              <a:rPr sz="2550" b="1">
                <a:solidFill>
                  <a:srgbClr val="EEE9DD"/>
                </a:solidFill>
                <a:latin typeface="Aptos Display"/>
                <a:ea typeface="Aptos Display"/>
                <a:cs typeface="Aptos Display"/>
              </a:rPr>
              <a:t>Ship</a:t>
            </a:r>
          </a:p>
        </p:txBody>
      </p:sp>
      <p:sp>
        <p:nvSpPr>
          <p:cNvPr id="16" name="">
            <a:extLst xmlns:a="http://schemas.openxmlformats.org/drawingml/2006/main">
              <a:ext uri="{FF2B5EF4-FFF2-40B4-BE49-F238E27FC236}">
                <a16:creationId xmlns:a16="http://schemas.microsoft.com/office/drawing/2014/main" id="{C021A551-1B75-434B-B0E6-2B8E14432B39}"/>
              </a:ext>
            </a:extLst>
          </p:cNvPr>
          <p:cNvSpPr>
            <a:spLocks xmlns:a="http://schemas.openxmlformats.org/drawingml/2006/main" noGrp="1"/>
          </p:cNvSpPr>
          <p:nvPr/>
        </p:nvSpPr>
        <p:spPr>
          <a:xfrm xmlns:a="http://schemas.openxmlformats.org/drawingml/2006/main">
            <a:off x="9239250" y="4248150"/>
            <a:ext cx="2038350" cy="19050"/>
          </a:xfrm>
          <a:prstGeom xmlns:a="http://schemas.openxmlformats.org/drawingml/2006/main" prst="rect">
            <a:avLst/>
          </a:prstGeom>
          <a:solidFill xmlns:a="http://schemas.openxmlformats.org/drawingml/2006/main">
            <a:srgbClr val="6B705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31F20083-36DB-4773-AE24-1587D8F97F44}"/>
              </a:ext>
            </a:extLst>
          </p:cNvPr>
          <p:cNvSpPr>
            <a:spLocks xmlns:a="http://schemas.openxmlformats.org/drawingml/2006/main" noGrp="1"/>
          </p:cNvSpPr>
          <p:nvPr/>
        </p:nvSpPr>
        <p:spPr>
          <a:xfrm xmlns:a="http://schemas.openxmlformats.org/drawingml/2006/main">
            <a:off x="9239250" y="4476750"/>
            <a:ext cx="20383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C2BFB5"/>
                </a:solidFill>
                <a:latin typeface="Aptos"/>
                <a:ea typeface="Aptos"/>
                <a:cs typeface="Aptos"/>
              </a:defRPr>
            </a:pPr>
            <a:r>
              <a:rPr sz="1350" b="0">
                <a:solidFill>
                  <a:srgbClr val="C2BFB5"/>
                </a:solidFill>
                <a:latin typeface="Aptos"/>
                <a:ea typeface="Aptos"/>
                <a:cs typeface="Aptos"/>
              </a:rPr>
              <a:t>The version that earns attention without pretending.</a:t>
            </a:r>
          </a:p>
        </p:txBody>
      </p:sp>
      <p:sp>
        <p:nvSpPr>
          <p:cNvPr id="18" name="">
            <a:extLst xmlns:a="http://schemas.openxmlformats.org/drawingml/2006/main">
              <a:ext uri="{FF2B5EF4-FFF2-40B4-BE49-F238E27FC236}">
                <a16:creationId xmlns:a16="http://schemas.microsoft.com/office/drawing/2014/main" id="{96BE23D7-B6AB-463F-B0B2-43770F266890}"/>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ECA08E9-A667-450F-B425-22204E75BB06}"/>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0" name="">
            <a:extLst xmlns:a="http://schemas.openxmlformats.org/drawingml/2006/main">
              <a:ext uri="{FF2B5EF4-FFF2-40B4-BE49-F238E27FC236}">
                <a16:creationId xmlns:a16="http://schemas.microsoft.com/office/drawing/2014/main" id="{85722307-D6EE-4A48-935D-2AF038344E4E}"/>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30628388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F6FCA1-A0E6-4C62-B202-54A7E91BA7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5AE69CC-65BB-4C9A-96B0-4A9A0F0F1546}"/>
              </a:ext>
            </a:extLst>
          </p:cNvPr>
          <p:cNvSpPr>
            <a:spLocks xmlns:a="http://schemas.openxmlformats.org/drawingml/2006/main" noGrp="1"/>
          </p:cNvSpPr>
          <p:nvPr/>
        </p:nvSpPr>
        <p:spPr>
          <a:xfrm xmlns:a="http://schemas.openxmlformats.org/drawingml/2006/main">
            <a:off x="609600" y="495300"/>
            <a:ext cx="1285875"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1EA554E6-F14A-49DE-8A72-E7F572420B2E}"/>
              </a:ext>
            </a:extLst>
          </p:cNvPr>
          <p:cNvSpPr>
            <a:spLocks xmlns:a="http://schemas.openxmlformats.org/drawingml/2006/main" noGrp="1"/>
          </p:cNvSpPr>
          <p:nvPr/>
        </p:nvSpPr>
        <p:spPr>
          <a:xfrm xmlns:a="http://schemas.openxmlformats.org/drawingml/2006/main">
            <a:off x="781050" y="571500"/>
            <a:ext cx="98107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BUILD YOURS</a:t>
            </a:r>
          </a:p>
        </p:txBody>
      </p:sp>
      <p:sp>
        <p:nvSpPr>
          <p:cNvPr id="4" name="">
            <a:extLst xmlns:a="http://schemas.openxmlformats.org/drawingml/2006/main">
              <a:ext uri="{FF2B5EF4-FFF2-40B4-BE49-F238E27FC236}">
                <a16:creationId xmlns:a16="http://schemas.microsoft.com/office/drawing/2014/main" id="{87B1BFE8-EA5A-4113-84F2-DE65DBCDAB4B}"/>
              </a:ext>
            </a:extLst>
          </p:cNvPr>
          <p:cNvSpPr>
            <a:spLocks xmlns:a="http://schemas.openxmlformats.org/drawingml/2006/main" noGrp="1"/>
          </p:cNvSpPr>
          <p:nvPr/>
        </p:nvSpPr>
        <p:spPr>
          <a:xfrm xmlns:a="http://schemas.openxmlformats.org/drawingml/2006/main">
            <a:off x="609600" y="933450"/>
            <a:ext cx="78105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350" b="1">
                <a:solidFill>
                  <a:srgbClr val="EEE9DD"/>
                </a:solidFill>
                <a:latin typeface="Aptos Display"/>
                <a:ea typeface="Aptos Display"/>
                <a:cs typeface="Aptos Display"/>
              </a:defRPr>
            </a:pPr>
            <a:r>
              <a:rPr sz="4350" b="1">
                <a:solidFill>
                  <a:srgbClr val="EEE9DD"/>
                </a:solidFill>
                <a:latin typeface="Aptos Display"/>
                <a:ea typeface="Aptos Display"/>
                <a:cs typeface="Aptos Display"/>
              </a:rPr>
              <a:t>The 60-minute starter engine.</a:t>
            </a:r>
          </a:p>
        </p:txBody>
      </p:sp>
      <p:sp>
        <p:nvSpPr>
          <p:cNvPr id="5" name="">
            <a:extLst xmlns:a="http://schemas.openxmlformats.org/drawingml/2006/main">
              <a:ext uri="{FF2B5EF4-FFF2-40B4-BE49-F238E27FC236}">
                <a16:creationId xmlns:a16="http://schemas.microsoft.com/office/drawing/2014/main" id="{1537E992-2624-4498-AFDA-14B1F9D81E2D}"/>
              </a:ext>
            </a:extLst>
          </p:cNvPr>
          <p:cNvSpPr>
            <a:spLocks xmlns:a="http://schemas.openxmlformats.org/drawingml/2006/main" noGrp="1"/>
          </p:cNvSpPr>
          <p:nvPr/>
        </p:nvSpPr>
        <p:spPr>
          <a:xfrm xmlns:a="http://schemas.openxmlformats.org/drawingml/2006/main">
            <a:off x="647700" y="2419350"/>
            <a:ext cx="609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C2BFB5"/>
                </a:solidFill>
                <a:latin typeface="Aptos"/>
                <a:ea typeface="Aptos"/>
                <a:cs typeface="Aptos"/>
              </a:defRPr>
            </a:pPr>
            <a:r>
              <a:rPr sz="1800" b="0">
                <a:solidFill>
                  <a:srgbClr val="C2BFB5"/>
                </a:solidFill>
                <a:latin typeface="Aptos"/>
                <a:ea typeface="Aptos"/>
                <a:cs typeface="Aptos"/>
              </a:rPr>
              <a:t>Do this before buying another tool.</a:t>
            </a:r>
          </a:p>
        </p:txBody>
      </p:sp>
      <p:sp>
        <p:nvSpPr>
          <p:cNvPr id="6" name="">
            <a:extLst xmlns:a="http://schemas.openxmlformats.org/drawingml/2006/main">
              <a:ext uri="{FF2B5EF4-FFF2-40B4-BE49-F238E27FC236}">
                <a16:creationId xmlns:a16="http://schemas.microsoft.com/office/drawing/2014/main" id="{44060978-2565-4BD4-936F-E5DBC501C57C}"/>
              </a:ext>
            </a:extLst>
          </p:cNvPr>
          <p:cNvSpPr>
            <a:spLocks xmlns:a="http://schemas.openxmlformats.org/drawingml/2006/main" noGrp="1"/>
          </p:cNvSpPr>
          <p:nvPr/>
        </p:nvSpPr>
        <p:spPr>
          <a:xfrm xmlns:a="http://schemas.openxmlformats.org/drawingml/2006/main">
            <a:off x="742950" y="3333750"/>
            <a:ext cx="3429000" cy="12954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7" name="">
            <a:extLst xmlns:a="http://schemas.openxmlformats.org/drawingml/2006/main">
              <a:ext uri="{FF2B5EF4-FFF2-40B4-BE49-F238E27FC236}">
                <a16:creationId xmlns:a16="http://schemas.microsoft.com/office/drawing/2014/main" id="{99D299BF-D4A1-4F17-927C-E0E33F32A902}"/>
              </a:ext>
            </a:extLst>
          </p:cNvPr>
          <p:cNvSpPr>
            <a:spLocks xmlns:a="http://schemas.openxmlformats.org/drawingml/2006/main" noGrp="1"/>
          </p:cNvSpPr>
          <p:nvPr/>
        </p:nvSpPr>
        <p:spPr>
          <a:xfrm xmlns:a="http://schemas.openxmlformats.org/drawingml/2006/main">
            <a:off x="933450" y="3505200"/>
            <a:ext cx="457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01</a:t>
            </a:r>
          </a:p>
        </p:txBody>
      </p:sp>
      <p:sp>
        <p:nvSpPr>
          <p:cNvPr id="8" name="">
            <a:extLst xmlns:a="http://schemas.openxmlformats.org/drawingml/2006/main">
              <a:ext uri="{FF2B5EF4-FFF2-40B4-BE49-F238E27FC236}">
                <a16:creationId xmlns:a16="http://schemas.microsoft.com/office/drawing/2014/main" id="{C3DA7024-CA5A-4719-B3E4-51026B5163C7}"/>
              </a:ext>
            </a:extLst>
          </p:cNvPr>
          <p:cNvSpPr>
            <a:spLocks xmlns:a="http://schemas.openxmlformats.org/drawingml/2006/main" noGrp="1"/>
          </p:cNvSpPr>
          <p:nvPr/>
        </p:nvSpPr>
        <p:spPr>
          <a:xfrm xmlns:a="http://schemas.openxmlformats.org/drawingml/2006/main">
            <a:off x="1428750" y="3495675"/>
            <a:ext cx="2514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EEE9DD"/>
                </a:solidFill>
                <a:latin typeface="Aptos Display"/>
                <a:ea typeface="Aptos Display"/>
                <a:cs typeface="Aptos Display"/>
              </a:defRPr>
            </a:pPr>
            <a:r>
              <a:rPr sz="1650" b="1">
                <a:solidFill>
                  <a:srgbClr val="EEE9DD"/>
                </a:solidFill>
                <a:latin typeface="Aptos Display"/>
                <a:ea typeface="Aptos Display"/>
                <a:cs typeface="Aptos Display"/>
              </a:rPr>
              <a:t>Write the strategy file</a:t>
            </a:r>
          </a:p>
        </p:txBody>
      </p:sp>
      <p:sp>
        <p:nvSpPr>
          <p:cNvPr id="9" name="">
            <a:extLst xmlns:a="http://schemas.openxmlformats.org/drawingml/2006/main">
              <a:ext uri="{FF2B5EF4-FFF2-40B4-BE49-F238E27FC236}">
                <a16:creationId xmlns:a16="http://schemas.microsoft.com/office/drawing/2014/main" id="{9B7B2406-E034-4D27-9866-A3D27D7A710F}"/>
              </a:ext>
            </a:extLst>
          </p:cNvPr>
          <p:cNvSpPr>
            <a:spLocks xmlns:a="http://schemas.openxmlformats.org/drawingml/2006/main" noGrp="1"/>
          </p:cNvSpPr>
          <p:nvPr/>
        </p:nvSpPr>
        <p:spPr>
          <a:xfrm xmlns:a="http://schemas.openxmlformats.org/drawingml/2006/main">
            <a:off x="1428750" y="3848100"/>
            <a:ext cx="2514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2BFB5"/>
                </a:solidFill>
                <a:latin typeface="Aptos"/>
                <a:ea typeface="Aptos"/>
                <a:cs typeface="Aptos"/>
              </a:defRPr>
            </a:pPr>
            <a:r>
              <a:rPr sz="1125" b="0">
                <a:solidFill>
                  <a:srgbClr val="C2BFB5"/>
                </a:solidFill>
                <a:latin typeface="Aptos"/>
                <a:ea typeface="Aptos"/>
                <a:cs typeface="Aptos"/>
              </a:rPr>
              <a:t>Who you help, what you sell, what you believe, what you refuse to sound like.</a:t>
            </a:r>
          </a:p>
        </p:txBody>
      </p:sp>
      <p:sp>
        <p:nvSpPr>
          <p:cNvPr id="10" name="">
            <a:extLst xmlns:a="http://schemas.openxmlformats.org/drawingml/2006/main">
              <a:ext uri="{FF2B5EF4-FFF2-40B4-BE49-F238E27FC236}">
                <a16:creationId xmlns:a16="http://schemas.microsoft.com/office/drawing/2014/main" id="{1784F7AB-DCF9-489B-A02B-C066E33E4BC0}"/>
              </a:ext>
            </a:extLst>
          </p:cNvPr>
          <p:cNvSpPr>
            <a:spLocks xmlns:a="http://schemas.openxmlformats.org/drawingml/2006/main" noGrp="1"/>
          </p:cNvSpPr>
          <p:nvPr/>
        </p:nvSpPr>
        <p:spPr>
          <a:xfrm xmlns:a="http://schemas.openxmlformats.org/drawingml/2006/main">
            <a:off x="4381500" y="3333750"/>
            <a:ext cx="3429000" cy="12954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1" name="">
            <a:extLst xmlns:a="http://schemas.openxmlformats.org/drawingml/2006/main">
              <a:ext uri="{FF2B5EF4-FFF2-40B4-BE49-F238E27FC236}">
                <a16:creationId xmlns:a16="http://schemas.microsoft.com/office/drawing/2014/main" id="{2F3FD624-CC72-4892-9F42-1D48676D712D}"/>
              </a:ext>
            </a:extLst>
          </p:cNvPr>
          <p:cNvSpPr>
            <a:spLocks xmlns:a="http://schemas.openxmlformats.org/drawingml/2006/main" noGrp="1"/>
          </p:cNvSpPr>
          <p:nvPr/>
        </p:nvSpPr>
        <p:spPr>
          <a:xfrm xmlns:a="http://schemas.openxmlformats.org/drawingml/2006/main">
            <a:off x="4572000" y="3505200"/>
            <a:ext cx="457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02</a:t>
            </a:r>
          </a:p>
        </p:txBody>
      </p:sp>
      <p:sp>
        <p:nvSpPr>
          <p:cNvPr id="12" name="">
            <a:extLst xmlns:a="http://schemas.openxmlformats.org/drawingml/2006/main">
              <a:ext uri="{FF2B5EF4-FFF2-40B4-BE49-F238E27FC236}">
                <a16:creationId xmlns:a16="http://schemas.microsoft.com/office/drawing/2014/main" id="{DC5B9574-27B5-4D39-A2CA-546BD1939773}"/>
              </a:ext>
            </a:extLst>
          </p:cNvPr>
          <p:cNvSpPr>
            <a:spLocks xmlns:a="http://schemas.openxmlformats.org/drawingml/2006/main" noGrp="1"/>
          </p:cNvSpPr>
          <p:nvPr/>
        </p:nvSpPr>
        <p:spPr>
          <a:xfrm xmlns:a="http://schemas.openxmlformats.org/drawingml/2006/main">
            <a:off x="5067300" y="3495675"/>
            <a:ext cx="2514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EEE9DD"/>
                </a:solidFill>
                <a:latin typeface="Aptos Display"/>
                <a:ea typeface="Aptos Display"/>
                <a:cs typeface="Aptos Display"/>
              </a:defRPr>
            </a:pPr>
            <a:r>
              <a:rPr sz="1650" b="1">
                <a:solidFill>
                  <a:srgbClr val="EEE9DD"/>
                </a:solidFill>
                <a:latin typeface="Aptos Display"/>
                <a:ea typeface="Aptos Display"/>
                <a:cs typeface="Aptos Display"/>
              </a:rPr>
              <a:t>Write the voice file</a:t>
            </a:r>
          </a:p>
        </p:txBody>
      </p:sp>
      <p:sp>
        <p:nvSpPr>
          <p:cNvPr id="13" name="">
            <a:extLst xmlns:a="http://schemas.openxmlformats.org/drawingml/2006/main">
              <a:ext uri="{FF2B5EF4-FFF2-40B4-BE49-F238E27FC236}">
                <a16:creationId xmlns:a16="http://schemas.microsoft.com/office/drawing/2014/main" id="{B2715743-8E9C-4A3E-BF28-1E0FD44BC4B3}"/>
              </a:ext>
            </a:extLst>
          </p:cNvPr>
          <p:cNvSpPr>
            <a:spLocks xmlns:a="http://schemas.openxmlformats.org/drawingml/2006/main" noGrp="1"/>
          </p:cNvSpPr>
          <p:nvPr/>
        </p:nvSpPr>
        <p:spPr>
          <a:xfrm xmlns:a="http://schemas.openxmlformats.org/drawingml/2006/main">
            <a:off x="5067300" y="3848100"/>
            <a:ext cx="2514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2BFB5"/>
                </a:solidFill>
                <a:latin typeface="Aptos"/>
                <a:ea typeface="Aptos"/>
                <a:cs typeface="Aptos"/>
              </a:defRPr>
            </a:pPr>
            <a:r>
              <a:rPr sz="1125" b="0">
                <a:solidFill>
                  <a:srgbClr val="C2BFB5"/>
                </a:solidFill>
                <a:latin typeface="Aptos"/>
                <a:ea typeface="Aptos"/>
                <a:cs typeface="Aptos"/>
              </a:rPr>
              <a:t>Paste five posts, emails, or voice notes that actually sound like you.</a:t>
            </a:r>
          </a:p>
        </p:txBody>
      </p:sp>
      <p:sp>
        <p:nvSpPr>
          <p:cNvPr id="14" name="">
            <a:extLst xmlns:a="http://schemas.openxmlformats.org/drawingml/2006/main">
              <a:ext uri="{FF2B5EF4-FFF2-40B4-BE49-F238E27FC236}">
                <a16:creationId xmlns:a16="http://schemas.microsoft.com/office/drawing/2014/main" id="{844D7F5F-591D-43BB-A9A0-5328BA775DD2}"/>
              </a:ext>
            </a:extLst>
          </p:cNvPr>
          <p:cNvSpPr>
            <a:spLocks xmlns:a="http://schemas.openxmlformats.org/drawingml/2006/main" noGrp="1"/>
          </p:cNvSpPr>
          <p:nvPr/>
        </p:nvSpPr>
        <p:spPr>
          <a:xfrm xmlns:a="http://schemas.openxmlformats.org/drawingml/2006/main">
            <a:off x="8020050" y="3333750"/>
            <a:ext cx="3429000" cy="12954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5" name="">
            <a:extLst xmlns:a="http://schemas.openxmlformats.org/drawingml/2006/main">
              <a:ext uri="{FF2B5EF4-FFF2-40B4-BE49-F238E27FC236}">
                <a16:creationId xmlns:a16="http://schemas.microsoft.com/office/drawing/2014/main" id="{2DA1801C-3E22-47DD-B98B-AE0C740DA95F}"/>
              </a:ext>
            </a:extLst>
          </p:cNvPr>
          <p:cNvSpPr>
            <a:spLocks xmlns:a="http://schemas.openxmlformats.org/drawingml/2006/main" noGrp="1"/>
          </p:cNvSpPr>
          <p:nvPr/>
        </p:nvSpPr>
        <p:spPr>
          <a:xfrm xmlns:a="http://schemas.openxmlformats.org/drawingml/2006/main">
            <a:off x="8210550" y="3505200"/>
            <a:ext cx="457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03</a:t>
            </a:r>
          </a:p>
        </p:txBody>
      </p:sp>
      <p:sp>
        <p:nvSpPr>
          <p:cNvPr id="16" name="">
            <a:extLst xmlns:a="http://schemas.openxmlformats.org/drawingml/2006/main">
              <a:ext uri="{FF2B5EF4-FFF2-40B4-BE49-F238E27FC236}">
                <a16:creationId xmlns:a16="http://schemas.microsoft.com/office/drawing/2014/main" id="{824EFD42-D948-4332-9869-6F067F334CD3}"/>
              </a:ext>
            </a:extLst>
          </p:cNvPr>
          <p:cNvSpPr>
            <a:spLocks xmlns:a="http://schemas.openxmlformats.org/drawingml/2006/main" noGrp="1"/>
          </p:cNvSpPr>
          <p:nvPr/>
        </p:nvSpPr>
        <p:spPr>
          <a:xfrm xmlns:a="http://schemas.openxmlformats.org/drawingml/2006/main">
            <a:off x="8705850" y="3495675"/>
            <a:ext cx="2514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EEE9DD"/>
                </a:solidFill>
                <a:latin typeface="Aptos Display"/>
                <a:ea typeface="Aptos Display"/>
                <a:cs typeface="Aptos Display"/>
              </a:defRPr>
            </a:pPr>
            <a:r>
              <a:rPr sz="1650" b="1">
                <a:solidFill>
                  <a:srgbClr val="EEE9DD"/>
                </a:solidFill>
                <a:latin typeface="Aptos Display"/>
                <a:ea typeface="Aptos Display"/>
                <a:cs typeface="Aptos Display"/>
              </a:rPr>
              <a:t>Write the waterfall file</a:t>
            </a:r>
          </a:p>
        </p:txBody>
      </p:sp>
      <p:sp>
        <p:nvSpPr>
          <p:cNvPr id="17" name="">
            <a:extLst xmlns:a="http://schemas.openxmlformats.org/drawingml/2006/main">
              <a:ext uri="{FF2B5EF4-FFF2-40B4-BE49-F238E27FC236}">
                <a16:creationId xmlns:a16="http://schemas.microsoft.com/office/drawing/2014/main" id="{25EC7D86-BC8F-4560-B211-140DBF725053}"/>
              </a:ext>
            </a:extLst>
          </p:cNvPr>
          <p:cNvSpPr>
            <a:spLocks xmlns:a="http://schemas.openxmlformats.org/drawingml/2006/main" noGrp="1"/>
          </p:cNvSpPr>
          <p:nvPr/>
        </p:nvSpPr>
        <p:spPr>
          <a:xfrm xmlns:a="http://schemas.openxmlformats.org/drawingml/2006/main">
            <a:off x="8705850" y="3848100"/>
            <a:ext cx="2514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2BFB5"/>
                </a:solidFill>
                <a:latin typeface="Aptos"/>
                <a:ea typeface="Aptos"/>
                <a:cs typeface="Aptos"/>
              </a:defRPr>
            </a:pPr>
            <a:r>
              <a:rPr sz="1125" b="0">
                <a:solidFill>
                  <a:srgbClr val="C2BFB5"/>
                </a:solidFill>
                <a:latin typeface="Aptos"/>
                <a:ea typeface="Aptos"/>
                <a:cs typeface="Aptos"/>
              </a:rPr>
              <a:t>Decide how one idea turns into your formats, not every format on the internet.</a:t>
            </a:r>
          </a:p>
        </p:txBody>
      </p:sp>
      <p:sp>
        <p:nvSpPr>
          <p:cNvPr id="18" name="">
            <a:extLst xmlns:a="http://schemas.openxmlformats.org/drawingml/2006/main">
              <a:ext uri="{FF2B5EF4-FFF2-40B4-BE49-F238E27FC236}">
                <a16:creationId xmlns:a16="http://schemas.microsoft.com/office/drawing/2014/main" id="{7AED2E3D-2B09-46D1-8889-59B5C2879516}"/>
              </a:ext>
            </a:extLst>
          </p:cNvPr>
          <p:cNvSpPr>
            <a:spLocks xmlns:a="http://schemas.openxmlformats.org/drawingml/2006/main" noGrp="1"/>
          </p:cNvSpPr>
          <p:nvPr/>
        </p:nvSpPr>
        <p:spPr>
          <a:xfrm xmlns:a="http://schemas.openxmlformats.org/drawingml/2006/main">
            <a:off x="2000250" y="5334000"/>
            <a:ext cx="8191500" cy="5143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04B8A965-A39E-4F6C-8DD6-9B654C2BA519}"/>
              </a:ext>
            </a:extLst>
          </p:cNvPr>
          <p:cNvSpPr>
            <a:spLocks xmlns:a="http://schemas.openxmlformats.org/drawingml/2006/main" noGrp="1"/>
          </p:cNvSpPr>
          <p:nvPr/>
        </p:nvSpPr>
        <p:spPr>
          <a:xfrm xmlns:a="http://schemas.openxmlformats.org/drawingml/2006/main">
            <a:off x="2305050" y="5486400"/>
            <a:ext cx="7581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C1F1A"/>
                </a:solidFill>
                <a:latin typeface="Aptos"/>
                <a:ea typeface="Aptos"/>
                <a:cs typeface="Aptos"/>
              </a:defRPr>
            </a:pPr>
            <a:r>
              <a:rPr sz="1800" b="1">
                <a:solidFill>
                  <a:srgbClr val="1C1F1A"/>
                </a:solidFill>
                <a:latin typeface="Aptos"/>
                <a:ea typeface="Aptos"/>
                <a:cs typeface="Aptos"/>
              </a:rPr>
              <a:t>Then run one idea through it. Judge the draft. Improve the files.</a:t>
            </a:r>
          </a:p>
        </p:txBody>
      </p:sp>
      <p:sp>
        <p:nvSpPr>
          <p:cNvPr id="20" name="">
            <a:extLst xmlns:a="http://schemas.openxmlformats.org/drawingml/2006/main">
              <a:ext uri="{FF2B5EF4-FFF2-40B4-BE49-F238E27FC236}">
                <a16:creationId xmlns:a16="http://schemas.microsoft.com/office/drawing/2014/main" id="{086F7469-60B2-420B-88FA-343AEAEA3B2C}"/>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0159EB2-65FD-4E5E-AE9F-0283BFD23E3B}"/>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2" name="">
            <a:extLst xmlns:a="http://schemas.openxmlformats.org/drawingml/2006/main">
              <a:ext uri="{FF2B5EF4-FFF2-40B4-BE49-F238E27FC236}">
                <a16:creationId xmlns:a16="http://schemas.microsoft.com/office/drawing/2014/main" id="{55A8414D-43B5-4872-B8FA-38A21D8C6023}"/>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18189275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B187C5-9CEE-4417-A776-27ED7A3265E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E5A6D57-D4F0-44BB-A1F2-7DE49D2F8D48}"/>
              </a:ext>
            </a:extLst>
          </p:cNvPr>
          <p:cNvSpPr>
            <a:spLocks xmlns:a="http://schemas.openxmlformats.org/drawingml/2006/main" noGrp="1"/>
          </p:cNvSpPr>
          <p:nvPr/>
        </p:nvSpPr>
        <p:spPr>
          <a:xfrm xmlns:a="http://schemas.openxmlformats.org/drawingml/2006/main">
            <a:off x="609600" y="495300"/>
            <a:ext cx="1800225"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35C79439-C224-4112-B05A-0182FA9A4DA4}"/>
              </a:ext>
            </a:extLst>
          </p:cNvPr>
          <p:cNvSpPr>
            <a:spLocks xmlns:a="http://schemas.openxmlformats.org/drawingml/2006/main" noGrp="1"/>
          </p:cNvSpPr>
          <p:nvPr/>
        </p:nvSpPr>
        <p:spPr>
          <a:xfrm xmlns:a="http://schemas.openxmlformats.org/drawingml/2006/main">
            <a:off x="781050" y="571500"/>
            <a:ext cx="14954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STARTER QUESTIONS</a:t>
            </a:r>
          </a:p>
        </p:txBody>
      </p:sp>
      <p:sp>
        <p:nvSpPr>
          <p:cNvPr id="4" name="">
            <a:extLst xmlns:a="http://schemas.openxmlformats.org/drawingml/2006/main">
              <a:ext uri="{FF2B5EF4-FFF2-40B4-BE49-F238E27FC236}">
                <a16:creationId xmlns:a16="http://schemas.microsoft.com/office/drawing/2014/main" id="{A683BF78-05CC-4FAE-9B95-4E2C9CD8C255}"/>
              </a:ext>
            </a:extLst>
          </p:cNvPr>
          <p:cNvSpPr>
            <a:spLocks xmlns:a="http://schemas.openxmlformats.org/drawingml/2006/main" noGrp="1"/>
          </p:cNvSpPr>
          <p:nvPr/>
        </p:nvSpPr>
        <p:spPr>
          <a:xfrm xmlns:a="http://schemas.openxmlformats.org/drawingml/2006/main">
            <a:off x="609600" y="1028700"/>
            <a:ext cx="80962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350" b="1">
                <a:solidFill>
                  <a:srgbClr val="EEE9DD"/>
                </a:solidFill>
                <a:latin typeface="Aptos Display"/>
                <a:ea typeface="Aptos Display"/>
                <a:cs typeface="Aptos Display"/>
              </a:defRPr>
            </a:pPr>
            <a:r>
              <a:rPr sz="4350" b="1">
                <a:solidFill>
                  <a:srgbClr val="EEE9DD"/>
                </a:solidFill>
                <a:latin typeface="Aptos Display"/>
                <a:ea typeface="Aptos Display"/>
                <a:cs typeface="Aptos Display"/>
              </a:rPr>
              <a:t>Do not write documents. Answer decisions.</a:t>
            </a:r>
          </a:p>
        </p:txBody>
      </p:sp>
      <p:sp>
        <p:nvSpPr>
          <p:cNvPr id="5" name="">
            <a:extLst xmlns:a="http://schemas.openxmlformats.org/drawingml/2006/main">
              <a:ext uri="{FF2B5EF4-FFF2-40B4-BE49-F238E27FC236}">
                <a16:creationId xmlns:a16="http://schemas.microsoft.com/office/drawing/2014/main" id="{7978FCB9-B12B-48A3-95B4-9E8089E69BA8}"/>
              </a:ext>
            </a:extLst>
          </p:cNvPr>
          <p:cNvSpPr>
            <a:spLocks xmlns:a="http://schemas.openxmlformats.org/drawingml/2006/main" noGrp="1"/>
          </p:cNvSpPr>
          <p:nvPr/>
        </p:nvSpPr>
        <p:spPr>
          <a:xfrm xmlns:a="http://schemas.openxmlformats.org/drawingml/2006/main">
            <a:off x="742950" y="2724150"/>
            <a:ext cx="2343150" cy="24765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6" name="">
            <a:extLst xmlns:a="http://schemas.openxmlformats.org/drawingml/2006/main">
              <a:ext uri="{FF2B5EF4-FFF2-40B4-BE49-F238E27FC236}">
                <a16:creationId xmlns:a16="http://schemas.microsoft.com/office/drawing/2014/main" id="{FCDF13A3-A1C5-466E-A0D3-02A3BE9CEE10}"/>
              </a:ext>
            </a:extLst>
          </p:cNvPr>
          <p:cNvSpPr>
            <a:spLocks xmlns:a="http://schemas.openxmlformats.org/drawingml/2006/main" noGrp="1"/>
          </p:cNvSpPr>
          <p:nvPr/>
        </p:nvSpPr>
        <p:spPr>
          <a:xfrm xmlns:a="http://schemas.openxmlformats.org/drawingml/2006/main">
            <a:off x="952500" y="2952750"/>
            <a:ext cx="1924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E26F2A"/>
                </a:solidFill>
                <a:latin typeface="Aptos Display"/>
                <a:ea typeface="Aptos Display"/>
                <a:cs typeface="Aptos Display"/>
              </a:defRPr>
            </a:pPr>
            <a:r>
              <a:rPr sz="1950" b="1">
                <a:solidFill>
                  <a:srgbClr val="E26F2A"/>
                </a:solidFill>
                <a:latin typeface="Aptos Display"/>
                <a:ea typeface="Aptos Display"/>
                <a:cs typeface="Aptos Display"/>
              </a:rPr>
              <a:t>Strategy</a:t>
            </a:r>
          </a:p>
        </p:txBody>
      </p:sp>
      <p:sp>
        <p:nvSpPr>
          <p:cNvPr id="7" name="">
            <a:extLst xmlns:a="http://schemas.openxmlformats.org/drawingml/2006/main">
              <a:ext uri="{FF2B5EF4-FFF2-40B4-BE49-F238E27FC236}">
                <a16:creationId xmlns:a16="http://schemas.microsoft.com/office/drawing/2014/main" id="{6D736C7B-B692-4CE4-8B79-25E027D7972B}"/>
              </a:ext>
            </a:extLst>
          </p:cNvPr>
          <p:cNvSpPr>
            <a:spLocks xmlns:a="http://schemas.openxmlformats.org/drawingml/2006/main" noGrp="1"/>
          </p:cNvSpPr>
          <p:nvPr/>
        </p:nvSpPr>
        <p:spPr>
          <a:xfrm xmlns:a="http://schemas.openxmlformats.org/drawingml/2006/main">
            <a:off x="952500" y="3543300"/>
            <a:ext cx="192405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Who is this for?</a:t>
            </a:r>
          </a:p>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What do they want?</a:t>
            </a:r>
          </a:p>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What do I believe that is useful?</a:t>
            </a:r>
          </a:p>
        </p:txBody>
      </p:sp>
      <p:sp>
        <p:nvSpPr>
          <p:cNvPr id="8" name="">
            <a:extLst xmlns:a="http://schemas.openxmlformats.org/drawingml/2006/main">
              <a:ext uri="{FF2B5EF4-FFF2-40B4-BE49-F238E27FC236}">
                <a16:creationId xmlns:a16="http://schemas.microsoft.com/office/drawing/2014/main" id="{2D929D66-3386-4DE4-A211-798A140FDCC3}"/>
              </a:ext>
            </a:extLst>
          </p:cNvPr>
          <p:cNvSpPr>
            <a:spLocks xmlns:a="http://schemas.openxmlformats.org/drawingml/2006/main" noGrp="1"/>
          </p:cNvSpPr>
          <p:nvPr/>
        </p:nvSpPr>
        <p:spPr>
          <a:xfrm xmlns:a="http://schemas.openxmlformats.org/drawingml/2006/main">
            <a:off x="3524250" y="2724150"/>
            <a:ext cx="2343150" cy="24765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9" name="">
            <a:extLst xmlns:a="http://schemas.openxmlformats.org/drawingml/2006/main">
              <a:ext uri="{FF2B5EF4-FFF2-40B4-BE49-F238E27FC236}">
                <a16:creationId xmlns:a16="http://schemas.microsoft.com/office/drawing/2014/main" id="{E79512EF-43C8-446A-9A4A-9CECAE53541C}"/>
              </a:ext>
            </a:extLst>
          </p:cNvPr>
          <p:cNvSpPr>
            <a:spLocks xmlns:a="http://schemas.openxmlformats.org/drawingml/2006/main" noGrp="1"/>
          </p:cNvSpPr>
          <p:nvPr/>
        </p:nvSpPr>
        <p:spPr>
          <a:xfrm xmlns:a="http://schemas.openxmlformats.org/drawingml/2006/main">
            <a:off x="3733800" y="2952750"/>
            <a:ext cx="1924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E26F2A"/>
                </a:solidFill>
                <a:latin typeface="Aptos Display"/>
                <a:ea typeface="Aptos Display"/>
                <a:cs typeface="Aptos Display"/>
              </a:defRPr>
            </a:pPr>
            <a:r>
              <a:rPr sz="1950" b="1">
                <a:solidFill>
                  <a:srgbClr val="E26F2A"/>
                </a:solidFill>
                <a:latin typeface="Aptos Display"/>
                <a:ea typeface="Aptos Display"/>
                <a:cs typeface="Aptos Display"/>
              </a:rPr>
              <a:t>Voice</a:t>
            </a:r>
          </a:p>
        </p:txBody>
      </p:sp>
      <p:sp>
        <p:nvSpPr>
          <p:cNvPr id="10" name="">
            <a:extLst xmlns:a="http://schemas.openxmlformats.org/drawingml/2006/main">
              <a:ext uri="{FF2B5EF4-FFF2-40B4-BE49-F238E27FC236}">
                <a16:creationId xmlns:a16="http://schemas.microsoft.com/office/drawing/2014/main" id="{847A928C-A6F2-4C3C-8C4F-A96488473612}"/>
              </a:ext>
            </a:extLst>
          </p:cNvPr>
          <p:cNvSpPr>
            <a:spLocks xmlns:a="http://schemas.openxmlformats.org/drawingml/2006/main" noGrp="1"/>
          </p:cNvSpPr>
          <p:nvPr/>
        </p:nvSpPr>
        <p:spPr>
          <a:xfrm xmlns:a="http://schemas.openxmlformats.org/drawingml/2006/main">
            <a:off x="3733800" y="3543300"/>
            <a:ext cx="192405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What do I sound like?</a:t>
            </a:r>
          </a:p>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What phrases do I use?</a:t>
            </a:r>
          </a:p>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What phrases are banned?</a:t>
            </a:r>
          </a:p>
        </p:txBody>
      </p:sp>
      <p:sp>
        <p:nvSpPr>
          <p:cNvPr id="11" name="">
            <a:extLst xmlns:a="http://schemas.openxmlformats.org/drawingml/2006/main">
              <a:ext uri="{FF2B5EF4-FFF2-40B4-BE49-F238E27FC236}">
                <a16:creationId xmlns:a16="http://schemas.microsoft.com/office/drawing/2014/main" id="{D9A484C4-5511-499E-BAAE-5CA57A4D260F}"/>
              </a:ext>
            </a:extLst>
          </p:cNvPr>
          <p:cNvSpPr>
            <a:spLocks xmlns:a="http://schemas.openxmlformats.org/drawingml/2006/main" noGrp="1"/>
          </p:cNvSpPr>
          <p:nvPr/>
        </p:nvSpPr>
        <p:spPr>
          <a:xfrm xmlns:a="http://schemas.openxmlformats.org/drawingml/2006/main">
            <a:off x="6305550" y="2724150"/>
            <a:ext cx="2343150" cy="24765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2" name="">
            <a:extLst xmlns:a="http://schemas.openxmlformats.org/drawingml/2006/main">
              <a:ext uri="{FF2B5EF4-FFF2-40B4-BE49-F238E27FC236}">
                <a16:creationId xmlns:a16="http://schemas.microsoft.com/office/drawing/2014/main" id="{F643678F-378E-4398-9695-6E4867303A42}"/>
              </a:ext>
            </a:extLst>
          </p:cNvPr>
          <p:cNvSpPr>
            <a:spLocks xmlns:a="http://schemas.openxmlformats.org/drawingml/2006/main" noGrp="1"/>
          </p:cNvSpPr>
          <p:nvPr/>
        </p:nvSpPr>
        <p:spPr>
          <a:xfrm xmlns:a="http://schemas.openxmlformats.org/drawingml/2006/main">
            <a:off x="6515100" y="2952750"/>
            <a:ext cx="1924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E26F2A"/>
                </a:solidFill>
                <a:latin typeface="Aptos Display"/>
                <a:ea typeface="Aptos Display"/>
                <a:cs typeface="Aptos Display"/>
              </a:defRPr>
            </a:pPr>
            <a:r>
              <a:rPr sz="1950" b="1">
                <a:solidFill>
                  <a:srgbClr val="E26F2A"/>
                </a:solidFill>
                <a:latin typeface="Aptos Display"/>
                <a:ea typeface="Aptos Display"/>
                <a:cs typeface="Aptos Display"/>
              </a:rPr>
              <a:t>Rules</a:t>
            </a:r>
          </a:p>
        </p:txBody>
      </p:sp>
      <p:sp>
        <p:nvSpPr>
          <p:cNvPr id="13" name="">
            <a:extLst xmlns:a="http://schemas.openxmlformats.org/drawingml/2006/main">
              <a:ext uri="{FF2B5EF4-FFF2-40B4-BE49-F238E27FC236}">
                <a16:creationId xmlns:a16="http://schemas.microsoft.com/office/drawing/2014/main" id="{49F1C5EA-3394-4FDD-8AED-978A9F533D2E}"/>
              </a:ext>
            </a:extLst>
          </p:cNvPr>
          <p:cNvSpPr>
            <a:spLocks xmlns:a="http://schemas.openxmlformats.org/drawingml/2006/main" noGrp="1"/>
          </p:cNvSpPr>
          <p:nvPr/>
        </p:nvSpPr>
        <p:spPr>
          <a:xfrm xmlns:a="http://schemas.openxmlformats.org/drawingml/2006/main">
            <a:off x="6515100" y="3543300"/>
            <a:ext cx="192405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What is confidential?</a:t>
            </a:r>
          </a:p>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What is off-brand?</a:t>
            </a:r>
          </a:p>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What needs approval?</a:t>
            </a:r>
          </a:p>
        </p:txBody>
      </p:sp>
      <p:sp>
        <p:nvSpPr>
          <p:cNvPr id="14" name="">
            <a:extLst xmlns:a="http://schemas.openxmlformats.org/drawingml/2006/main">
              <a:ext uri="{FF2B5EF4-FFF2-40B4-BE49-F238E27FC236}">
                <a16:creationId xmlns:a16="http://schemas.microsoft.com/office/drawing/2014/main" id="{DFE3B6A7-292A-4E6D-870D-64D5A3FB2134}"/>
              </a:ext>
            </a:extLst>
          </p:cNvPr>
          <p:cNvSpPr>
            <a:spLocks xmlns:a="http://schemas.openxmlformats.org/drawingml/2006/main" noGrp="1"/>
          </p:cNvSpPr>
          <p:nvPr/>
        </p:nvSpPr>
        <p:spPr>
          <a:xfrm xmlns:a="http://schemas.openxmlformats.org/drawingml/2006/main">
            <a:off x="9086850" y="2724150"/>
            <a:ext cx="2343150" cy="247650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15" name="">
            <a:extLst xmlns:a="http://schemas.openxmlformats.org/drawingml/2006/main">
              <a:ext uri="{FF2B5EF4-FFF2-40B4-BE49-F238E27FC236}">
                <a16:creationId xmlns:a16="http://schemas.microsoft.com/office/drawing/2014/main" id="{5795A053-187C-419F-9F19-5D5C2700D07B}"/>
              </a:ext>
            </a:extLst>
          </p:cNvPr>
          <p:cNvSpPr>
            <a:spLocks xmlns:a="http://schemas.openxmlformats.org/drawingml/2006/main" noGrp="1"/>
          </p:cNvSpPr>
          <p:nvPr/>
        </p:nvSpPr>
        <p:spPr>
          <a:xfrm xmlns:a="http://schemas.openxmlformats.org/drawingml/2006/main">
            <a:off x="9296400" y="2952750"/>
            <a:ext cx="1924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E26F2A"/>
                </a:solidFill>
                <a:latin typeface="Aptos Display"/>
                <a:ea typeface="Aptos Display"/>
                <a:cs typeface="Aptos Display"/>
              </a:defRPr>
            </a:pPr>
            <a:r>
              <a:rPr sz="1950" b="1">
                <a:solidFill>
                  <a:srgbClr val="E26F2A"/>
                </a:solidFill>
                <a:latin typeface="Aptos Display"/>
                <a:ea typeface="Aptos Display"/>
                <a:cs typeface="Aptos Display"/>
              </a:rPr>
              <a:t>Waterfall</a:t>
            </a:r>
          </a:p>
        </p:txBody>
      </p:sp>
      <p:sp>
        <p:nvSpPr>
          <p:cNvPr id="16" name="">
            <a:extLst xmlns:a="http://schemas.openxmlformats.org/drawingml/2006/main">
              <a:ext uri="{FF2B5EF4-FFF2-40B4-BE49-F238E27FC236}">
                <a16:creationId xmlns:a16="http://schemas.microsoft.com/office/drawing/2014/main" id="{3DD6B387-C5D6-4A9C-A021-64D90DE7915B}"/>
              </a:ext>
            </a:extLst>
          </p:cNvPr>
          <p:cNvSpPr>
            <a:spLocks xmlns:a="http://schemas.openxmlformats.org/drawingml/2006/main" noGrp="1"/>
          </p:cNvSpPr>
          <p:nvPr/>
        </p:nvSpPr>
        <p:spPr>
          <a:xfrm xmlns:a="http://schemas.openxmlformats.org/drawingml/2006/main">
            <a:off x="9296400" y="3543300"/>
            <a:ext cx="192405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What are my formats?</a:t>
            </a:r>
          </a:p>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How often do I choose ideas?</a:t>
            </a:r>
          </a:p>
          <a:p xmlns:a="http://schemas.openxmlformats.org/drawingml/2006/main">
            <a:pPr algn="l">
              <a:defRPr sz="1425" b="0">
                <a:solidFill>
                  <a:srgbClr val="C2BFB5"/>
                </a:solidFill>
                <a:latin typeface="Aptos"/>
                <a:ea typeface="Aptos"/>
                <a:cs typeface="Aptos"/>
              </a:defRPr>
            </a:pPr>
            <a:r>
              <a:rPr sz="1425" b="0">
                <a:solidFill>
                  <a:srgbClr val="C2BFB5"/>
                </a:solidFill>
                <a:latin typeface="Aptos"/>
                <a:ea typeface="Aptos"/>
                <a:cs typeface="Aptos"/>
              </a:rPr>
              <a:t>Where does each output go?</a:t>
            </a:r>
          </a:p>
        </p:txBody>
      </p:sp>
      <p:sp>
        <p:nvSpPr>
          <p:cNvPr id="17" name="">
            <a:extLst xmlns:a="http://schemas.openxmlformats.org/drawingml/2006/main">
              <a:ext uri="{FF2B5EF4-FFF2-40B4-BE49-F238E27FC236}">
                <a16:creationId xmlns:a16="http://schemas.microsoft.com/office/drawing/2014/main" id="{2E93B334-9022-4AF5-974E-9692459E4A1B}"/>
              </a:ext>
            </a:extLst>
          </p:cNvPr>
          <p:cNvSpPr>
            <a:spLocks xmlns:a="http://schemas.openxmlformats.org/drawingml/2006/main" noGrp="1"/>
          </p:cNvSpPr>
          <p:nvPr/>
        </p:nvSpPr>
        <p:spPr>
          <a:xfrm xmlns:a="http://schemas.openxmlformats.org/drawingml/2006/main">
            <a:off x="1562100" y="5772150"/>
            <a:ext cx="9067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EEE9DD"/>
                </a:solidFill>
                <a:latin typeface="Aptos Display"/>
                <a:ea typeface="Aptos Display"/>
                <a:cs typeface="Aptos Display"/>
              </a:defRPr>
            </a:pPr>
            <a:r>
              <a:rPr sz="1950" b="1">
                <a:solidFill>
                  <a:srgbClr val="EEE9DD"/>
                </a:solidFill>
                <a:latin typeface="Aptos Display"/>
                <a:ea typeface="Aptos Display"/>
                <a:cs typeface="Aptos Display"/>
              </a:rPr>
              <a:t>If a file does not remove a repeated decision, it is probably theatre.</a:t>
            </a:r>
          </a:p>
        </p:txBody>
      </p:sp>
      <p:sp>
        <p:nvSpPr>
          <p:cNvPr id="18" name="">
            <a:extLst xmlns:a="http://schemas.openxmlformats.org/drawingml/2006/main">
              <a:ext uri="{FF2B5EF4-FFF2-40B4-BE49-F238E27FC236}">
                <a16:creationId xmlns:a16="http://schemas.microsoft.com/office/drawing/2014/main" id="{4E54AC25-025F-45DB-86A8-D3E92A56CFA4}"/>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742AE028-4CA8-46BB-B184-016263A0DB69}"/>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0" name="">
            <a:extLst xmlns:a="http://schemas.openxmlformats.org/drawingml/2006/main">
              <a:ext uri="{FF2B5EF4-FFF2-40B4-BE49-F238E27FC236}">
                <a16:creationId xmlns:a16="http://schemas.microsoft.com/office/drawing/2014/main" id="{FB30B795-5DD5-4F0C-8DB4-446C332D12EB}"/>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114890917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2F2E80-4FD5-451B-BCAF-C0C1661CB3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3D1AC59-2C4B-4AB2-8C83-B791E114854D}"/>
              </a:ext>
            </a:extLst>
          </p:cNvPr>
          <p:cNvSpPr>
            <a:spLocks xmlns:a="http://schemas.openxmlformats.org/drawingml/2006/main" noGrp="1"/>
          </p:cNvSpPr>
          <p:nvPr/>
        </p:nvSpPr>
        <p:spPr>
          <a:xfrm xmlns:a="http://schemas.openxmlformats.org/drawingml/2006/main">
            <a:off x="609600" y="495300"/>
            <a:ext cx="1457325"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3" name="">
            <a:extLst xmlns:a="http://schemas.openxmlformats.org/drawingml/2006/main">
              <a:ext uri="{FF2B5EF4-FFF2-40B4-BE49-F238E27FC236}">
                <a16:creationId xmlns:a16="http://schemas.microsoft.com/office/drawing/2014/main" id="{752BD9BE-DBF6-4D58-8BA1-64C4009E1288}"/>
              </a:ext>
            </a:extLst>
          </p:cNvPr>
          <p:cNvSpPr>
            <a:spLocks xmlns:a="http://schemas.openxmlformats.org/drawingml/2006/main" noGrp="1"/>
          </p:cNvSpPr>
          <p:nvPr/>
        </p:nvSpPr>
        <p:spPr>
          <a:xfrm xmlns:a="http://schemas.openxmlformats.org/drawingml/2006/main">
            <a:off x="781050" y="571500"/>
            <a:ext cx="11525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FAILURE MODES</a:t>
            </a:r>
          </a:p>
        </p:txBody>
      </p:sp>
      <p:sp>
        <p:nvSpPr>
          <p:cNvPr id="4" name="">
            <a:extLst xmlns:a="http://schemas.openxmlformats.org/drawingml/2006/main">
              <a:ext uri="{FF2B5EF4-FFF2-40B4-BE49-F238E27FC236}">
                <a16:creationId xmlns:a16="http://schemas.microsoft.com/office/drawing/2014/main" id="{0C30DEA1-5EAE-47FE-AB10-443020E85CE1}"/>
              </a:ext>
            </a:extLst>
          </p:cNvPr>
          <p:cNvSpPr>
            <a:spLocks xmlns:a="http://schemas.openxmlformats.org/drawingml/2006/main" noGrp="1"/>
          </p:cNvSpPr>
          <p:nvPr/>
        </p:nvSpPr>
        <p:spPr>
          <a:xfrm xmlns:a="http://schemas.openxmlformats.org/drawingml/2006/main">
            <a:off x="609600" y="1028700"/>
            <a:ext cx="7239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500" b="1">
                <a:solidFill>
                  <a:srgbClr val="EEE9DD"/>
                </a:solidFill>
                <a:latin typeface="Aptos Display"/>
                <a:ea typeface="Aptos Display"/>
                <a:cs typeface="Aptos Display"/>
              </a:defRPr>
            </a:pPr>
            <a:r>
              <a:rPr sz="4500" b="1">
                <a:solidFill>
                  <a:srgbClr val="EEE9DD"/>
                </a:solidFill>
                <a:latin typeface="Aptos Display"/>
                <a:ea typeface="Aptos Display"/>
                <a:cs typeface="Aptos Display"/>
              </a:rPr>
              <a:t>Where this falls apart.</a:t>
            </a:r>
          </a:p>
        </p:txBody>
      </p:sp>
      <p:sp>
        <p:nvSpPr>
          <p:cNvPr id="5" name="">
            <a:extLst xmlns:a="http://schemas.openxmlformats.org/drawingml/2006/main">
              <a:ext uri="{FF2B5EF4-FFF2-40B4-BE49-F238E27FC236}">
                <a16:creationId xmlns:a16="http://schemas.microsoft.com/office/drawing/2014/main" id="{5F1B5326-A86D-49E4-84C2-F1B417B1E0FE}"/>
              </a:ext>
            </a:extLst>
          </p:cNvPr>
          <p:cNvSpPr>
            <a:spLocks xmlns:a="http://schemas.openxmlformats.org/drawingml/2006/main" noGrp="1"/>
          </p:cNvSpPr>
          <p:nvPr/>
        </p:nvSpPr>
        <p:spPr>
          <a:xfrm xmlns:a="http://schemas.openxmlformats.org/drawingml/2006/main">
            <a:off x="876300" y="2419350"/>
            <a:ext cx="514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01</a:t>
            </a:r>
          </a:p>
        </p:txBody>
      </p:sp>
      <p:sp>
        <p:nvSpPr>
          <p:cNvPr id="6" name="">
            <a:extLst xmlns:a="http://schemas.openxmlformats.org/drawingml/2006/main">
              <a:ext uri="{FF2B5EF4-FFF2-40B4-BE49-F238E27FC236}">
                <a16:creationId xmlns:a16="http://schemas.microsoft.com/office/drawing/2014/main" id="{3AF098AB-E1C3-43AB-9993-B536F5916577}"/>
              </a:ext>
            </a:extLst>
          </p:cNvPr>
          <p:cNvSpPr>
            <a:spLocks xmlns:a="http://schemas.openxmlformats.org/drawingml/2006/main" noGrp="1"/>
          </p:cNvSpPr>
          <p:nvPr/>
        </p:nvSpPr>
        <p:spPr>
          <a:xfrm xmlns:a="http://schemas.openxmlformats.org/drawingml/2006/main">
            <a:off x="1600200" y="2343150"/>
            <a:ext cx="3143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EEE9DD"/>
                </a:solidFill>
                <a:latin typeface="Aptos Display"/>
                <a:ea typeface="Aptos Display"/>
                <a:cs typeface="Aptos Display"/>
              </a:defRPr>
            </a:pPr>
            <a:r>
              <a:rPr sz="2100" b="1">
                <a:solidFill>
                  <a:srgbClr val="EEE9DD"/>
                </a:solidFill>
                <a:latin typeface="Aptos Display"/>
                <a:ea typeface="Aptos Display"/>
                <a:cs typeface="Aptos Display"/>
              </a:rPr>
              <a:t>Too many tools</a:t>
            </a:r>
          </a:p>
        </p:txBody>
      </p:sp>
      <p:sp>
        <p:nvSpPr>
          <p:cNvPr id="7" name="">
            <a:extLst xmlns:a="http://schemas.openxmlformats.org/drawingml/2006/main">
              <a:ext uri="{FF2B5EF4-FFF2-40B4-BE49-F238E27FC236}">
                <a16:creationId xmlns:a16="http://schemas.microsoft.com/office/drawing/2014/main" id="{F8E1496D-118F-43EA-9D41-7222619494D2}"/>
              </a:ext>
            </a:extLst>
          </p:cNvPr>
          <p:cNvSpPr>
            <a:spLocks xmlns:a="http://schemas.openxmlformats.org/drawingml/2006/main" noGrp="1"/>
          </p:cNvSpPr>
          <p:nvPr/>
        </p:nvSpPr>
        <p:spPr>
          <a:xfrm xmlns:a="http://schemas.openxmlformats.org/drawingml/2006/main">
            <a:off x="5334000" y="2400300"/>
            <a:ext cx="476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C2BFB5"/>
                </a:solidFill>
                <a:latin typeface="Aptos"/>
                <a:ea typeface="Aptos"/>
                <a:cs typeface="Aptos"/>
              </a:defRPr>
            </a:pPr>
            <a:r>
              <a:rPr sz="1575" b="0">
                <a:solidFill>
                  <a:srgbClr val="C2BFB5"/>
                </a:solidFill>
                <a:latin typeface="Aptos"/>
                <a:ea typeface="Aptos"/>
                <a:cs typeface="Aptos"/>
              </a:rPr>
              <a:t>You confuse motion with progress.</a:t>
            </a:r>
          </a:p>
        </p:txBody>
      </p:sp>
      <p:sp>
        <p:nvSpPr>
          <p:cNvPr id="8" name="">
            <a:extLst xmlns:a="http://schemas.openxmlformats.org/drawingml/2006/main">
              <a:ext uri="{FF2B5EF4-FFF2-40B4-BE49-F238E27FC236}">
                <a16:creationId xmlns:a16="http://schemas.microsoft.com/office/drawing/2014/main" id="{DDDB00C4-A5B8-4DCA-8AB8-7BCD5894AA9D}"/>
              </a:ext>
            </a:extLst>
          </p:cNvPr>
          <p:cNvSpPr>
            <a:spLocks xmlns:a="http://schemas.openxmlformats.org/drawingml/2006/main" noGrp="1"/>
          </p:cNvSpPr>
          <p:nvPr/>
        </p:nvSpPr>
        <p:spPr>
          <a:xfrm xmlns:a="http://schemas.openxmlformats.org/drawingml/2006/main">
            <a:off x="857250" y="2838450"/>
            <a:ext cx="99060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3F90F18-0A6D-4DAA-A159-AE16532627DE}"/>
              </a:ext>
            </a:extLst>
          </p:cNvPr>
          <p:cNvSpPr>
            <a:spLocks xmlns:a="http://schemas.openxmlformats.org/drawingml/2006/main" noGrp="1"/>
          </p:cNvSpPr>
          <p:nvPr/>
        </p:nvSpPr>
        <p:spPr>
          <a:xfrm xmlns:a="http://schemas.openxmlformats.org/drawingml/2006/main">
            <a:off x="876300" y="3086100"/>
            <a:ext cx="514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02</a:t>
            </a:r>
          </a:p>
        </p:txBody>
      </p:sp>
      <p:sp>
        <p:nvSpPr>
          <p:cNvPr id="10" name="">
            <a:extLst xmlns:a="http://schemas.openxmlformats.org/drawingml/2006/main">
              <a:ext uri="{FF2B5EF4-FFF2-40B4-BE49-F238E27FC236}">
                <a16:creationId xmlns:a16="http://schemas.microsoft.com/office/drawing/2014/main" id="{815CCAA4-C7FB-4C62-90D8-F36816C8079A}"/>
              </a:ext>
            </a:extLst>
          </p:cNvPr>
          <p:cNvSpPr>
            <a:spLocks xmlns:a="http://schemas.openxmlformats.org/drawingml/2006/main" noGrp="1"/>
          </p:cNvSpPr>
          <p:nvPr/>
        </p:nvSpPr>
        <p:spPr>
          <a:xfrm xmlns:a="http://schemas.openxmlformats.org/drawingml/2006/main">
            <a:off x="1600200" y="3009900"/>
            <a:ext cx="3143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EEE9DD"/>
                </a:solidFill>
                <a:latin typeface="Aptos Display"/>
                <a:ea typeface="Aptos Display"/>
                <a:cs typeface="Aptos Display"/>
              </a:defRPr>
            </a:pPr>
            <a:r>
              <a:rPr sz="2100" b="1">
                <a:solidFill>
                  <a:srgbClr val="EEE9DD"/>
                </a:solidFill>
                <a:latin typeface="Aptos Display"/>
                <a:ea typeface="Aptos Display"/>
                <a:cs typeface="Aptos Display"/>
              </a:rPr>
              <a:t>No capture</a:t>
            </a:r>
          </a:p>
        </p:txBody>
      </p:sp>
      <p:sp>
        <p:nvSpPr>
          <p:cNvPr id="11" name="">
            <a:extLst xmlns:a="http://schemas.openxmlformats.org/drawingml/2006/main">
              <a:ext uri="{FF2B5EF4-FFF2-40B4-BE49-F238E27FC236}">
                <a16:creationId xmlns:a16="http://schemas.microsoft.com/office/drawing/2014/main" id="{A5326183-91C9-455B-B7B8-CE8B477297FF}"/>
              </a:ext>
            </a:extLst>
          </p:cNvPr>
          <p:cNvSpPr>
            <a:spLocks xmlns:a="http://schemas.openxmlformats.org/drawingml/2006/main" noGrp="1"/>
          </p:cNvSpPr>
          <p:nvPr/>
        </p:nvSpPr>
        <p:spPr>
          <a:xfrm xmlns:a="http://schemas.openxmlformats.org/drawingml/2006/main">
            <a:off x="5334000" y="3067050"/>
            <a:ext cx="476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C2BFB5"/>
                </a:solidFill>
                <a:latin typeface="Aptos"/>
                <a:ea typeface="Aptos"/>
                <a:cs typeface="Aptos"/>
              </a:defRPr>
            </a:pPr>
            <a:r>
              <a:rPr sz="1575" b="0">
                <a:solidFill>
                  <a:srgbClr val="C2BFB5"/>
                </a:solidFill>
                <a:latin typeface="Aptos"/>
                <a:ea typeface="Aptos"/>
                <a:cs typeface="Aptos"/>
              </a:rPr>
              <a:t>Good ideas vanish before Sunday.</a:t>
            </a:r>
          </a:p>
        </p:txBody>
      </p:sp>
      <p:sp>
        <p:nvSpPr>
          <p:cNvPr id="12" name="">
            <a:extLst xmlns:a="http://schemas.openxmlformats.org/drawingml/2006/main">
              <a:ext uri="{FF2B5EF4-FFF2-40B4-BE49-F238E27FC236}">
                <a16:creationId xmlns:a16="http://schemas.microsoft.com/office/drawing/2014/main" id="{4115BAC4-F427-4B59-91B5-AC0B32768DB5}"/>
              </a:ext>
            </a:extLst>
          </p:cNvPr>
          <p:cNvSpPr>
            <a:spLocks xmlns:a="http://schemas.openxmlformats.org/drawingml/2006/main" noGrp="1"/>
          </p:cNvSpPr>
          <p:nvPr/>
        </p:nvSpPr>
        <p:spPr>
          <a:xfrm xmlns:a="http://schemas.openxmlformats.org/drawingml/2006/main">
            <a:off x="857250" y="3505200"/>
            <a:ext cx="99060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4D6B196-DBA1-4448-BD85-0D49CD54FCE5}"/>
              </a:ext>
            </a:extLst>
          </p:cNvPr>
          <p:cNvSpPr>
            <a:spLocks xmlns:a="http://schemas.openxmlformats.org/drawingml/2006/main" noGrp="1"/>
          </p:cNvSpPr>
          <p:nvPr/>
        </p:nvSpPr>
        <p:spPr>
          <a:xfrm xmlns:a="http://schemas.openxmlformats.org/drawingml/2006/main">
            <a:off x="876300" y="3752850"/>
            <a:ext cx="514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03</a:t>
            </a:r>
          </a:p>
        </p:txBody>
      </p:sp>
      <p:sp>
        <p:nvSpPr>
          <p:cNvPr id="14" name="">
            <a:extLst xmlns:a="http://schemas.openxmlformats.org/drawingml/2006/main">
              <a:ext uri="{FF2B5EF4-FFF2-40B4-BE49-F238E27FC236}">
                <a16:creationId xmlns:a16="http://schemas.microsoft.com/office/drawing/2014/main" id="{96FFDDA6-DB03-449E-A372-7302B5CD0C5F}"/>
              </a:ext>
            </a:extLst>
          </p:cNvPr>
          <p:cNvSpPr>
            <a:spLocks xmlns:a="http://schemas.openxmlformats.org/drawingml/2006/main" noGrp="1"/>
          </p:cNvSpPr>
          <p:nvPr/>
        </p:nvSpPr>
        <p:spPr>
          <a:xfrm xmlns:a="http://schemas.openxmlformats.org/drawingml/2006/main">
            <a:off x="1600200" y="3676650"/>
            <a:ext cx="3143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EEE9DD"/>
                </a:solidFill>
                <a:latin typeface="Aptos Display"/>
                <a:ea typeface="Aptos Display"/>
                <a:cs typeface="Aptos Display"/>
              </a:defRPr>
            </a:pPr>
            <a:r>
              <a:rPr sz="2100" b="1">
                <a:solidFill>
                  <a:srgbClr val="EEE9DD"/>
                </a:solidFill>
                <a:latin typeface="Aptos Display"/>
                <a:ea typeface="Aptos Display"/>
                <a:cs typeface="Aptos Display"/>
              </a:rPr>
              <a:t>No cadence</a:t>
            </a:r>
          </a:p>
        </p:txBody>
      </p:sp>
      <p:sp>
        <p:nvSpPr>
          <p:cNvPr id="15" name="">
            <a:extLst xmlns:a="http://schemas.openxmlformats.org/drawingml/2006/main">
              <a:ext uri="{FF2B5EF4-FFF2-40B4-BE49-F238E27FC236}">
                <a16:creationId xmlns:a16="http://schemas.microsoft.com/office/drawing/2014/main" id="{74EDEC02-1ECE-4A32-88A8-CB5A00CF9BE4}"/>
              </a:ext>
            </a:extLst>
          </p:cNvPr>
          <p:cNvSpPr>
            <a:spLocks xmlns:a="http://schemas.openxmlformats.org/drawingml/2006/main" noGrp="1"/>
          </p:cNvSpPr>
          <p:nvPr/>
        </p:nvSpPr>
        <p:spPr>
          <a:xfrm xmlns:a="http://schemas.openxmlformats.org/drawingml/2006/main">
            <a:off x="5334000" y="3733800"/>
            <a:ext cx="476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C2BFB5"/>
                </a:solidFill>
                <a:latin typeface="Aptos"/>
                <a:ea typeface="Aptos"/>
                <a:cs typeface="Aptos"/>
              </a:defRPr>
            </a:pPr>
            <a:r>
              <a:rPr sz="1575" b="0">
                <a:solidFill>
                  <a:srgbClr val="C2BFB5"/>
                </a:solidFill>
                <a:latin typeface="Aptos"/>
                <a:ea typeface="Aptos"/>
                <a:cs typeface="Aptos"/>
              </a:rPr>
              <a:t>Every week becomes a panic.</a:t>
            </a:r>
          </a:p>
        </p:txBody>
      </p:sp>
      <p:sp>
        <p:nvSpPr>
          <p:cNvPr id="16" name="">
            <a:extLst xmlns:a="http://schemas.openxmlformats.org/drawingml/2006/main">
              <a:ext uri="{FF2B5EF4-FFF2-40B4-BE49-F238E27FC236}">
                <a16:creationId xmlns:a16="http://schemas.microsoft.com/office/drawing/2014/main" id="{3BFB0919-BB13-4D2E-ABDE-B164B715DBFA}"/>
              </a:ext>
            </a:extLst>
          </p:cNvPr>
          <p:cNvSpPr>
            <a:spLocks xmlns:a="http://schemas.openxmlformats.org/drawingml/2006/main" noGrp="1"/>
          </p:cNvSpPr>
          <p:nvPr/>
        </p:nvSpPr>
        <p:spPr>
          <a:xfrm xmlns:a="http://schemas.openxmlformats.org/drawingml/2006/main">
            <a:off x="857250" y="4171950"/>
            <a:ext cx="99060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26A19EC2-52BC-4716-9FEE-C7D314B17DA7}"/>
              </a:ext>
            </a:extLst>
          </p:cNvPr>
          <p:cNvSpPr>
            <a:spLocks xmlns:a="http://schemas.openxmlformats.org/drawingml/2006/main" noGrp="1"/>
          </p:cNvSpPr>
          <p:nvPr/>
        </p:nvSpPr>
        <p:spPr>
          <a:xfrm xmlns:a="http://schemas.openxmlformats.org/drawingml/2006/main">
            <a:off x="876300" y="4419600"/>
            <a:ext cx="514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04</a:t>
            </a:r>
          </a:p>
        </p:txBody>
      </p:sp>
      <p:sp>
        <p:nvSpPr>
          <p:cNvPr id="18" name="">
            <a:extLst xmlns:a="http://schemas.openxmlformats.org/drawingml/2006/main">
              <a:ext uri="{FF2B5EF4-FFF2-40B4-BE49-F238E27FC236}">
                <a16:creationId xmlns:a16="http://schemas.microsoft.com/office/drawing/2014/main" id="{C7864813-4FBC-4A79-8053-DEDE44096CAE}"/>
              </a:ext>
            </a:extLst>
          </p:cNvPr>
          <p:cNvSpPr>
            <a:spLocks xmlns:a="http://schemas.openxmlformats.org/drawingml/2006/main" noGrp="1"/>
          </p:cNvSpPr>
          <p:nvPr/>
        </p:nvSpPr>
        <p:spPr>
          <a:xfrm xmlns:a="http://schemas.openxmlformats.org/drawingml/2006/main">
            <a:off x="1600200" y="4343400"/>
            <a:ext cx="3143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EEE9DD"/>
                </a:solidFill>
                <a:latin typeface="Aptos Display"/>
                <a:ea typeface="Aptos Display"/>
                <a:cs typeface="Aptos Display"/>
              </a:defRPr>
            </a:pPr>
            <a:r>
              <a:rPr sz="2100" b="1">
                <a:solidFill>
                  <a:srgbClr val="EEE9DD"/>
                </a:solidFill>
                <a:latin typeface="Aptos Display"/>
                <a:ea typeface="Aptos Display"/>
                <a:cs typeface="Aptos Display"/>
              </a:rPr>
              <a:t>No editing taste</a:t>
            </a:r>
          </a:p>
        </p:txBody>
      </p:sp>
      <p:sp>
        <p:nvSpPr>
          <p:cNvPr id="19" name="">
            <a:extLst xmlns:a="http://schemas.openxmlformats.org/drawingml/2006/main">
              <a:ext uri="{FF2B5EF4-FFF2-40B4-BE49-F238E27FC236}">
                <a16:creationId xmlns:a16="http://schemas.microsoft.com/office/drawing/2014/main" id="{6A150379-1B88-4223-8E37-E4B613DABA8D}"/>
              </a:ext>
            </a:extLst>
          </p:cNvPr>
          <p:cNvSpPr>
            <a:spLocks xmlns:a="http://schemas.openxmlformats.org/drawingml/2006/main" noGrp="1"/>
          </p:cNvSpPr>
          <p:nvPr/>
        </p:nvSpPr>
        <p:spPr>
          <a:xfrm xmlns:a="http://schemas.openxmlformats.org/drawingml/2006/main">
            <a:off x="5334000" y="4400550"/>
            <a:ext cx="476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C2BFB5"/>
                </a:solidFill>
                <a:latin typeface="Aptos"/>
                <a:ea typeface="Aptos"/>
                <a:cs typeface="Aptos"/>
              </a:defRPr>
            </a:pPr>
            <a:r>
              <a:rPr sz="1575" b="0">
                <a:solidFill>
                  <a:srgbClr val="C2BFB5"/>
                </a:solidFill>
                <a:latin typeface="Aptos"/>
                <a:ea typeface="Aptos"/>
                <a:cs typeface="Aptos"/>
              </a:rPr>
              <a:t>AI output ships before it earns the right.</a:t>
            </a:r>
          </a:p>
        </p:txBody>
      </p:sp>
      <p:sp>
        <p:nvSpPr>
          <p:cNvPr id="20" name="">
            <a:extLst xmlns:a="http://schemas.openxmlformats.org/drawingml/2006/main">
              <a:ext uri="{FF2B5EF4-FFF2-40B4-BE49-F238E27FC236}">
                <a16:creationId xmlns:a16="http://schemas.microsoft.com/office/drawing/2014/main" id="{FFA2D2BE-61AB-46F6-83F8-C772CBE7642B}"/>
              </a:ext>
            </a:extLst>
          </p:cNvPr>
          <p:cNvSpPr>
            <a:spLocks xmlns:a="http://schemas.openxmlformats.org/drawingml/2006/main" noGrp="1"/>
          </p:cNvSpPr>
          <p:nvPr/>
        </p:nvSpPr>
        <p:spPr>
          <a:xfrm xmlns:a="http://schemas.openxmlformats.org/drawingml/2006/main">
            <a:off x="857250" y="4838700"/>
            <a:ext cx="99060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790A1783-A85B-4089-914C-42F4A387210F}"/>
              </a:ext>
            </a:extLst>
          </p:cNvPr>
          <p:cNvSpPr>
            <a:spLocks xmlns:a="http://schemas.openxmlformats.org/drawingml/2006/main" noGrp="1"/>
          </p:cNvSpPr>
          <p:nvPr/>
        </p:nvSpPr>
        <p:spPr>
          <a:xfrm xmlns:a="http://schemas.openxmlformats.org/drawingml/2006/main">
            <a:off x="876300" y="5086350"/>
            <a:ext cx="5143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E26F2A"/>
                </a:solidFill>
                <a:latin typeface="Aptos Mono"/>
                <a:ea typeface="Aptos Mono"/>
                <a:cs typeface="Aptos Mono"/>
              </a:defRPr>
            </a:pPr>
            <a:r>
              <a:rPr sz="1350" b="1">
                <a:solidFill>
                  <a:srgbClr val="E26F2A"/>
                </a:solidFill>
                <a:latin typeface="Aptos Mono"/>
                <a:ea typeface="Aptos Mono"/>
                <a:cs typeface="Aptos Mono"/>
              </a:rPr>
              <a:t>05</a:t>
            </a:r>
          </a:p>
        </p:txBody>
      </p:sp>
      <p:sp>
        <p:nvSpPr>
          <p:cNvPr id="22" name="">
            <a:extLst xmlns:a="http://schemas.openxmlformats.org/drawingml/2006/main">
              <a:ext uri="{FF2B5EF4-FFF2-40B4-BE49-F238E27FC236}">
                <a16:creationId xmlns:a16="http://schemas.microsoft.com/office/drawing/2014/main" id="{3529E882-F3A6-4C21-AD0E-499BF272E016}"/>
              </a:ext>
            </a:extLst>
          </p:cNvPr>
          <p:cNvSpPr>
            <a:spLocks xmlns:a="http://schemas.openxmlformats.org/drawingml/2006/main" noGrp="1"/>
          </p:cNvSpPr>
          <p:nvPr/>
        </p:nvSpPr>
        <p:spPr>
          <a:xfrm xmlns:a="http://schemas.openxmlformats.org/drawingml/2006/main">
            <a:off x="1600200" y="5010150"/>
            <a:ext cx="3143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EEE9DD"/>
                </a:solidFill>
                <a:latin typeface="Aptos Display"/>
                <a:ea typeface="Aptos Display"/>
                <a:cs typeface="Aptos Display"/>
              </a:defRPr>
            </a:pPr>
            <a:r>
              <a:rPr sz="2100" b="1">
                <a:solidFill>
                  <a:srgbClr val="EEE9DD"/>
                </a:solidFill>
                <a:latin typeface="Aptos Display"/>
                <a:ea typeface="Aptos Display"/>
                <a:cs typeface="Aptos Display"/>
              </a:rPr>
              <a:t>No calendar</a:t>
            </a:r>
          </a:p>
        </p:txBody>
      </p:sp>
      <p:sp>
        <p:nvSpPr>
          <p:cNvPr id="23" name="">
            <a:extLst xmlns:a="http://schemas.openxmlformats.org/drawingml/2006/main">
              <a:ext uri="{FF2B5EF4-FFF2-40B4-BE49-F238E27FC236}">
                <a16:creationId xmlns:a16="http://schemas.microsoft.com/office/drawing/2014/main" id="{E76B007B-4FB0-4ED4-BCF4-D7234D553747}"/>
              </a:ext>
            </a:extLst>
          </p:cNvPr>
          <p:cNvSpPr>
            <a:spLocks xmlns:a="http://schemas.openxmlformats.org/drawingml/2006/main" noGrp="1"/>
          </p:cNvSpPr>
          <p:nvPr/>
        </p:nvSpPr>
        <p:spPr>
          <a:xfrm xmlns:a="http://schemas.openxmlformats.org/drawingml/2006/main">
            <a:off x="5334000" y="5067300"/>
            <a:ext cx="476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C2BFB5"/>
                </a:solidFill>
                <a:latin typeface="Aptos"/>
                <a:ea typeface="Aptos"/>
                <a:cs typeface="Aptos"/>
              </a:defRPr>
            </a:pPr>
            <a:r>
              <a:rPr sz="1575" b="0">
                <a:solidFill>
                  <a:srgbClr val="C2BFB5"/>
                </a:solidFill>
                <a:latin typeface="Aptos"/>
                <a:ea typeface="Aptos"/>
                <a:cs typeface="Aptos"/>
              </a:rPr>
              <a:t>Drafts pile up and nothing moves.</a:t>
            </a:r>
          </a:p>
        </p:txBody>
      </p:sp>
      <p:sp>
        <p:nvSpPr>
          <p:cNvPr id="24" name="">
            <a:extLst xmlns:a="http://schemas.openxmlformats.org/drawingml/2006/main">
              <a:ext uri="{FF2B5EF4-FFF2-40B4-BE49-F238E27FC236}">
                <a16:creationId xmlns:a16="http://schemas.microsoft.com/office/drawing/2014/main" id="{8A6142D0-10E0-4C92-B0C8-D3229E2E3568}"/>
              </a:ext>
            </a:extLst>
          </p:cNvPr>
          <p:cNvSpPr>
            <a:spLocks xmlns:a="http://schemas.openxmlformats.org/drawingml/2006/main" noGrp="1"/>
          </p:cNvSpPr>
          <p:nvPr/>
        </p:nvSpPr>
        <p:spPr>
          <a:xfrm xmlns:a="http://schemas.openxmlformats.org/drawingml/2006/main">
            <a:off x="857250" y="5505450"/>
            <a:ext cx="99060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393C5EC4-7483-496C-AA35-189D28F6D39B}"/>
              </a:ext>
            </a:extLst>
          </p:cNvPr>
          <p:cNvSpPr>
            <a:spLocks xmlns:a="http://schemas.openxmlformats.org/drawingml/2006/main" noGrp="1"/>
          </p:cNvSpPr>
          <p:nvPr/>
        </p:nvSpPr>
        <p:spPr>
          <a:xfrm xmlns:a="http://schemas.openxmlformats.org/drawingml/2006/main">
            <a:off x="10191750" y="1200150"/>
            <a:ext cx="857250" cy="381000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7D6E568A-FCEB-4322-84AF-251E2A7CB06E}"/>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46825563-1370-46A9-96B5-A40B8B6CAF9B}"/>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28" name="">
            <a:extLst xmlns:a="http://schemas.openxmlformats.org/drawingml/2006/main">
              <a:ext uri="{FF2B5EF4-FFF2-40B4-BE49-F238E27FC236}">
                <a16:creationId xmlns:a16="http://schemas.microsoft.com/office/drawing/2014/main" id="{38E96AFD-B09F-4673-9700-0C7AF41A7BB1}"/>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145144524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F94B4D-10C1-4C2E-942D-784D15410C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C1F1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2766499-67F7-4259-BC34-2D28282B843F}"/>
              </a:ext>
            </a:extLst>
          </p:cNvPr>
          <p:cNvSpPr>
            <a:spLocks xmlns:a="http://schemas.openxmlformats.org/drawingml/2006/main" noGrp="1"/>
          </p:cNvSpPr>
          <p:nvPr/>
        </p:nvSpPr>
        <p:spPr>
          <a:xfrm xmlns:a="http://schemas.openxmlformats.org/drawingml/2006/main">
            <a:off x="762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56A5DA7-5BA1-474A-9973-2FABA497268A}"/>
              </a:ext>
            </a:extLst>
          </p:cNvPr>
          <p:cNvSpPr>
            <a:spLocks xmlns:a="http://schemas.openxmlformats.org/drawingml/2006/main" noGrp="1"/>
          </p:cNvSpPr>
          <p:nvPr/>
        </p:nvSpPr>
        <p:spPr>
          <a:xfrm xmlns:a="http://schemas.openxmlformats.org/drawingml/2006/main">
            <a:off x="2286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5EC9794-CE64-4CD1-822D-F48B09EA37F1}"/>
              </a:ext>
            </a:extLst>
          </p:cNvPr>
          <p:cNvSpPr>
            <a:spLocks xmlns:a="http://schemas.openxmlformats.org/drawingml/2006/main" noGrp="1"/>
          </p:cNvSpPr>
          <p:nvPr/>
        </p:nvSpPr>
        <p:spPr>
          <a:xfrm xmlns:a="http://schemas.openxmlformats.org/drawingml/2006/main">
            <a:off x="3810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5E5D89B-8165-49B7-8C5B-13B39399F55F}"/>
              </a:ext>
            </a:extLst>
          </p:cNvPr>
          <p:cNvSpPr>
            <a:spLocks xmlns:a="http://schemas.openxmlformats.org/drawingml/2006/main" noGrp="1"/>
          </p:cNvSpPr>
          <p:nvPr/>
        </p:nvSpPr>
        <p:spPr>
          <a:xfrm xmlns:a="http://schemas.openxmlformats.org/drawingml/2006/main">
            <a:off x="5334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5BFAA2B-52B7-4DBA-897B-97BF2B063E81}"/>
              </a:ext>
            </a:extLst>
          </p:cNvPr>
          <p:cNvSpPr>
            <a:spLocks xmlns:a="http://schemas.openxmlformats.org/drawingml/2006/main" noGrp="1"/>
          </p:cNvSpPr>
          <p:nvPr/>
        </p:nvSpPr>
        <p:spPr>
          <a:xfrm xmlns:a="http://schemas.openxmlformats.org/drawingml/2006/main">
            <a:off x="6858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8CE143E-43FA-4709-B856-EF796297E50C}"/>
              </a:ext>
            </a:extLst>
          </p:cNvPr>
          <p:cNvSpPr>
            <a:spLocks xmlns:a="http://schemas.openxmlformats.org/drawingml/2006/main" noGrp="1"/>
          </p:cNvSpPr>
          <p:nvPr/>
        </p:nvSpPr>
        <p:spPr>
          <a:xfrm xmlns:a="http://schemas.openxmlformats.org/drawingml/2006/main">
            <a:off x="8382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AF6AE18-0184-4B73-B145-23A276670472}"/>
              </a:ext>
            </a:extLst>
          </p:cNvPr>
          <p:cNvSpPr>
            <a:spLocks xmlns:a="http://schemas.openxmlformats.org/drawingml/2006/main" noGrp="1"/>
          </p:cNvSpPr>
          <p:nvPr/>
        </p:nvSpPr>
        <p:spPr>
          <a:xfrm xmlns:a="http://schemas.openxmlformats.org/drawingml/2006/main">
            <a:off x="9906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A0A73C6-5FC2-4978-949B-FBE39A3A8DDB}"/>
              </a:ext>
            </a:extLst>
          </p:cNvPr>
          <p:cNvSpPr>
            <a:spLocks xmlns:a="http://schemas.openxmlformats.org/drawingml/2006/main" noGrp="1"/>
          </p:cNvSpPr>
          <p:nvPr/>
        </p:nvSpPr>
        <p:spPr>
          <a:xfrm xmlns:a="http://schemas.openxmlformats.org/drawingml/2006/main">
            <a:off x="11430000" y="609600"/>
            <a:ext cx="9525" cy="5638800"/>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80C548D-879D-46B2-9D24-04B0033C86E5}"/>
              </a:ext>
            </a:extLst>
          </p:cNvPr>
          <p:cNvSpPr>
            <a:spLocks xmlns:a="http://schemas.openxmlformats.org/drawingml/2006/main" noGrp="1"/>
          </p:cNvSpPr>
          <p:nvPr/>
        </p:nvSpPr>
        <p:spPr>
          <a:xfrm xmlns:a="http://schemas.openxmlformats.org/drawingml/2006/main">
            <a:off x="609600" y="9144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9B1097A-A071-4CC1-AA52-A00C4AF7D931}"/>
              </a:ext>
            </a:extLst>
          </p:cNvPr>
          <p:cNvSpPr>
            <a:spLocks xmlns:a="http://schemas.openxmlformats.org/drawingml/2006/main" noGrp="1"/>
          </p:cNvSpPr>
          <p:nvPr/>
        </p:nvSpPr>
        <p:spPr>
          <a:xfrm xmlns:a="http://schemas.openxmlformats.org/drawingml/2006/main">
            <a:off x="609600" y="18288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EE23DF9-7132-48A1-A6A0-8F6E2DE04C74}"/>
              </a:ext>
            </a:extLst>
          </p:cNvPr>
          <p:cNvSpPr>
            <a:spLocks xmlns:a="http://schemas.openxmlformats.org/drawingml/2006/main" noGrp="1"/>
          </p:cNvSpPr>
          <p:nvPr/>
        </p:nvSpPr>
        <p:spPr>
          <a:xfrm xmlns:a="http://schemas.openxmlformats.org/drawingml/2006/main">
            <a:off x="609600" y="27432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422C64FE-8DA6-402D-B93C-8CA15BB1400A}"/>
              </a:ext>
            </a:extLst>
          </p:cNvPr>
          <p:cNvSpPr>
            <a:spLocks xmlns:a="http://schemas.openxmlformats.org/drawingml/2006/main" noGrp="1"/>
          </p:cNvSpPr>
          <p:nvPr/>
        </p:nvSpPr>
        <p:spPr>
          <a:xfrm xmlns:a="http://schemas.openxmlformats.org/drawingml/2006/main">
            <a:off x="609600" y="36576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19B07EC-95A3-4BC3-B130-ED8EB93DB2CA}"/>
              </a:ext>
            </a:extLst>
          </p:cNvPr>
          <p:cNvSpPr>
            <a:spLocks xmlns:a="http://schemas.openxmlformats.org/drawingml/2006/main" noGrp="1"/>
          </p:cNvSpPr>
          <p:nvPr/>
        </p:nvSpPr>
        <p:spPr>
          <a:xfrm xmlns:a="http://schemas.openxmlformats.org/drawingml/2006/main">
            <a:off x="609600" y="45720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3B93905-8EFF-45FB-9364-4E724D50C5E2}"/>
              </a:ext>
            </a:extLst>
          </p:cNvPr>
          <p:cNvSpPr>
            <a:spLocks xmlns:a="http://schemas.openxmlformats.org/drawingml/2006/main" noGrp="1"/>
          </p:cNvSpPr>
          <p:nvPr/>
        </p:nvSpPr>
        <p:spPr>
          <a:xfrm xmlns:a="http://schemas.openxmlformats.org/drawingml/2006/main">
            <a:off x="609600" y="54864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C557C36-C7D6-4BA8-BC89-23C25DD6B742}"/>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24281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C10602E-619D-4910-BF3C-971CCFFB7D5E}"/>
              </a:ext>
            </a:extLst>
          </p:cNvPr>
          <p:cNvSpPr>
            <a:spLocks xmlns:a="http://schemas.openxmlformats.org/drawingml/2006/main" noGrp="1"/>
          </p:cNvSpPr>
          <p:nvPr/>
        </p:nvSpPr>
        <p:spPr>
          <a:xfrm xmlns:a="http://schemas.openxmlformats.org/drawingml/2006/main">
            <a:off x="609600" y="495300"/>
            <a:ext cx="1143000" cy="323850"/>
          </a:xfrm>
          <a:prstGeom xmlns:a="http://schemas.openxmlformats.org/drawingml/2006/main" prst="rect">
            <a:avLst/>
          </a:prstGeom>
          <a:noFill xmlns:a="http://schemas.openxmlformats.org/drawingml/2006/main"/>
          <a:ln xmlns:a="http://schemas.openxmlformats.org/drawingml/2006/main" w="11430">
            <a:solidFill>
              <a:srgbClr val="E26F2A"/>
            </a:solidFill>
            <a:prstDash val="solid"/>
          </a:ln>
        </p:spPr>
      </p:sp>
      <p:sp>
        <p:nvSpPr>
          <p:cNvPr id="18" name="">
            <a:extLst xmlns:a="http://schemas.openxmlformats.org/drawingml/2006/main">
              <a:ext uri="{FF2B5EF4-FFF2-40B4-BE49-F238E27FC236}">
                <a16:creationId xmlns:a16="http://schemas.microsoft.com/office/drawing/2014/main" id="{1D8FFD1E-EB3F-4C3C-AD09-685A34F9AF8F}"/>
              </a:ext>
            </a:extLst>
          </p:cNvPr>
          <p:cNvSpPr>
            <a:spLocks xmlns:a="http://schemas.openxmlformats.org/drawingml/2006/main" noGrp="1"/>
          </p:cNvSpPr>
          <p:nvPr/>
        </p:nvSpPr>
        <p:spPr>
          <a:xfrm xmlns:a="http://schemas.openxmlformats.org/drawingml/2006/main">
            <a:off x="781050" y="571500"/>
            <a:ext cx="800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E26F2A"/>
                </a:solidFill>
                <a:latin typeface="Aptos"/>
                <a:ea typeface="Aptos"/>
                <a:cs typeface="Aptos"/>
              </a:defRPr>
            </a:pPr>
            <a:r>
              <a:rPr sz="975" b="1">
                <a:solidFill>
                  <a:srgbClr val="E26F2A"/>
                </a:solidFill>
                <a:latin typeface="Aptos"/>
                <a:ea typeface="Aptos"/>
                <a:cs typeface="Aptos"/>
              </a:rPr>
              <a:t>CLOSE</a:t>
            </a:r>
          </a:p>
        </p:txBody>
      </p:sp>
      <p:sp>
        <p:nvSpPr>
          <p:cNvPr id="19" name="">
            <a:extLst xmlns:a="http://schemas.openxmlformats.org/drawingml/2006/main">
              <a:ext uri="{FF2B5EF4-FFF2-40B4-BE49-F238E27FC236}">
                <a16:creationId xmlns:a16="http://schemas.microsoft.com/office/drawing/2014/main" id="{1AA6239B-5CE8-4105-9876-1EDEBD04AA8F}"/>
              </a:ext>
            </a:extLst>
          </p:cNvPr>
          <p:cNvSpPr>
            <a:spLocks xmlns:a="http://schemas.openxmlformats.org/drawingml/2006/main" noGrp="1"/>
          </p:cNvSpPr>
          <p:nvPr/>
        </p:nvSpPr>
        <p:spPr>
          <a:xfrm xmlns:a="http://schemas.openxmlformats.org/drawingml/2006/main">
            <a:off x="609600" y="1219200"/>
            <a:ext cx="914400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EEE9DD"/>
                </a:solidFill>
                <a:latin typeface="Aptos Display"/>
                <a:ea typeface="Aptos Display"/>
                <a:cs typeface="Aptos Display"/>
              </a:defRPr>
            </a:pPr>
            <a:r>
              <a:rPr sz="4950" b="1">
                <a:solidFill>
                  <a:srgbClr val="EEE9DD"/>
                </a:solidFill>
                <a:latin typeface="Aptos Display"/>
                <a:ea typeface="Aptos Display"/>
                <a:cs typeface="Aptos Display"/>
              </a:rPr>
              <a:t>Starting from a blank page is optional now.</a:t>
            </a:r>
          </a:p>
        </p:txBody>
      </p:sp>
      <p:sp>
        <p:nvSpPr>
          <p:cNvPr id="20" name="">
            <a:extLst xmlns:a="http://schemas.openxmlformats.org/drawingml/2006/main">
              <a:ext uri="{FF2B5EF4-FFF2-40B4-BE49-F238E27FC236}">
                <a16:creationId xmlns:a16="http://schemas.microsoft.com/office/drawing/2014/main" id="{E4446403-09F9-49BB-A2AE-2CC1B84F18CF}"/>
              </a:ext>
            </a:extLst>
          </p:cNvPr>
          <p:cNvSpPr>
            <a:spLocks xmlns:a="http://schemas.openxmlformats.org/drawingml/2006/main" noGrp="1"/>
          </p:cNvSpPr>
          <p:nvPr/>
        </p:nvSpPr>
        <p:spPr>
          <a:xfrm xmlns:a="http://schemas.openxmlformats.org/drawingml/2006/main">
            <a:off x="647700" y="2857500"/>
            <a:ext cx="7810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C2BFB5"/>
                </a:solidFill>
                <a:latin typeface="Aptos"/>
                <a:ea typeface="Aptos"/>
                <a:cs typeface="Aptos"/>
              </a:defRPr>
            </a:pPr>
            <a:r>
              <a:rPr sz="1800" b="0">
                <a:solidFill>
                  <a:srgbClr val="C2BFB5"/>
                </a:solidFill>
                <a:latin typeface="Aptos"/>
                <a:ea typeface="Aptos"/>
                <a:cs typeface="Aptos"/>
              </a:rPr>
              <a:t>The next step is not to post more. It is to build the engine that makes posting easier to repeat.</a:t>
            </a:r>
          </a:p>
        </p:txBody>
      </p:sp>
      <p:sp>
        <p:nvSpPr>
          <p:cNvPr id="21" name="">
            <a:extLst xmlns:a="http://schemas.openxmlformats.org/drawingml/2006/main">
              <a:ext uri="{FF2B5EF4-FFF2-40B4-BE49-F238E27FC236}">
                <a16:creationId xmlns:a16="http://schemas.microsoft.com/office/drawing/2014/main" id="{1782662A-C4C3-4E34-9246-114D33F37F1A}"/>
              </a:ext>
            </a:extLst>
          </p:cNvPr>
          <p:cNvSpPr>
            <a:spLocks xmlns:a="http://schemas.openxmlformats.org/drawingml/2006/main" noGrp="1"/>
          </p:cNvSpPr>
          <p:nvPr/>
        </p:nvSpPr>
        <p:spPr>
          <a:xfrm xmlns:a="http://schemas.openxmlformats.org/drawingml/2006/main">
            <a:off x="857250" y="4114800"/>
            <a:ext cx="3143250" cy="7810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22" name="">
            <a:extLst xmlns:a="http://schemas.openxmlformats.org/drawingml/2006/main">
              <a:ext uri="{FF2B5EF4-FFF2-40B4-BE49-F238E27FC236}">
                <a16:creationId xmlns:a16="http://schemas.microsoft.com/office/drawing/2014/main" id="{2A5F8C80-87DA-4BFD-BDF0-484B5D17BB05}"/>
              </a:ext>
            </a:extLst>
          </p:cNvPr>
          <p:cNvSpPr>
            <a:spLocks xmlns:a="http://schemas.openxmlformats.org/drawingml/2006/main" noGrp="1"/>
          </p:cNvSpPr>
          <p:nvPr/>
        </p:nvSpPr>
        <p:spPr>
          <a:xfrm xmlns:a="http://schemas.openxmlformats.org/drawingml/2006/main">
            <a:off x="1066800" y="4343400"/>
            <a:ext cx="2724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E26F2A"/>
                </a:solidFill>
                <a:latin typeface="Aptos Display"/>
                <a:ea typeface="Aptos Display"/>
                <a:cs typeface="Aptos Display"/>
              </a:defRPr>
            </a:pPr>
            <a:r>
              <a:rPr sz="2250" b="1">
                <a:solidFill>
                  <a:srgbClr val="E26F2A"/>
                </a:solidFill>
                <a:latin typeface="Aptos Display"/>
                <a:ea typeface="Aptos Display"/>
                <a:cs typeface="Aptos Display"/>
              </a:rPr>
              <a:t>Questions</a:t>
            </a:r>
          </a:p>
        </p:txBody>
      </p:sp>
      <p:sp>
        <p:nvSpPr>
          <p:cNvPr id="23" name="">
            <a:extLst xmlns:a="http://schemas.openxmlformats.org/drawingml/2006/main">
              <a:ext uri="{FF2B5EF4-FFF2-40B4-BE49-F238E27FC236}">
                <a16:creationId xmlns:a16="http://schemas.microsoft.com/office/drawing/2014/main" id="{25BEB02B-A1A6-4312-B756-309625CBE88E}"/>
              </a:ext>
            </a:extLst>
          </p:cNvPr>
          <p:cNvSpPr>
            <a:spLocks xmlns:a="http://schemas.openxmlformats.org/drawingml/2006/main" noGrp="1"/>
          </p:cNvSpPr>
          <p:nvPr/>
        </p:nvSpPr>
        <p:spPr>
          <a:xfrm xmlns:a="http://schemas.openxmlformats.org/drawingml/2006/main">
            <a:off x="4552950" y="4114800"/>
            <a:ext cx="3143250" cy="781050"/>
          </a:xfrm>
          <a:prstGeom xmlns:a="http://schemas.openxmlformats.org/drawingml/2006/main" prst="rect">
            <a:avLst/>
          </a:prstGeom>
          <a:solidFill xmlns:a="http://schemas.openxmlformats.org/drawingml/2006/main">
            <a:srgbClr val="22271E"/>
          </a:solidFill>
          <a:ln xmlns:a="http://schemas.openxmlformats.org/drawingml/2006/main" w="9525">
            <a:solidFill>
              <a:srgbClr val="34392D"/>
            </a:solidFill>
            <a:prstDash val="solid"/>
          </a:ln>
        </p:spPr>
      </p:sp>
      <p:sp>
        <p:nvSpPr>
          <p:cNvPr id="24" name="">
            <a:extLst xmlns:a="http://schemas.openxmlformats.org/drawingml/2006/main">
              <a:ext uri="{FF2B5EF4-FFF2-40B4-BE49-F238E27FC236}">
                <a16:creationId xmlns:a16="http://schemas.microsoft.com/office/drawing/2014/main" id="{7D44A34C-063A-4627-9DE5-40B5DAE182A3}"/>
              </a:ext>
            </a:extLst>
          </p:cNvPr>
          <p:cNvSpPr>
            <a:spLocks xmlns:a="http://schemas.openxmlformats.org/drawingml/2006/main" noGrp="1"/>
          </p:cNvSpPr>
          <p:nvPr/>
        </p:nvSpPr>
        <p:spPr>
          <a:xfrm xmlns:a="http://schemas.openxmlformats.org/drawingml/2006/main">
            <a:off x="4762500" y="4343400"/>
            <a:ext cx="2724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EEE9DD"/>
                </a:solidFill>
                <a:latin typeface="Aptos Display"/>
                <a:ea typeface="Aptos Display"/>
                <a:cs typeface="Aptos Display"/>
              </a:defRPr>
            </a:pPr>
            <a:r>
              <a:rPr sz="2250" b="1">
                <a:solidFill>
                  <a:srgbClr val="EEE9DD"/>
                </a:solidFill>
                <a:latin typeface="Aptos Display"/>
                <a:ea typeface="Aptos Display"/>
                <a:cs typeface="Aptos Display"/>
              </a:rPr>
              <a:t>Folder teardown</a:t>
            </a:r>
          </a:p>
        </p:txBody>
      </p:sp>
      <p:sp>
        <p:nvSpPr>
          <p:cNvPr id="25" name="">
            <a:extLst xmlns:a="http://schemas.openxmlformats.org/drawingml/2006/main">
              <a:ext uri="{FF2B5EF4-FFF2-40B4-BE49-F238E27FC236}">
                <a16:creationId xmlns:a16="http://schemas.microsoft.com/office/drawing/2014/main" id="{08CD11F5-37B3-4A27-B5CF-66CE13AA69B8}"/>
              </a:ext>
            </a:extLst>
          </p:cNvPr>
          <p:cNvSpPr>
            <a:spLocks xmlns:a="http://schemas.openxmlformats.org/drawingml/2006/main" noGrp="1"/>
          </p:cNvSpPr>
          <p:nvPr/>
        </p:nvSpPr>
        <p:spPr>
          <a:xfrm xmlns:a="http://schemas.openxmlformats.org/drawingml/2006/main">
            <a:off x="8248650" y="4114800"/>
            <a:ext cx="3143250" cy="781050"/>
          </a:xfrm>
          <a:prstGeom xmlns:a="http://schemas.openxmlformats.org/drawingml/2006/main" prst="rect">
            <a:avLst/>
          </a:prstGeom>
          <a:solidFill xmlns:a="http://schemas.openxmlformats.org/drawingml/2006/main">
            <a:srgbClr val="E26F2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A2251465-F792-4D1C-B8C8-D427FCF00D1A}"/>
              </a:ext>
            </a:extLst>
          </p:cNvPr>
          <p:cNvSpPr>
            <a:spLocks xmlns:a="http://schemas.openxmlformats.org/drawingml/2006/main" noGrp="1"/>
          </p:cNvSpPr>
          <p:nvPr/>
        </p:nvSpPr>
        <p:spPr>
          <a:xfrm xmlns:a="http://schemas.openxmlformats.org/drawingml/2006/main">
            <a:off x="8458200" y="4343400"/>
            <a:ext cx="27241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1C1F1A"/>
                </a:solidFill>
                <a:latin typeface="Aptos Display"/>
                <a:ea typeface="Aptos Display"/>
                <a:cs typeface="Aptos Display"/>
              </a:defRPr>
            </a:pPr>
            <a:r>
              <a:rPr sz="2250" b="1">
                <a:solidFill>
                  <a:srgbClr val="1C1F1A"/>
                </a:solidFill>
                <a:latin typeface="Aptos Display"/>
                <a:ea typeface="Aptos Display"/>
                <a:cs typeface="Aptos Display"/>
              </a:rPr>
              <a:t>Live prompts</a:t>
            </a:r>
          </a:p>
        </p:txBody>
      </p:sp>
      <p:sp>
        <p:nvSpPr>
          <p:cNvPr id="27" name="">
            <a:extLst xmlns:a="http://schemas.openxmlformats.org/drawingml/2006/main">
              <a:ext uri="{FF2B5EF4-FFF2-40B4-BE49-F238E27FC236}">
                <a16:creationId xmlns:a16="http://schemas.microsoft.com/office/drawing/2014/main" id="{6543CA09-014C-44B5-94C6-0954B26FD5B0}"/>
              </a:ext>
            </a:extLst>
          </p:cNvPr>
          <p:cNvSpPr>
            <a:spLocks xmlns:a="http://schemas.openxmlformats.org/drawingml/2006/main" noGrp="1"/>
          </p:cNvSpPr>
          <p:nvPr/>
        </p:nvSpPr>
        <p:spPr>
          <a:xfrm xmlns:a="http://schemas.openxmlformats.org/drawingml/2006/main">
            <a:off x="9391650" y="5638800"/>
            <a:ext cx="200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2100" b="1">
                <a:solidFill>
                  <a:srgbClr val="EEE9DD"/>
                </a:solidFill>
                <a:latin typeface="Aptos Display"/>
                <a:ea typeface="Aptos Display"/>
                <a:cs typeface="Aptos Display"/>
              </a:defRPr>
            </a:pPr>
            <a:r>
              <a:rPr sz="2100" b="1">
                <a:solidFill>
                  <a:srgbClr val="EEE9DD"/>
                </a:solidFill>
                <a:latin typeface="Aptos Display"/>
                <a:ea typeface="Aptos Display"/>
                <a:cs typeface="Aptos Display"/>
              </a:rPr>
              <a:t>Thanks, H</a:t>
            </a:r>
          </a:p>
        </p:txBody>
      </p:sp>
      <p:sp>
        <p:nvSpPr>
          <p:cNvPr id="28" name="">
            <a:extLst xmlns:a="http://schemas.openxmlformats.org/drawingml/2006/main">
              <a:ext uri="{FF2B5EF4-FFF2-40B4-BE49-F238E27FC236}">
                <a16:creationId xmlns:a16="http://schemas.microsoft.com/office/drawing/2014/main" id="{E9E9B4D4-0973-4EBC-9BB8-5C8C73980EF6}"/>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34392D"/>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6A613CA7-B0A5-4AFC-B1EC-5C09989983F1}"/>
              </a:ext>
            </a:extLst>
          </p:cNvPr>
          <p:cNvSpPr>
            <a:spLocks xmlns:a="http://schemas.openxmlformats.org/drawingml/2006/main" noGrp="1"/>
          </p:cNvSpPr>
          <p:nvPr/>
        </p:nvSpPr>
        <p:spPr>
          <a:xfrm xmlns:a="http://schemas.openxmlformats.org/drawingml/2006/main">
            <a:off x="609600" y="6496050"/>
            <a:ext cx="438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9FA293"/>
                </a:solidFill>
                <a:latin typeface="Aptos"/>
                <a:ea typeface="Aptos"/>
                <a:cs typeface="Aptos"/>
              </a:defRPr>
            </a:pPr>
            <a:r>
              <a:rPr sz="1050" b="0">
                <a:solidFill>
                  <a:srgbClr val="9FA293"/>
                </a:solidFill>
                <a:latin typeface="Aptos"/>
                <a:ea typeface="Aptos"/>
                <a:cs typeface="Aptos"/>
              </a:rPr>
              <a:t>Year One workshop</a:t>
            </a:r>
          </a:p>
        </p:txBody>
      </p:sp>
      <p:sp>
        <p:nvSpPr>
          <p:cNvPr id="30" name="">
            <a:extLst xmlns:a="http://schemas.openxmlformats.org/drawingml/2006/main">
              <a:ext uri="{FF2B5EF4-FFF2-40B4-BE49-F238E27FC236}">
                <a16:creationId xmlns:a16="http://schemas.microsoft.com/office/drawing/2014/main" id="{8B6F7708-3EA5-4C32-A5B1-1837252251E1}"/>
              </a:ext>
            </a:extLst>
          </p:cNvPr>
          <p:cNvSpPr>
            <a:spLocks xmlns:a="http://schemas.openxmlformats.org/drawingml/2006/main" noGrp="1"/>
          </p:cNvSpPr>
          <p:nvPr/>
        </p:nvSpPr>
        <p:spPr>
          <a:xfrm xmlns:a="http://schemas.openxmlformats.org/drawingml/2006/main">
            <a:off x="9810750" y="649605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9FA293"/>
                </a:solidFill>
                <a:latin typeface="Aptos"/>
                <a:ea typeface="Aptos"/>
                <a:cs typeface="Aptos"/>
              </a:defRPr>
            </a:pPr>
            <a:r>
              <a:rPr sz="1050" b="0">
                <a:solidFill>
                  <a:srgbClr val="9FA293"/>
                </a:solidFill>
                <a:latin typeface="Aptos"/>
                <a:ea typeface="Aptos"/>
                <a:cs typeface="Aptos"/>
              </a:rPr>
              <a:t>HWL Studio</a:t>
            </a:r>
          </a:p>
        </p:txBody>
      </p:sp>
    </p:spTree>
    <p:extLst>
      <p:ext uri="{BB962C8B-B14F-4D97-AF65-F5344CB8AC3E}">
        <p14:creationId xmlns:p14="http://schemas.microsoft.com/office/powerpoint/2010/main" val="2249810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2026-06-08T11:04:16.9680000Z</dcterms:created>
  <dcterms:modified xsi:type="dcterms:W3CDTF">2026-06-08T11:04:16.9680000Z</dcterms:modified>
</coreProperties>
</file>